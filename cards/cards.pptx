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7af575ee2024b1c" /><Relationship Type="http://schemas.openxmlformats.org/officeDocument/2006/relationships/extended-properties" Target="/docProps/app.xml" Id="R4b981efa852143a9" /><Relationship Type="http://schemas.openxmlformats.org/officeDocument/2006/relationships/officeDocument" Target="/ppt/presentation.xml" Id="Ra674a24cfee745e3" /></Relationships>
</file>

<file path=ppt/presentation.xml><?xml version="1.0" encoding="utf-8"?>
<p:presentation xmlns:p="http://schemas.openxmlformats.org/presentationml/2006/main">
  <p:sldMasterIdLst>
    <p:sldMasterId xmlns:r="http://schemas.openxmlformats.org/officeDocument/2006/relationships" id="2147483648" r:id="Rb92a32b1594f46db"/>
  </p:sldMasterIdLst>
  <p:notesMasterIdLst>
    <p:notesMasterId xmlns:r="http://schemas.openxmlformats.org/officeDocument/2006/relationships" r:id="R7c83fd5626834039"/>
  </p:notesMasterIdLst>
  <p:sldIdLst>
    <p:sldId xmlns:r="http://schemas.openxmlformats.org/officeDocument/2006/relationships" id="256" r:id="Rc25a2238489241d6"/>
    <p:sldId xmlns:r="http://schemas.openxmlformats.org/officeDocument/2006/relationships" id="257" r:id="R99d62882e05542b4"/>
    <p:sldId xmlns:r="http://schemas.openxmlformats.org/officeDocument/2006/relationships" id="258" r:id="R564d0cf69c8e4adb"/>
    <p:sldId xmlns:r="http://schemas.openxmlformats.org/officeDocument/2006/relationships" id="259" r:id="Recc00937578e4e19"/>
    <p:sldId xmlns:r="http://schemas.openxmlformats.org/officeDocument/2006/relationships" id="260" r:id="R493bbb95128f40fd"/>
    <p:sldId xmlns:r="http://schemas.openxmlformats.org/officeDocument/2006/relationships" id="261" r:id="Recedacac1db24cb0"/>
    <p:sldId xmlns:r="http://schemas.openxmlformats.org/officeDocument/2006/relationships" id="262" r:id="R8be15007ea504ada"/>
    <p:sldId xmlns:r="http://schemas.openxmlformats.org/officeDocument/2006/relationships" id="263" r:id="R0595ca3f24074761"/>
    <p:sldId xmlns:r="http://schemas.openxmlformats.org/officeDocument/2006/relationships" id="264" r:id="Racb94f499dea4f31"/>
    <p:sldId xmlns:r="http://schemas.openxmlformats.org/officeDocument/2006/relationships" id="265" r:id="Rd9c619a0d9f74482"/>
    <p:sldId xmlns:r="http://schemas.openxmlformats.org/officeDocument/2006/relationships" id="266" r:id="R0b07edff67ec47f2"/>
    <p:sldId xmlns:r="http://schemas.openxmlformats.org/officeDocument/2006/relationships" id="267" r:id="R05c6fcc7fa1d495d"/>
    <p:sldId xmlns:r="http://schemas.openxmlformats.org/officeDocument/2006/relationships" id="268" r:id="Rb38bc4ab4eef474b"/>
    <p:sldId xmlns:r="http://schemas.openxmlformats.org/officeDocument/2006/relationships" id="269" r:id="R8fc4cb7af594406d"/>
    <p:sldId xmlns:r="http://schemas.openxmlformats.org/officeDocument/2006/relationships" id="270" r:id="R42b17080395b4aab"/>
    <p:sldId xmlns:r="http://schemas.openxmlformats.org/officeDocument/2006/relationships" id="271" r:id="R38b9068b06004b2c"/>
    <p:sldId xmlns:r="http://schemas.openxmlformats.org/officeDocument/2006/relationships" id="272" r:id="R977874fcbed44350"/>
    <p:sldId xmlns:r="http://schemas.openxmlformats.org/officeDocument/2006/relationships" id="273" r:id="R136dc155875a4ee9"/>
    <p:sldId xmlns:r="http://schemas.openxmlformats.org/officeDocument/2006/relationships" id="274" r:id="Re6f365e6506d4d09"/>
    <p:sldId xmlns:r="http://schemas.openxmlformats.org/officeDocument/2006/relationships" id="275" r:id="R1b4f99b3456b4ea3"/>
  </p:sldIdLst>
  <p:sldSz cx="3200400" cy="457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7953597d78f4c83" /><Relationship Type="http://schemas.openxmlformats.org/officeDocument/2006/relationships/slideMaster" Target="/ppt/slideMasters/slideMaster1.xml" Id="Rb92a32b1594f46db" /><Relationship Type="http://schemas.openxmlformats.org/officeDocument/2006/relationships/notesMaster" Target="/ppt/notesMasters/notesMaster1.xml" Id="R7c83fd5626834039" /><Relationship Type="http://schemas.openxmlformats.org/officeDocument/2006/relationships/presProps" Target="/ppt/presProps.xml" Id="R1161bade5c524360" /><Relationship Type="http://schemas.openxmlformats.org/officeDocument/2006/relationships/tableStyles" Target="/ppt/tableStyles.xml" Id="R7896329692d04f36" /><Relationship Type="http://schemas.openxmlformats.org/officeDocument/2006/relationships/slide" Target="/ppt/slides/slide1.xml" Id="Rc25a2238489241d6" /><Relationship Type="http://schemas.openxmlformats.org/officeDocument/2006/relationships/slide" Target="/ppt/slides/slide2.xml" Id="R99d62882e05542b4" /><Relationship Type="http://schemas.openxmlformats.org/officeDocument/2006/relationships/slide" Target="/ppt/slides/slide3.xml" Id="R564d0cf69c8e4adb" /><Relationship Type="http://schemas.openxmlformats.org/officeDocument/2006/relationships/slide" Target="/ppt/slides/slide4.xml" Id="Recc00937578e4e19" /><Relationship Type="http://schemas.openxmlformats.org/officeDocument/2006/relationships/slide" Target="/ppt/slides/slide5.xml" Id="R493bbb95128f40fd" /><Relationship Type="http://schemas.openxmlformats.org/officeDocument/2006/relationships/slide" Target="/ppt/slides/slide6.xml" Id="Recedacac1db24cb0" /><Relationship Type="http://schemas.openxmlformats.org/officeDocument/2006/relationships/slide" Target="/ppt/slides/slide7.xml" Id="R8be15007ea504ada" /><Relationship Type="http://schemas.openxmlformats.org/officeDocument/2006/relationships/slide" Target="/ppt/slides/slide8.xml" Id="R0595ca3f24074761" /><Relationship Type="http://schemas.openxmlformats.org/officeDocument/2006/relationships/slide" Target="/ppt/slides/slide9.xml" Id="Racb94f499dea4f31" /><Relationship Type="http://schemas.openxmlformats.org/officeDocument/2006/relationships/slide" Target="/ppt/slides/slide10.xml" Id="Rd9c619a0d9f74482" /><Relationship Type="http://schemas.openxmlformats.org/officeDocument/2006/relationships/slide" Target="/ppt/slides/slide11.xml" Id="R0b07edff67ec47f2" /><Relationship Type="http://schemas.openxmlformats.org/officeDocument/2006/relationships/slide" Target="/ppt/slides/slide12.xml" Id="R05c6fcc7fa1d495d" /><Relationship Type="http://schemas.openxmlformats.org/officeDocument/2006/relationships/slide" Target="/ppt/slides/slide13.xml" Id="Rb38bc4ab4eef474b" /><Relationship Type="http://schemas.openxmlformats.org/officeDocument/2006/relationships/slide" Target="/ppt/slides/slide14.xml" Id="R8fc4cb7af594406d" /><Relationship Type="http://schemas.openxmlformats.org/officeDocument/2006/relationships/slide" Target="/ppt/slides/slide15.xml" Id="R42b17080395b4aab" /><Relationship Type="http://schemas.openxmlformats.org/officeDocument/2006/relationships/slide" Target="/ppt/slides/slide16.xml" Id="R38b9068b06004b2c" /><Relationship Type="http://schemas.openxmlformats.org/officeDocument/2006/relationships/slide" Target="/ppt/slides/slide17.xml" Id="R977874fcbed44350" /><Relationship Type="http://schemas.openxmlformats.org/officeDocument/2006/relationships/slide" Target="/ppt/slides/slide18.xml" Id="R136dc155875a4ee9" /><Relationship Type="http://schemas.openxmlformats.org/officeDocument/2006/relationships/slide" Target="/ppt/slides/slide19.xml" Id="Re6f365e6506d4d09" /><Relationship Type="http://schemas.openxmlformats.org/officeDocument/2006/relationships/slide" Target="/ppt/slides/slide20.xml" Id="R1b4f99b3456b4e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ee4079572149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27ed9ce8be4d53" /><Relationship Type="http://schemas.openxmlformats.org/officeDocument/2006/relationships/notesMaster" Target="/ppt/notesMasters/notesMaster1.xml" Id="R7c011f2231b548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19df7d037a4ad5" /><Relationship Type="http://schemas.openxmlformats.org/officeDocument/2006/relationships/notesMaster" Target="/ppt/notesMasters/notesMaster1.xml" Id="Rdb6873ad706642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83212b3d1c4b9f" /><Relationship Type="http://schemas.openxmlformats.org/officeDocument/2006/relationships/notesMaster" Target="/ppt/notesMasters/notesMaster1.xml" Id="R387ae18b263c4b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0aa5f3d24c7b4adb" /><Relationship Type="http://schemas.openxmlformats.org/officeDocument/2006/relationships/notesMaster" Target="/ppt/notesMasters/notesMaster1.xml" Id="R63af46e50e324a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9c769c0c6bd34dda" /><Relationship Type="http://schemas.openxmlformats.org/officeDocument/2006/relationships/notesMaster" Target="/ppt/notesMasters/notesMaster1.xml" Id="R46b23b9a9c654097"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5797860d89443d" /><Relationship Type="http://schemas.openxmlformats.org/officeDocument/2006/relationships/notesMaster" Target="/ppt/notesMasters/notesMaster1.xml" Id="R39123f25690545ec"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07bf75938a4686" /><Relationship Type="http://schemas.openxmlformats.org/officeDocument/2006/relationships/notesMaster" Target="/ppt/notesMasters/notesMaster1.xml" Id="R67a4feb970a94f83" /></Relationships>
</file>

<file path=ppt/notesSlides/_rels/notesSlide8.xml.rels>&#65279;<?xml version="1.0" encoding="utf-8"?><Relationships xmlns="http://schemas.openxmlformats.org/package/2006/relationships"><Relationship Type="http://schemas.openxmlformats.org/officeDocument/2006/relationships/slide" Target="/ppt/slides/slide8.xml" Id="R8255561278314314" /><Relationship Type="http://schemas.openxmlformats.org/officeDocument/2006/relationships/notesMaster" Target="/ppt/notesMasters/notesMaster1.xml" Id="R4dff250a769c4f37" /></Relationships>
</file>

<file path=ppt/notesSlides/_rels/notesSlide9.xml.rels>&#65279;<?xml version="1.0" encoding="utf-8"?><Relationships xmlns="http://schemas.openxmlformats.org/package/2006/relationships"><Relationship Type="http://schemas.openxmlformats.org/officeDocument/2006/relationships/slide" Target="/ppt/slides/slide9.xml" Id="R47e43219319b4288" /><Relationship Type="http://schemas.openxmlformats.org/officeDocument/2006/relationships/notesMaster" Target="/ppt/notesMasters/notesMaster1.xml" Id="R1a9819ad9fdb418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ee52eb4d8ac4b83" /><Relationship Type="http://schemas.openxmlformats.org/officeDocument/2006/relationships/notesMaster" Target="/ppt/notesMasters/notesMaster1.xml" Id="R67a6ccac5fb1409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d67ca2aaa374640" /><Relationship Type="http://schemas.openxmlformats.org/officeDocument/2006/relationships/notesMaster" Target="/ppt/notesMasters/notesMaster1.xml" Id="R7451d5c7ffe64e0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a78ef8296064793" /><Relationship Type="http://schemas.openxmlformats.org/officeDocument/2006/relationships/notesMaster" Target="/ppt/notesMasters/notesMaster1.xml" Id="R5d623afdf51748a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6cfff4483ae40a2" /><Relationship Type="http://schemas.openxmlformats.org/officeDocument/2006/relationships/notesMaster" Target="/ppt/notesMasters/notesMaster1.xml" Id="Reb55a28777ee429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3dc18dac40a47ed" /><Relationship Type="http://schemas.openxmlformats.org/officeDocument/2006/relationships/notesMaster" Target="/ppt/notesMasters/notesMaster1.xml" Id="R589b263595ef464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8ded7a2d62242cf" /><Relationship Type="http://schemas.openxmlformats.org/officeDocument/2006/relationships/notesMaster" Target="/ppt/notesMasters/notesMaster1.xml" Id="R621812929d4e406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40d865ead8c4beb" /><Relationship Type="http://schemas.openxmlformats.org/officeDocument/2006/relationships/notesMaster" Target="/ppt/notesMasters/notesMaster1.xml" Id="Rd40e7231744f428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df85ebc47014556" /><Relationship Type="http://schemas.openxmlformats.org/officeDocument/2006/relationships/notesMaster" Target="/ppt/notesMasters/notesMaster1.xml" Id="Rb16a287b863d404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84f7445f835437c" /><Relationship Type="http://schemas.openxmlformats.org/officeDocument/2006/relationships/notesMaster" Target="/ppt/notesMasters/notesMaster1.xml" Id="Rc26cf002eec3441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7300ed3f39a44d2" /><Relationship Type="http://schemas.openxmlformats.org/officeDocument/2006/relationships/notesMaster" Target="/ppt/notesMasters/notesMaster1.xml" Id="R314f69530a0e411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a0ca602bc204686" /><Relationship Type="http://schemas.openxmlformats.org/officeDocument/2006/relationships/notesMaster" Target="/ppt/notesMasters/notesMaster1.xml" Id="R8cc61590c81f41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paper, funded_or_famished (2)(1).pdf, Sections II-IV. Fictional sample Funding Call. Research scope is thematic context, not a Technical Work question or an additional eligibility condition. Each laboratory may apply to at most one call per cycle. A gray draw gives no award to an in-game laboratory. Proposed playtest values: 4 Funding / 3 gray cubes, 5 / 4, 6 / 5, repeated equally across all six topics. These values are not validated balance results.</a:t>
            </a:r>
          </a:p>
          <a:p xmlns:a="http://schemas.openxmlformats.org/drawingml/2006/main">
            <a:r>
              <a:t/>
            </a:r>
          </a:p>
          <a:p xmlns:a="http://schemas.openxmlformats.org/drawingml/2006/main">
            <a:r>
              <a:t>Editing: all text and card structure are native PowerPoint objects. Click a field to edit. Duplicate a card for another call. Use the Selection Pane to select the Topic color band and text objects. Card size: 3.5 x 5 inches. This deck contains 18 sample calls, one blank template and one review reference. Print PDF uses four cards per US Letter sheet at actual size.</a:t>
            </a:r>
          </a:p>
          <a:p xmlns:a="http://schemas.openxmlformats.org/drawingml/2006/main">
            <a:r>
              <a:t/>
            </a:r>
          </a:p>
          <a:p xmlns:a="http://schemas.openxmlformats.org/drawingml/2006/main">
            <a:r>
              <a:t>Card PID-01: Feedback / PID; award 4 Funding; outside/no-award 3 gray cubes.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paper, funded_or_famished (2)(1).pdf, Sections II-IV. Fictional sample Funding Call. Research scope is thematic context, not a Technical Work question or an additional eligibility condition. Each laboratory may apply to at most one call per cycle. A gray draw gives no award to an in-game laboratory. Proposed playtest values: 4 Funding / 3 gray cubes, 5 / 4, 6 / 5, repeated equally across all six topics. These values are not validated balance results.</a:t>
            </a:r>
          </a:p>
          <a:p xmlns:a="http://schemas.openxmlformats.org/drawingml/2006/main">
            <a:r>
              <a:t/>
            </a:r>
          </a:p>
          <a:p xmlns:a="http://schemas.openxmlformats.org/drawingml/2006/main">
            <a:r>
              <a:t>Editing: all text and card structure are native PowerPoint objects. Click a field to edit. Duplicate a card for another call. Use the Selection Pane to select the Topic color band and text objects. Card size: 3.5 x 5 inches. This deck contains 18 sample calls, one blank template and one review reference. Print PDF uses four cards per US Letter sheet at actual size.</a:t>
            </a:r>
          </a:p>
          <a:p xmlns:a="http://schemas.openxmlformats.org/drawingml/2006/main">
            <a:r>
              <a:t/>
            </a:r>
          </a:p>
          <a:p xmlns:a="http://schemas.openxmlformats.org/drawingml/2006/main">
            <a:r>
              <a:t>Card PID-02: Feedback / PID; award 5 Funding; outside/no-award 4 gray cubes.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paper, funded_or_famished (2)(1).pdf, Sections II-IV. Fictional sample Funding Call. Research scope is thematic context, not a Technical Work question or an additional eligibility condition. Each laboratory may apply to at most one call per cycle. A gray draw gives no award to an in-game laboratory. Proposed playtest values: 4 Funding / 3 gray cubes, 5 / 4, 6 / 5, repeated equally across all six topics. These values are not validated balance results.</a:t>
            </a:r>
          </a:p>
          <a:p xmlns:a="http://schemas.openxmlformats.org/drawingml/2006/main">
            <a:r>
              <a:t/>
            </a:r>
          </a:p>
          <a:p xmlns:a="http://schemas.openxmlformats.org/drawingml/2006/main">
            <a:r>
              <a:t>Editing: all text and card structure are native PowerPoint objects. Click a field to edit. Duplicate a card for another call. Use the Selection Pane to select the Topic color band and text objects. Card size: 3.5 x 5 inches. This deck contains 18 sample calls, one blank template and one review reference. Print PDF uses four cards per US Letter sheet at actual size.</a:t>
            </a:r>
          </a:p>
          <a:p xmlns:a="http://schemas.openxmlformats.org/drawingml/2006/main">
            <a:r>
              <a:t/>
            </a:r>
          </a:p>
          <a:p xmlns:a="http://schemas.openxmlformats.org/drawingml/2006/main">
            <a:r>
              <a:t>Card PID-03: Feedback / PID; award 6 Funding; outside/no-award 5 gray cubes.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paper, funded_or_famished (2)(1).pdf, Sections II-IV. Fictional sample Funding Call. Research scope is thematic context, not a Technical Work question or an additional eligibility condition. Each laboratory may apply to at most one call per cycle. A gray draw gives no award to an in-game laboratory. Proposed playtest values: 4 Funding / 3 gray cubes, 5 / 4, 6 / 5, repeated equally across all six topics. These values are not validated balance results.</a:t>
            </a:r>
          </a:p>
          <a:p xmlns:a="http://schemas.openxmlformats.org/drawingml/2006/main">
            <a:r>
              <a:t/>
            </a:r>
          </a:p>
          <a:p xmlns:a="http://schemas.openxmlformats.org/drawingml/2006/main">
            <a:r>
              <a:t>Editing: all text and card structure are native PowerPoint objects. Click a field to edit. Duplicate a card for another call. Use the Selection Pane to select the Topic color band and text objects. Card size: 3.5 x 5 inches. This deck contains 18 sample calls, one blank template and one review reference. Print PDF uses four cards per US Letter sheet at actual size.</a:t>
            </a:r>
          </a:p>
          <a:p xmlns:a="http://schemas.openxmlformats.org/drawingml/2006/main">
            <a:r>
              <a:t/>
            </a:r>
          </a:p>
          <a:p xmlns:a="http://schemas.openxmlformats.org/drawingml/2006/main">
            <a:r>
              <a:t>Card STA-01: Stability; award 4 Funding; outside/no-award 3 gray cubes.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paper, funded_or_famished (2)(1).pdf, Sections II-IV. Fictional sample Funding Call. Research scope is thematic context, not a Technical Work question or an additional eligibility condition. Each laboratory may apply to at most one call per cycle. A gray draw gives no award to an in-game laboratory. Proposed playtest values: 4 Funding / 3 gray cubes, 5 / 4, 6 / 5, repeated equally across all six topics. These values are not validated balance results.</a:t>
            </a:r>
          </a:p>
          <a:p xmlns:a="http://schemas.openxmlformats.org/drawingml/2006/main">
            <a:r>
              <a:t/>
            </a:r>
          </a:p>
          <a:p xmlns:a="http://schemas.openxmlformats.org/drawingml/2006/main">
            <a:r>
              <a:t>Editing: all text and card structure are native PowerPoint objects. Click a field to edit. Duplicate a card for another call. Use the Selection Pane to select the Topic color band and text objects. Card size: 3.5 x 5 inches. This deck contains 18 sample calls, one blank template and one review reference. Print PDF uses four cards per US Letter sheet at actual size.</a:t>
            </a:r>
          </a:p>
          <a:p xmlns:a="http://schemas.openxmlformats.org/drawingml/2006/main">
            <a:r>
              <a:t/>
            </a:r>
          </a:p>
          <a:p xmlns:a="http://schemas.openxmlformats.org/drawingml/2006/main">
            <a:r>
              <a:t>Card STA-02: Stability; award 5 Funding; outside/no-award 4 gray cubes.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paper, funded_or_famished (2)(1).pdf, Sections II-IV. Fictional sample Funding Call. Research scope is thematic context, not a Technical Work question or an additional eligibility condition. Each laboratory may apply to at most one call per cycle. A gray draw gives no award to an in-game laboratory. Proposed playtest values: 4 Funding / 3 gray cubes, 5 / 4, 6 / 5, repeated equally across all six topics. These values are not validated balance results.</a:t>
            </a:r>
          </a:p>
          <a:p xmlns:a="http://schemas.openxmlformats.org/drawingml/2006/main">
            <a:r>
              <a:t/>
            </a:r>
          </a:p>
          <a:p xmlns:a="http://schemas.openxmlformats.org/drawingml/2006/main">
            <a:r>
              <a:t>Editing: all text and card structure are native PowerPoint objects. Click a field to edit. Duplicate a card for another call. Use the Selection Pane to select the Topic color band and text objects. Card size: 3.5 x 5 inches. This deck contains 18 sample calls, one blank template and one review reference. Print PDF uses four cards per US Letter sheet at actual size.</a:t>
            </a:r>
          </a:p>
          <a:p xmlns:a="http://schemas.openxmlformats.org/drawingml/2006/main">
            <a:r>
              <a:t/>
            </a:r>
          </a:p>
          <a:p xmlns:a="http://schemas.openxmlformats.org/drawingml/2006/main">
            <a:r>
              <a:t>Card STA-03: Stability; award 6 Funding; outside/no-award 5 gray cubes.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paper, funded_or_famished (2)(1).pdf, Sections II-IV. Fictional sample Funding Call. Research scope is thematic context, not a Technical Work question or an additional eligibility condition. Each laboratory may apply to at most one call per cycle. A gray draw gives no award to an in-game laboratory. Proposed playtest values: 4 Funding / 3 gray cubes, 5 / 4, 6 / 5, repeated equally across all six topics. These values are not validated balance results.</a:t>
            </a:r>
          </a:p>
          <a:p xmlns:a="http://schemas.openxmlformats.org/drawingml/2006/main">
            <a:r>
              <a:t/>
            </a:r>
          </a:p>
          <a:p xmlns:a="http://schemas.openxmlformats.org/drawingml/2006/main">
            <a:r>
              <a:t>Editing: all text and card structure are native PowerPoint objects. Click a field to edit. Duplicate a card for another call. Use the Selection Pane to select the Topic color band and text objects. Card size: 3.5 x 5 inches. This deck contains 18 sample calls, one blank template and one review reference. Print PDF uses four cards per US Letter sheet at actual size.</a:t>
            </a:r>
          </a:p>
          <a:p xmlns:a="http://schemas.openxmlformats.org/drawingml/2006/main">
            <a:r>
              <a:t/>
            </a:r>
          </a:p>
          <a:p xmlns:a="http://schemas.openxmlformats.org/drawingml/2006/main">
            <a:r>
              <a:t>Card LIN-01: Linear Systems; award 4 Funding; outside/no-award 3 gray cubes.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paper, funded_or_famished (2)(1).pdf, Sections II-IV. Fictional sample Funding Call. Research scope is thematic context, not a Technical Work question or an additional eligibility condition. Each laboratory may apply to at most one call per cycle. A gray draw gives no award to an in-game laboratory. Proposed playtest values: 4 Funding / 3 gray cubes, 5 / 4, 6 / 5, repeated equally across all six topics. These values are not validated balance results.</a:t>
            </a:r>
          </a:p>
          <a:p xmlns:a="http://schemas.openxmlformats.org/drawingml/2006/main">
            <a:r>
              <a:t/>
            </a:r>
          </a:p>
          <a:p xmlns:a="http://schemas.openxmlformats.org/drawingml/2006/main">
            <a:r>
              <a:t>Editing: all text and card structure are native PowerPoint objects. Click a field to edit. Duplicate a card for another call. Use the Selection Pane to select the Topic color band and text objects. Card size: 3.5 x 5 inches. This deck contains 18 sample calls, one blank template and one review reference. Print PDF uses four cards per US Letter sheet at actual size.</a:t>
            </a:r>
          </a:p>
          <a:p xmlns:a="http://schemas.openxmlformats.org/drawingml/2006/main">
            <a:r>
              <a:t/>
            </a:r>
          </a:p>
          <a:p xmlns:a="http://schemas.openxmlformats.org/drawingml/2006/main">
            <a:r>
              <a:t>Card LIN-02: Linear Systems; award 5 Funding; outside/no-award 4 gray cubes.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paper, funded_or_famished (2)(1).pdf, Sections II-IV. Fictional sample Funding Call. Research scope is thematic context, not a Technical Work question or an additional eligibility condition. Each laboratory may apply to at most one call per cycle. A gray draw gives no award to an in-game laboratory. Proposed playtest values: 4 Funding / 3 gray cubes, 5 / 4, 6 / 5, repeated equally across all six topics. These values are not validated balance results.</a:t>
            </a:r>
          </a:p>
          <a:p xmlns:a="http://schemas.openxmlformats.org/drawingml/2006/main">
            <a:r>
              <a:t/>
            </a:r>
          </a:p>
          <a:p xmlns:a="http://schemas.openxmlformats.org/drawingml/2006/main">
            <a:r>
              <a:t>Editing: all text and card structure are native PowerPoint objects. Click a field to edit. Duplicate a card for another call. Use the Selection Pane to select the Topic color band and text objects. Card size: 3.5 x 5 inches. This deck contains 18 sample calls, one blank template and one review reference. Print PDF uses four cards per US Letter sheet at actual size.</a:t>
            </a:r>
          </a:p>
          <a:p xmlns:a="http://schemas.openxmlformats.org/drawingml/2006/main">
            <a:r>
              <a:t/>
            </a:r>
          </a:p>
          <a:p xmlns:a="http://schemas.openxmlformats.org/drawingml/2006/main">
            <a:r>
              <a:t>Card LIN-03: Linear Systems; award 6 Funding; outside/no-award 5 gray cubes.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paper, funded_or_famished (2)(1).pdf, Sections II-IV. Fictional sample Funding Call. Research scope is thematic context, not a Technical Work question or an additional eligibility condition. Each laboratory may apply to at most one call per cycle. A gray draw gives no award to an in-game laboratory. Proposed playtest values: 4 Funding / 3 gray cubes, 5 / 4, 6 / 5, repeated equally across all six topics. These values are not validated balance results.</a:t>
            </a:r>
          </a:p>
          <a:p xmlns:a="http://schemas.openxmlformats.org/drawingml/2006/main">
            <a:r>
              <a:t/>
            </a:r>
          </a:p>
          <a:p xmlns:a="http://schemas.openxmlformats.org/drawingml/2006/main">
            <a:r>
              <a:t>Editing: all text and card structure are native PowerPoint objects. Click a field to edit. Duplicate a card for another call. Use the Selection Pane to select the Topic color band and text objects. Card size: 3.5 x 5 inches. This deck contains 18 sample calls, one blank template and one review reference. Print PDF uses four cards per US Letter sheet at actual size.</a:t>
            </a:r>
          </a:p>
          <a:p xmlns:a="http://schemas.openxmlformats.org/drawingml/2006/main">
            <a:r>
              <a:t/>
            </a:r>
          </a:p>
          <a:p xmlns:a="http://schemas.openxmlformats.org/drawingml/2006/main">
            <a:r>
              <a:t>Card EST-01: Estimation; award 4 Funding; outside/no-award 3 gray cubes.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paper, funded_or_famished (2)(1).pdf, Sections II-IV. Fictional sample Funding Call. Research scope is thematic context, not a Technical Work question or an additional eligibility condition. Each laboratory may apply to at most one call per cycle. A gray draw gives no award to an in-game laboratory. Proposed playtest values: 4 Funding / 3 gray cubes, 5 / 4, 6 / 5, repeated equally across all six topics. These values are not validated balance results.</a:t>
            </a:r>
          </a:p>
          <a:p xmlns:a="http://schemas.openxmlformats.org/drawingml/2006/main">
            <a:r>
              <a:t/>
            </a:r>
          </a:p>
          <a:p xmlns:a="http://schemas.openxmlformats.org/drawingml/2006/main">
            <a:r>
              <a:t>Editing: all text and card structure are native PowerPoint objects. Click a field to edit. Duplicate a card for another call. Use the Selection Pane to select the Topic color band and text objects. Card size: 3.5 x 5 inches. This deck contains 18 sample calls, one blank template and one review reference. Print PDF uses four cards per US Letter sheet at actual size.</a:t>
            </a:r>
          </a:p>
          <a:p xmlns:a="http://schemas.openxmlformats.org/drawingml/2006/main">
            <a:r>
              <a:t/>
            </a:r>
          </a:p>
          <a:p xmlns:a="http://schemas.openxmlformats.org/drawingml/2006/main">
            <a:r>
              <a:t>Card EST-02: Estimation; award 5 Funding; outside/no-award 4 gray cubes.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paper, funded_or_famished (2)(1).pdf, Sections II-IV. Fictional sample Funding Call. Research scope is thematic context, not a Technical Work question or an additional eligibility condition. Each laboratory may apply to at most one call per cycle. A gray draw gives no award to an in-game laboratory. Proposed playtest values: 4 Funding / 3 gray cubes, 5 / 4, 6 / 5, repeated equally across all six topics. These values are not validated balance results.</a:t>
            </a:r>
          </a:p>
          <a:p xmlns:a="http://schemas.openxmlformats.org/drawingml/2006/main">
            <a:r>
              <a:t/>
            </a:r>
          </a:p>
          <a:p xmlns:a="http://schemas.openxmlformats.org/drawingml/2006/main">
            <a:r>
              <a:t>Editing: all text and card structure are native PowerPoint objects. Click a field to edit. Duplicate a card for another call. Use the Selection Pane to select the Topic color band and text objects. Card size: 3.5 x 5 inches. This deck contains 18 sample calls, one blank template and one review reference. Print PDF uses four cards per US Letter sheet at actual size.</a:t>
            </a:r>
          </a:p>
          <a:p xmlns:a="http://schemas.openxmlformats.org/drawingml/2006/main">
            <a:r>
              <a:t/>
            </a:r>
          </a:p>
          <a:p xmlns:a="http://schemas.openxmlformats.org/drawingml/2006/main">
            <a:r>
              <a:t>Card EST-03: Estimation; award 6 Funding; outside/no-award 5 gray cubes.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paper, funded_or_famished (2)(1).pdf, Sections II-IV. Fictional sample Funding Call. Research scope is thematic context, not a Technical Work question or an additional eligibility condition. Each laboratory may apply to at most one call per cycle. A gray draw gives no award to an in-game laboratory. Proposed playtest values: 4 Funding / 3 gray cubes, 5 / 4, 6 / 5, repeated equally across all six topics. These values are not validated balance results.</a:t>
            </a:r>
          </a:p>
          <a:p xmlns:a="http://schemas.openxmlformats.org/drawingml/2006/main">
            <a:r>
              <a:t/>
            </a:r>
          </a:p>
          <a:p xmlns:a="http://schemas.openxmlformats.org/drawingml/2006/main">
            <a:r>
              <a:t>Editing: all text and card structure are native PowerPoint objects. Click a field to edit. Duplicate a card for another call. Use the Selection Pane to select the Topic color band and text objects. Card size: 3.5 x 5 inches. This deck contains 18 sample calls, one blank template and one review reference. Print PDF uses four cards per US Letter sheet at actual size.</a:t>
            </a:r>
          </a:p>
          <a:p xmlns:a="http://schemas.openxmlformats.org/drawingml/2006/main">
            <a:r>
              <a:t/>
            </a:r>
          </a:p>
          <a:p xmlns:a="http://schemas.openxmlformats.org/drawingml/2006/main">
            <a:r>
              <a:t>Card MPC-01: Optimization / MPC; award 4 Funding; outside/no-award 3 gray cubes.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paper, funded_or_famished (2)(1).pdf, Sections II-IV. Fictional sample Funding Call. Research scope is thematic context, not a Technical Work question or an additional eligibility condition. Each laboratory may apply to at most one call per cycle. A gray draw gives no award to an in-game laboratory. Proposed playtest values: 4 Funding / 3 gray cubes, 5 / 4, 6 / 5, repeated equally across all six topics. These values are not validated balance results.</a:t>
            </a:r>
          </a:p>
          <a:p xmlns:a="http://schemas.openxmlformats.org/drawingml/2006/main">
            <a:r>
              <a:t/>
            </a:r>
          </a:p>
          <a:p xmlns:a="http://schemas.openxmlformats.org/drawingml/2006/main">
            <a:r>
              <a:t>Editing: all text and card structure are native PowerPoint objects. Click a field to edit. Duplicate a card for another call. Use the Selection Pane to select the Topic color band and text objects. Card size: 3.5 x 5 inches. This deck contains 18 sample calls, one blank template and one review reference. Print PDF uses four cards per US Letter sheet at actual size.</a:t>
            </a:r>
          </a:p>
          <a:p xmlns:a="http://schemas.openxmlformats.org/drawingml/2006/main">
            <a:r>
              <a:t/>
            </a:r>
          </a:p>
          <a:p xmlns:a="http://schemas.openxmlformats.org/drawingml/2006/main">
            <a:r>
              <a:t>Card MPC-02: Optimization / MPC; award 5 Funding; outside/no-award 4 gray cubes.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paper, funded_or_famished (2)(1).pdf, Sections II-IV. Fictional sample Funding Call. Research scope is thematic context, not a Technical Work question or an additional eligibility condition. Each laboratory may apply to at most one call per cycle. A gray draw gives no award to an in-game laboratory. Proposed playtest values: 4 Funding / 3 gray cubes, 5 / 4, 6 / 5, repeated equally across all six topics. These values are not validated balance results.</a:t>
            </a:r>
          </a:p>
          <a:p xmlns:a="http://schemas.openxmlformats.org/drawingml/2006/main">
            <a:r>
              <a:t/>
            </a:r>
          </a:p>
          <a:p xmlns:a="http://schemas.openxmlformats.org/drawingml/2006/main">
            <a:r>
              <a:t>Editing: all text and card structure are native PowerPoint objects. Click a field to edit. Duplicate a card for another call. Use the Selection Pane to select the Topic color band and text objects. Card size: 3.5 x 5 inches. This deck contains 18 sample calls, one blank template and one review reference. Print PDF uses four cards per US Letter sheet at actual size.</a:t>
            </a:r>
          </a:p>
          <a:p xmlns:a="http://schemas.openxmlformats.org/drawingml/2006/main">
            <a:r>
              <a:t/>
            </a:r>
          </a:p>
          <a:p xmlns:a="http://schemas.openxmlformats.org/drawingml/2006/main">
            <a:r>
              <a:t>Card MPC-03: Optimization / MPC; award 6 Funding; outside/no-award 5 gray cubes.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paper, funded_or_famished (2)(1).pdf, Sections II-IV. Fictional sample Funding Call. Research scope is thematic context, not a Technical Work question or an additional eligibility condition. Each laboratory may apply to at most one call per cycle. A gray draw gives no award to an in-game laboratory. Proposed playtest values: 4 Funding / 3 gray cubes, 5 / 4, 6 / 5, repeated equally across all six topics. These values are not validated balance results.</a:t>
            </a:r>
          </a:p>
          <a:p xmlns:a="http://schemas.openxmlformats.org/drawingml/2006/main">
            <a:r>
              <a:t/>
            </a:r>
          </a:p>
          <a:p xmlns:a="http://schemas.openxmlformats.org/drawingml/2006/main">
            <a:r>
              <a:t>Editing: all text and card structure are native PowerPoint objects. Click a field to edit. Duplicate a card for another call. Use the Selection Pane to select the Topic color band and text objects. Card size: 3.5 x 5 inches. This deck contains 18 sample calls, one blank template and one review reference. Print PDF uses four cards per US Letter sheet at actual size.</a:t>
            </a:r>
          </a:p>
          <a:p xmlns:a="http://schemas.openxmlformats.org/drawingml/2006/main">
            <a:r>
              <a:t/>
            </a:r>
          </a:p>
          <a:p xmlns:a="http://schemas.openxmlformats.org/drawingml/2006/main">
            <a:r>
              <a:t>Card MAS-01: Multi-Agent Systems; award 4 Funding; outside/no-award 3 gray cubes.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paper, funded_or_famished (2)(1).pdf, Sections II-IV. Fictional sample Funding Call. Research scope is thematic context, not a Technical Work question or an additional eligibility condition. Each laboratory may apply to at most one call per cycle. A gray draw gives no award to an in-game laboratory. Proposed playtest values: 4 Funding / 3 gray cubes, 5 / 4, 6 / 5, repeated equally across all six topics. These values are not validated balance results.</a:t>
            </a:r>
          </a:p>
          <a:p xmlns:a="http://schemas.openxmlformats.org/drawingml/2006/main">
            <a:r>
              <a:t/>
            </a:r>
          </a:p>
          <a:p xmlns:a="http://schemas.openxmlformats.org/drawingml/2006/main">
            <a:r>
              <a:t>Editing: all text and card structure are native PowerPoint objects. Click a field to edit. Duplicate a card for another call. Use the Selection Pane to select the Topic color band and text objects. Card size: 3.5 x 5 inches. This deck contains 18 sample calls, one blank template and one review reference. Print PDF uses four cards per US Letter sheet at actual size.</a:t>
            </a:r>
          </a:p>
          <a:p xmlns:a="http://schemas.openxmlformats.org/drawingml/2006/main">
            <a:r>
              <a:t/>
            </a:r>
          </a:p>
          <a:p xmlns:a="http://schemas.openxmlformats.org/drawingml/2006/main">
            <a:r>
              <a:t>Card MAS-02: Multi-Agent Systems; award 5 Funding; outside/no-award 4 gray cubes.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paper, funded_or_famished (2)(1).pdf, Sections II-IV. Fictional sample Funding Call. Research scope is thematic context, not a Technical Work question or an additional eligibility condition. Each laboratory may apply to at most one call per cycle. A gray draw gives no award to an in-game laboratory. Proposed playtest values: 4 Funding / 3 gray cubes, 5 / 4, 6 / 5, repeated equally across all six topics. These values are not validated balance results.</a:t>
            </a:r>
          </a:p>
          <a:p xmlns:a="http://schemas.openxmlformats.org/drawingml/2006/main">
            <a:r>
              <a:t/>
            </a:r>
          </a:p>
          <a:p xmlns:a="http://schemas.openxmlformats.org/drawingml/2006/main">
            <a:r>
              <a:t>Editing: all text and card structure are native PowerPoint objects. Click a field to edit. Duplicate a card for another call. Use the Selection Pane to select the Topic color band and text objects. Card size: 3.5 x 5 inches. This deck contains 18 sample calls, one blank template and one review reference. Print PDF uses four cards per US Letter sheet at actual size.</a:t>
            </a:r>
          </a:p>
          <a:p xmlns:a="http://schemas.openxmlformats.org/drawingml/2006/main">
            <a:r>
              <a:t/>
            </a:r>
          </a:p>
          <a:p xmlns:a="http://schemas.openxmlformats.org/drawingml/2006/main">
            <a:r>
              <a:t>Card MAS-03: Multi-Agent Systems; award 6 Funding; outside/no-award 5 gray cubes.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paper, funded_or_famished (2)(1).pdf, Sections II-IV. Fictional sample Funding Call. Research scope is thematic context, not a Technical Work question or an additional eligibility condition. Each laboratory may apply to at most one call per cycle. A gray draw gives no award to an in-game laboratory. Proposed playtest values: 4 Funding / 3 gray cubes, 5 / 4, 6 / 5, repeated equally across all six topics. These values are not validated balance results.</a:t>
            </a:r>
          </a:p>
          <a:p xmlns:a="http://schemas.openxmlformats.org/drawingml/2006/main">
            <a:r>
              <a:t/>
            </a:r>
          </a:p>
          <a:p xmlns:a="http://schemas.openxmlformats.org/drawingml/2006/main">
            <a:r>
              <a:t>Editing: all text and card structure are native PowerPoint objects. Click a field to edit. Duplicate a card for another call. Use the Selection Pane to select the Topic color band and text objects. Card size: 3.5 x 5 inches. This deck contains 18 sample calls, one blank template and one review reference. Print PDF uses four cards per US Letter sheet at actual size.</a:t>
            </a:r>
          </a:p>
          <a:p xmlns:a="http://schemas.openxmlformats.org/drawingml/2006/main">
            <a:r>
              <a:t/>
            </a:r>
          </a:p>
          <a:p xmlns:a="http://schemas.openxmlformats.org/drawingml/2006/main">
            <a:r>
              <a:t>Blank template: replace bracketed fields before using it in 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paper funded_or_famished (2)(1).pdf, Section III. W is an eligible applicant’s cube count. Eligibility requires matching Recent Work or Certified Expertise in the call topic. Without certification only matching Recent Work counts. With certification any Recent Work topic counts, up to 3. Certified Expertise is permanent. An applicant’s funding probability is W divided by the total number of all applicant cubes plus gray cubes. Winning adds only the printed Funding.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8b145014ff463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39fae33c669493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a1eba4e79ef44b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6141faf18a54f5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7d20a5fab3a49f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7ac41a6b87f4f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7515D9-B015-4FB2-8DD1-E215704CDC50}"/>
              </a:ext>
            </a:extLst>
          </p:cNvPr>
          <p:cNvSpPr>
            <a:spLocks xmlns:a="http://schemas.openxmlformats.org/drawingml/2006/main" noGrp="1"/>
          </p:cNvSpPr>
          <p:nvPr>
            <p:ph type="title" idx="0"/>
          </p:nvPr>
        </p:nvSpPr>
        <p:spPr>
          <a:xfrm xmlns:a="http://schemas.openxmlformats.org/drawingml/2006/main">
            <a:off x="320040" y="1727200"/>
            <a:ext cx="2560320" cy="66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26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9113C81-3D2A-487B-B2E0-A1F8B96268D2}"/>
              </a:ext>
            </a:extLst>
          </p:cNvPr>
          <p:cNvSpPr>
            <a:spLocks xmlns:a="http://schemas.openxmlformats.org/drawingml/2006/main" noGrp="1"/>
          </p:cNvSpPr>
          <p:nvPr>
            <p:ph type="subTitle" idx="1"/>
          </p:nvPr>
        </p:nvSpPr>
        <p:spPr>
          <a:xfrm xmlns:a="http://schemas.openxmlformats.org/drawingml/2006/main">
            <a:off x="480060" y="2514600"/>
            <a:ext cx="2240280" cy="508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51"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8E7F45C-AA38-45E0-9C6B-63D8304D4479}"/>
              </a:ext>
            </a:extLst>
          </p:cNvPr>
          <p:cNvSpPr>
            <a:spLocks xmlns:a="http://schemas.openxmlformats.org/drawingml/2006/main" noGrp="1"/>
          </p:cNvSpPr>
          <p:nvPr>
            <p:ph type="title" idx="0"/>
          </p:nvPr>
        </p:nvSpPr>
        <p:spPr>
          <a:xfrm xmlns:a="http://schemas.openxmlformats.org/drawingml/2006/main">
            <a:off x="320040" y="1905000"/>
            <a:ext cx="256032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103"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CD07360-D2E7-4E0D-AE57-D13920908F00}"/>
              </a:ext>
            </a:extLst>
          </p:cNvPr>
          <p:cNvSpPr>
            <a:spLocks xmlns:a="http://schemas.openxmlformats.org/drawingml/2006/main" noGrp="1"/>
          </p:cNvSpPr>
          <p:nvPr>
            <p:ph type="title" idx="0"/>
          </p:nvPr>
        </p:nvSpPr>
        <p:spPr>
          <a:xfrm xmlns:a="http://schemas.openxmlformats.org/drawingml/2006/main">
            <a:off x="180023" y="355600"/>
            <a:ext cx="2840355" cy="558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866"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DD7E8D9-9A23-470E-BE96-64D223AB244A}"/>
              </a:ext>
            </a:extLst>
          </p:cNvPr>
          <p:cNvSpPr>
            <a:spLocks xmlns:a="http://schemas.openxmlformats.org/drawingml/2006/main" noGrp="1"/>
          </p:cNvSpPr>
          <p:nvPr>
            <p:ph type="body" idx="1"/>
          </p:nvPr>
        </p:nvSpPr>
        <p:spPr>
          <a:xfrm xmlns:a="http://schemas.openxmlformats.org/drawingml/2006/main">
            <a:off x="180023" y="1270000"/>
            <a:ext cx="2840355" cy="2844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591" b="0">
                <a:solidFill>
                  <a:schemeClr val="tx1"/>
                </a:solidFill>
                <a:latin typeface="+mn-lt"/>
                <a:ea typeface="+mn-lt"/>
                <a:cs typeface="+mn-lt"/>
              </a:defRPr>
            </a:defPPr>
            <a:lvl1pPr marL="60008" indent="-60008">
              <a:lnSpc>
                <a:spcPct val="110000"/>
              </a:lnSpc>
              <a:spcBef>
                <a:spcPts val="0"/>
              </a:spcBef>
              <a:spcAft>
                <a:spcPts val="315"/>
              </a:spcAft>
              <a:buChar char="•"/>
            </a:lvl1pPr>
            <a:lvl2pPr marL="140018" indent="-60008">
              <a:lnSpc>
                <a:spcPct val="110000"/>
              </a:lnSpc>
              <a:spcBef>
                <a:spcPts val="0"/>
              </a:spcBef>
              <a:spcAft>
                <a:spcPts val="315"/>
              </a:spcAft>
              <a:buChar char="•"/>
            </a:lvl2pPr>
            <a:lvl3pPr marL="220028" indent="-60008">
              <a:lnSpc>
                <a:spcPct val="110000"/>
              </a:lnSpc>
              <a:spcBef>
                <a:spcPts val="0"/>
              </a:spcBef>
              <a:spcAft>
                <a:spcPts val="315"/>
              </a:spcAft>
              <a:buChar char="•"/>
            </a:lvl3pPr>
            <a:lvl4pPr marL="300038" indent="-60008">
              <a:lnSpc>
                <a:spcPct val="110000"/>
              </a:lnSpc>
              <a:spcBef>
                <a:spcPts val="0"/>
              </a:spcBef>
              <a:spcAft>
                <a:spcPts val="315"/>
              </a:spcAft>
              <a:buChar char="•"/>
            </a:lvl4pPr>
            <a:lvl5pPr marL="380048" indent="-60008">
              <a:lnSpc>
                <a:spcPct val="110000"/>
              </a:lnSpc>
              <a:spcBef>
                <a:spcPts val="0"/>
              </a:spcBef>
              <a:spcAft>
                <a:spcPts val="315"/>
              </a:spcAft>
              <a:buChar char="•"/>
            </a:lvl5pPr>
            <a:lvl6pPr marL="460058" indent="-60008">
              <a:lnSpc>
                <a:spcPct val="110000"/>
              </a:lnSpc>
              <a:spcBef>
                <a:spcPts val="0"/>
              </a:spcBef>
              <a:spcAft>
                <a:spcPts val="315"/>
              </a:spcAft>
              <a:buChar char="•"/>
            </a:lvl6pPr>
            <a:lvl7pPr marL="540068" indent="-60008">
              <a:lnSpc>
                <a:spcPct val="110000"/>
              </a:lnSpc>
              <a:spcBef>
                <a:spcPts val="0"/>
              </a:spcBef>
              <a:spcAft>
                <a:spcPts val="315"/>
              </a:spcAft>
              <a:buChar char="•"/>
            </a:lvl7pPr>
            <a:lvl8pPr marL="620078" indent="-60008">
              <a:lnSpc>
                <a:spcPct val="110000"/>
              </a:lnSpc>
              <a:spcBef>
                <a:spcPts val="0"/>
              </a:spcBef>
              <a:spcAft>
                <a:spcPts val="315"/>
              </a:spcAft>
              <a:buChar char="•"/>
            </a:lvl8pPr>
            <a:lvl9pPr marL="700088" indent="-60008">
              <a:lnSpc>
                <a:spcPct val="110000"/>
              </a:lnSpc>
              <a:spcBef>
                <a:spcPts val="0"/>
              </a:spcBef>
              <a:spcAft>
                <a:spcPts val="315"/>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F66F9A6-239C-40DB-9ECD-FB0D0C9D540B}"/>
              </a:ext>
            </a:extLst>
          </p:cNvPr>
          <p:cNvSpPr>
            <a:spLocks xmlns:a="http://schemas.openxmlformats.org/drawingml/2006/main" noGrp="1"/>
          </p:cNvSpPr>
          <p:nvPr>
            <p:ph type="title" idx="0"/>
          </p:nvPr>
        </p:nvSpPr>
        <p:spPr>
          <a:xfrm xmlns:a="http://schemas.openxmlformats.org/drawingml/2006/main">
            <a:off x="180023" y="355600"/>
            <a:ext cx="2840355" cy="558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866"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B0C1538-D1D6-47BD-AE88-CAFE323A3743}"/>
              </a:ext>
            </a:extLst>
          </p:cNvPr>
          <p:cNvSpPr>
            <a:spLocks xmlns:a="http://schemas.openxmlformats.org/drawingml/2006/main" noGrp="1"/>
          </p:cNvSpPr>
          <p:nvPr>
            <p:ph type="body" idx="1"/>
          </p:nvPr>
        </p:nvSpPr>
        <p:spPr>
          <a:xfrm xmlns:a="http://schemas.openxmlformats.org/drawingml/2006/main">
            <a:off x="180023" y="1270000"/>
            <a:ext cx="1320165" cy="2844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551" b="0">
                <a:solidFill>
                  <a:schemeClr val="tx1"/>
                </a:solidFill>
                <a:latin typeface="+mn-lt"/>
                <a:ea typeface="+mn-lt"/>
                <a:cs typeface="+mn-lt"/>
              </a:defRPr>
            </a:defPPr>
            <a:lvl1pPr marL="60008" indent="-60008">
              <a:lnSpc>
                <a:spcPct val="110000"/>
              </a:lnSpc>
              <a:spcBef>
                <a:spcPts val="0"/>
              </a:spcBef>
              <a:spcAft>
                <a:spcPts val="315"/>
              </a:spcAft>
              <a:buChar char="•"/>
            </a:lvl1pPr>
            <a:lvl2pPr marL="140018" indent="-60008">
              <a:lnSpc>
                <a:spcPct val="110000"/>
              </a:lnSpc>
              <a:spcBef>
                <a:spcPts val="0"/>
              </a:spcBef>
              <a:spcAft>
                <a:spcPts val="315"/>
              </a:spcAft>
              <a:buChar char="•"/>
            </a:lvl2pPr>
            <a:lvl3pPr marL="220028" indent="-60008">
              <a:lnSpc>
                <a:spcPct val="110000"/>
              </a:lnSpc>
              <a:spcBef>
                <a:spcPts val="0"/>
              </a:spcBef>
              <a:spcAft>
                <a:spcPts val="315"/>
              </a:spcAft>
              <a:buChar char="•"/>
            </a:lvl3pPr>
            <a:lvl4pPr marL="300038" indent="-60008">
              <a:lnSpc>
                <a:spcPct val="110000"/>
              </a:lnSpc>
              <a:spcBef>
                <a:spcPts val="0"/>
              </a:spcBef>
              <a:spcAft>
                <a:spcPts val="315"/>
              </a:spcAft>
              <a:buChar char="•"/>
            </a:lvl4pPr>
            <a:lvl5pPr marL="380048" indent="-60008">
              <a:lnSpc>
                <a:spcPct val="110000"/>
              </a:lnSpc>
              <a:spcBef>
                <a:spcPts val="0"/>
              </a:spcBef>
              <a:spcAft>
                <a:spcPts val="315"/>
              </a:spcAft>
              <a:buChar char="•"/>
            </a:lvl5pPr>
            <a:lvl6pPr marL="460058" indent="-60008">
              <a:lnSpc>
                <a:spcPct val="110000"/>
              </a:lnSpc>
              <a:spcBef>
                <a:spcPts val="0"/>
              </a:spcBef>
              <a:spcAft>
                <a:spcPts val="315"/>
              </a:spcAft>
              <a:buChar char="•"/>
            </a:lvl6pPr>
            <a:lvl7pPr marL="540068" indent="-60008">
              <a:lnSpc>
                <a:spcPct val="110000"/>
              </a:lnSpc>
              <a:spcBef>
                <a:spcPts val="0"/>
              </a:spcBef>
              <a:spcAft>
                <a:spcPts val="315"/>
              </a:spcAft>
              <a:buChar char="•"/>
            </a:lvl7pPr>
            <a:lvl8pPr marL="620078" indent="-60008">
              <a:lnSpc>
                <a:spcPct val="110000"/>
              </a:lnSpc>
              <a:spcBef>
                <a:spcPts val="0"/>
              </a:spcBef>
              <a:spcAft>
                <a:spcPts val="315"/>
              </a:spcAft>
              <a:buChar char="•"/>
            </a:lvl8pPr>
            <a:lvl9pPr marL="700088" indent="-60008">
              <a:lnSpc>
                <a:spcPct val="110000"/>
              </a:lnSpc>
              <a:spcBef>
                <a:spcPts val="0"/>
              </a:spcBef>
              <a:spcAft>
                <a:spcPts val="315"/>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6F5A79E-E18A-4781-AAFF-3D3C2109072B}"/>
              </a:ext>
            </a:extLst>
          </p:cNvPr>
          <p:cNvSpPr>
            <a:spLocks xmlns:a="http://schemas.openxmlformats.org/drawingml/2006/main" noGrp="1"/>
          </p:cNvSpPr>
          <p:nvPr>
            <p:ph type="body" idx="2"/>
          </p:nvPr>
        </p:nvSpPr>
        <p:spPr>
          <a:xfrm xmlns:a="http://schemas.openxmlformats.org/drawingml/2006/main">
            <a:off x="1700213" y="1270000"/>
            <a:ext cx="1320165" cy="2844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551" b="0">
                <a:solidFill>
                  <a:schemeClr val="tx1"/>
                </a:solidFill>
                <a:latin typeface="+mn-lt"/>
                <a:ea typeface="+mn-lt"/>
                <a:cs typeface="+mn-lt"/>
              </a:defRPr>
            </a:defPPr>
            <a:lvl1pPr marL="60008" indent="-60008">
              <a:lnSpc>
                <a:spcPct val="110000"/>
              </a:lnSpc>
              <a:spcBef>
                <a:spcPts val="0"/>
              </a:spcBef>
              <a:spcAft>
                <a:spcPts val="315"/>
              </a:spcAft>
              <a:buChar char="•"/>
            </a:lvl1pPr>
            <a:lvl2pPr marL="140018" indent="-60008">
              <a:lnSpc>
                <a:spcPct val="110000"/>
              </a:lnSpc>
              <a:spcBef>
                <a:spcPts val="0"/>
              </a:spcBef>
              <a:spcAft>
                <a:spcPts val="315"/>
              </a:spcAft>
              <a:buChar char="•"/>
            </a:lvl2pPr>
            <a:lvl3pPr marL="220028" indent="-60008">
              <a:lnSpc>
                <a:spcPct val="110000"/>
              </a:lnSpc>
              <a:spcBef>
                <a:spcPts val="0"/>
              </a:spcBef>
              <a:spcAft>
                <a:spcPts val="315"/>
              </a:spcAft>
              <a:buChar char="•"/>
            </a:lvl3pPr>
            <a:lvl4pPr marL="300038" indent="-60008">
              <a:lnSpc>
                <a:spcPct val="110000"/>
              </a:lnSpc>
              <a:spcBef>
                <a:spcPts val="0"/>
              </a:spcBef>
              <a:spcAft>
                <a:spcPts val="315"/>
              </a:spcAft>
              <a:buChar char="•"/>
            </a:lvl4pPr>
            <a:lvl5pPr marL="380048" indent="-60008">
              <a:lnSpc>
                <a:spcPct val="110000"/>
              </a:lnSpc>
              <a:spcBef>
                <a:spcPts val="0"/>
              </a:spcBef>
              <a:spcAft>
                <a:spcPts val="315"/>
              </a:spcAft>
              <a:buChar char="•"/>
            </a:lvl5pPr>
            <a:lvl6pPr marL="460058" indent="-60008">
              <a:lnSpc>
                <a:spcPct val="110000"/>
              </a:lnSpc>
              <a:spcBef>
                <a:spcPts val="0"/>
              </a:spcBef>
              <a:spcAft>
                <a:spcPts val="315"/>
              </a:spcAft>
              <a:buChar char="•"/>
            </a:lvl6pPr>
            <a:lvl7pPr marL="540068" indent="-60008">
              <a:lnSpc>
                <a:spcPct val="110000"/>
              </a:lnSpc>
              <a:spcBef>
                <a:spcPts val="0"/>
              </a:spcBef>
              <a:spcAft>
                <a:spcPts val="315"/>
              </a:spcAft>
              <a:buChar char="•"/>
            </a:lvl7pPr>
            <a:lvl8pPr marL="620078" indent="-60008">
              <a:lnSpc>
                <a:spcPct val="110000"/>
              </a:lnSpc>
              <a:spcBef>
                <a:spcPts val="0"/>
              </a:spcBef>
              <a:spcAft>
                <a:spcPts val="315"/>
              </a:spcAft>
              <a:buChar char="•"/>
            </a:lvl8pPr>
            <a:lvl9pPr marL="700088" indent="-60008">
              <a:lnSpc>
                <a:spcPct val="110000"/>
              </a:lnSpc>
              <a:spcBef>
                <a:spcPts val="0"/>
              </a:spcBef>
              <a:spcAft>
                <a:spcPts val="315"/>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DA0719-CE66-4F7B-8D11-7863C0FC274C}"/>
              </a:ext>
            </a:extLst>
          </p:cNvPr>
          <p:cNvSpPr>
            <a:spLocks xmlns:a="http://schemas.openxmlformats.org/drawingml/2006/main" noGrp="1"/>
          </p:cNvSpPr>
          <p:nvPr>
            <p:ph type="title" idx="0"/>
          </p:nvPr>
        </p:nvSpPr>
        <p:spPr>
          <a:xfrm xmlns:a="http://schemas.openxmlformats.org/drawingml/2006/main">
            <a:off x="180023" y="355600"/>
            <a:ext cx="2840355" cy="558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866"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E31FB71-F2B0-4C80-92DA-F41310D5B842}"/>
              </a:ext>
            </a:extLst>
          </p:cNvPr>
          <p:cNvSpPr>
            <a:spLocks xmlns:a="http://schemas.openxmlformats.org/drawingml/2006/main" noGrp="1"/>
          </p:cNvSpPr>
          <p:nvPr>
            <p:ph type="body" idx="1"/>
          </p:nvPr>
        </p:nvSpPr>
        <p:spPr>
          <a:xfrm xmlns:a="http://schemas.openxmlformats.org/drawingml/2006/main">
            <a:off x="180023" y="1270000"/>
            <a:ext cx="1320165" cy="2844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591" b="0">
                <a:solidFill>
                  <a:schemeClr val="tx1"/>
                </a:solidFill>
                <a:latin typeface="+mn-lt"/>
                <a:ea typeface="+mn-lt"/>
                <a:cs typeface="+mn-lt"/>
              </a:defRPr>
            </a:defPPr>
            <a:lvl1pPr marL="60008" indent="-60008">
              <a:lnSpc>
                <a:spcPct val="110000"/>
              </a:lnSpc>
              <a:spcBef>
                <a:spcPts val="0"/>
              </a:spcBef>
              <a:spcAft>
                <a:spcPts val="315"/>
              </a:spcAft>
              <a:buChar char="•"/>
            </a:lvl1pPr>
            <a:lvl2pPr marL="140018" indent="-60008">
              <a:lnSpc>
                <a:spcPct val="110000"/>
              </a:lnSpc>
              <a:spcBef>
                <a:spcPts val="0"/>
              </a:spcBef>
              <a:spcAft>
                <a:spcPts val="315"/>
              </a:spcAft>
              <a:buChar char="•"/>
            </a:lvl2pPr>
            <a:lvl3pPr marL="220028" indent="-60008">
              <a:lnSpc>
                <a:spcPct val="110000"/>
              </a:lnSpc>
              <a:spcBef>
                <a:spcPts val="0"/>
              </a:spcBef>
              <a:spcAft>
                <a:spcPts val="315"/>
              </a:spcAft>
              <a:buChar char="•"/>
            </a:lvl3pPr>
            <a:lvl4pPr marL="300038" indent="-60008">
              <a:lnSpc>
                <a:spcPct val="110000"/>
              </a:lnSpc>
              <a:spcBef>
                <a:spcPts val="0"/>
              </a:spcBef>
              <a:spcAft>
                <a:spcPts val="315"/>
              </a:spcAft>
              <a:buChar char="•"/>
            </a:lvl4pPr>
            <a:lvl5pPr marL="380048" indent="-60008">
              <a:lnSpc>
                <a:spcPct val="110000"/>
              </a:lnSpc>
              <a:spcBef>
                <a:spcPts val="0"/>
              </a:spcBef>
              <a:spcAft>
                <a:spcPts val="315"/>
              </a:spcAft>
              <a:buChar char="•"/>
            </a:lvl5pPr>
            <a:lvl6pPr marL="460058" indent="-60008">
              <a:lnSpc>
                <a:spcPct val="110000"/>
              </a:lnSpc>
              <a:spcBef>
                <a:spcPts val="0"/>
              </a:spcBef>
              <a:spcAft>
                <a:spcPts val="315"/>
              </a:spcAft>
              <a:buChar char="•"/>
            </a:lvl6pPr>
            <a:lvl7pPr marL="540068" indent="-60008">
              <a:lnSpc>
                <a:spcPct val="110000"/>
              </a:lnSpc>
              <a:spcBef>
                <a:spcPts val="0"/>
              </a:spcBef>
              <a:spcAft>
                <a:spcPts val="315"/>
              </a:spcAft>
              <a:buChar char="•"/>
            </a:lvl7pPr>
            <a:lvl8pPr marL="620078" indent="-60008">
              <a:lnSpc>
                <a:spcPct val="110000"/>
              </a:lnSpc>
              <a:spcBef>
                <a:spcPts val="0"/>
              </a:spcBef>
              <a:spcAft>
                <a:spcPts val="315"/>
              </a:spcAft>
              <a:buChar char="•"/>
            </a:lvl8pPr>
            <a:lvl9pPr marL="700088" indent="-60008">
              <a:lnSpc>
                <a:spcPct val="110000"/>
              </a:lnSpc>
              <a:spcBef>
                <a:spcPts val="0"/>
              </a:spcBef>
              <a:spcAft>
                <a:spcPts val="315"/>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3ccc9d81c24ddd" /><Relationship Type="http://schemas.openxmlformats.org/officeDocument/2006/relationships/slideLayout" Target="/ppt/slideLayouts/slideLayout1.xml" Id="Rc46b2ff3ea804f36" /><Relationship Type="http://schemas.openxmlformats.org/officeDocument/2006/relationships/slideLayout" Target="/ppt/slideLayouts/slideLayout2.xml" Id="Re451f8fbc8be46f5" /><Relationship Type="http://schemas.openxmlformats.org/officeDocument/2006/relationships/slideLayout" Target="/ppt/slideLayouts/slideLayout3.xml" Id="Rdd5ed66e009a492c" /><Relationship Type="http://schemas.openxmlformats.org/officeDocument/2006/relationships/slideLayout" Target="/ppt/slideLayouts/slideLayout4.xml" Id="R045dbff0a4e64d00" /><Relationship Type="http://schemas.openxmlformats.org/officeDocument/2006/relationships/slideLayout" Target="/ppt/slideLayouts/slideLayout5.xml" Id="R3296e24c026e4450" /><Relationship Type="http://schemas.openxmlformats.org/officeDocument/2006/relationships/slideLayout" Target="/ppt/slideLayouts/slideLayout6.xml" Id="R5742cd4c1d4e44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46b2ff3ea804f36"/>
    <p:sldLayoutId xmlns:r="http://schemas.openxmlformats.org/officeDocument/2006/relationships" id="2147483650" r:id="Re451f8fbc8be46f5"/>
    <p:sldLayoutId xmlns:r="http://schemas.openxmlformats.org/officeDocument/2006/relationships" id="2147483651" r:id="Rdd5ed66e009a492c"/>
    <p:sldLayoutId xmlns:r="http://schemas.openxmlformats.org/officeDocument/2006/relationships" id="2147483652" r:id="R045dbff0a4e64d00"/>
    <p:sldLayoutId xmlns:r="http://schemas.openxmlformats.org/officeDocument/2006/relationships" id="2147483653" r:id="R3296e24c026e4450"/>
    <p:sldLayoutId xmlns:r="http://schemas.openxmlformats.org/officeDocument/2006/relationships" id="2147483654" r:id="R5742cd4c1d4e44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1668826b75443af" /><Relationship Type="http://schemas.openxmlformats.org/officeDocument/2006/relationships/notesSlide" Target="/ppt/notesSlides/notesSlide1.xml" Id="R02d6e70c5aad4f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3d59c570ba84985" /><Relationship Type="http://schemas.openxmlformats.org/officeDocument/2006/relationships/notesSlide" Target="/ppt/notesSlides/notesSlide2.xml" Id="R8951abebaccd4f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53006262fdd4baf" /><Relationship Type="http://schemas.openxmlformats.org/officeDocument/2006/relationships/notesSlide" Target="/ppt/notesSlides/notesSlide3.xml" Id="R759a2025018a476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1bc51c2719143a6" /><Relationship Type="http://schemas.openxmlformats.org/officeDocument/2006/relationships/notesSlide" Target="/ppt/notesSlides/notesSlide4.xml" Id="R77337780a61746f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3329a2cac694850" /><Relationship Type="http://schemas.openxmlformats.org/officeDocument/2006/relationships/notesSlide" Target="/ppt/notesSlides/notesSlide5.xml" Id="R4ea06f33b3b14eb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6cba4f715e54398" /><Relationship Type="http://schemas.openxmlformats.org/officeDocument/2006/relationships/notesSlide" Target="/ppt/notesSlides/notesSlide6.xml" Id="Rb0ed99ed65664b1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c56469efc984b5f" /><Relationship Type="http://schemas.openxmlformats.org/officeDocument/2006/relationships/notesSlide" Target="/ppt/notesSlides/notesSlide7.xml" Id="Rd12a2ba05b094f7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cea7a06343841ea" /><Relationship Type="http://schemas.openxmlformats.org/officeDocument/2006/relationships/notesSlide" Target="/ppt/notesSlides/notesSlide8.xml" Id="R6d1c88460b16404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35272cf23f545cc" /><Relationship Type="http://schemas.openxmlformats.org/officeDocument/2006/relationships/notesSlide" Target="/ppt/notesSlides/notesSlide9.xml" Id="R6bd488a3e17e4c9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dfb6e5db30f4ffb" /><Relationship Type="http://schemas.openxmlformats.org/officeDocument/2006/relationships/notesSlide" Target="/ppt/notesSlides/notesSlide10.xml" Id="R7292131c2f17404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a4361fbbd204731" /><Relationship Type="http://schemas.openxmlformats.org/officeDocument/2006/relationships/notesSlide" Target="/ppt/notesSlides/notesSlide11.xml" Id="Rc95459b406c74f9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7d6fb053b4b4e83" /><Relationship Type="http://schemas.openxmlformats.org/officeDocument/2006/relationships/notesSlide" Target="/ppt/notesSlides/notesSlide12.xml" Id="Rc53e1b6635cd466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0d072a1a3fd4960" /><Relationship Type="http://schemas.openxmlformats.org/officeDocument/2006/relationships/notesSlide" Target="/ppt/notesSlides/notesSlide13.xml" Id="R352fd917bc89428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fe7ee6e8eeb4db1" /><Relationship Type="http://schemas.openxmlformats.org/officeDocument/2006/relationships/notesSlide" Target="/ppt/notesSlides/notesSlide14.xml" Id="Ra6e43e38fafe471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45586a53fca496e" /><Relationship Type="http://schemas.openxmlformats.org/officeDocument/2006/relationships/notesSlide" Target="/ppt/notesSlides/notesSlide15.xml" Id="R0eef1801bce04d2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5f0d8e4d0fe4a3d" /><Relationship Type="http://schemas.openxmlformats.org/officeDocument/2006/relationships/notesSlide" Target="/ppt/notesSlides/notesSlide16.xml" Id="Rc076f64e697247f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ca46b7408aa41b2" /><Relationship Type="http://schemas.openxmlformats.org/officeDocument/2006/relationships/notesSlide" Target="/ppt/notesSlides/notesSlide17.xml" Id="R27e41025f2174d3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e2e4c76e3ce41e5" /><Relationship Type="http://schemas.openxmlformats.org/officeDocument/2006/relationships/notesSlide" Target="/ppt/notesSlides/notesSlide18.xml" Id="Rd7c2c0e0ef4947e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793ce9a8b4a4a58" /><Relationship Type="http://schemas.openxmlformats.org/officeDocument/2006/relationships/notesSlide" Target="/ppt/notesSlides/notesSlide19.xml" Id="R8587dc8a5a5f4f0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e60cbbf6fc6486e" /><Relationship Type="http://schemas.openxmlformats.org/officeDocument/2006/relationships/notesSlide" Target="/ppt/notesSlides/notesSlide20.xml" Id="Rfddaf6a5c3bc4b5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Card border">
            <a:extLst xmlns:a="http://schemas.openxmlformats.org/drawingml/2006/main">
              <a:ext uri="{FF2B5EF4-FFF2-40B4-BE49-F238E27FC236}">
                <a16:creationId xmlns:a16="http://schemas.microsoft.com/office/drawing/2014/main" id="{DE48FA84-A278-420C-99CB-646DD65BF55D}"/>
              </a:ext>
            </a:extLst>
          </p:cNvPr>
          <p:cNvSpPr>
            <a:spLocks xmlns:a="http://schemas.openxmlformats.org/drawingml/2006/main" noGrp="1"/>
          </p:cNvSpPr>
          <p:nvPr/>
        </p:nvSpPr>
        <p:spPr>
          <a:xfrm xmlns:a="http://schemas.openxmlformats.org/drawingml/2006/main">
            <a:off x="9525" y="9525"/>
            <a:ext cx="3181350" cy="4552950"/>
          </a:xfrm>
          <a:prstGeom xmlns:a="http://schemas.openxmlformats.org/drawingml/2006/main" prst="rect">
            <a:avLst/>
          </a:prstGeom>
          <a:noFill xmlns:a="http://schemas.openxmlformats.org/drawingml/2006/main"/>
          <a:ln xmlns:a="http://schemas.openxmlformats.org/drawingml/2006/main" w="9525">
            <a:solidFill>
              <a:srgbClr val="D0D5D8"/>
            </a:solidFill>
          </a:ln>
        </p:spPr>
      </p:sp>
      <p:sp>
        <p:nvSpPr>
          <p:cNvPr id="2" name="Topic color band">
            <a:extLst xmlns:a="http://schemas.openxmlformats.org/drawingml/2006/main">
              <a:ext uri="{FF2B5EF4-FFF2-40B4-BE49-F238E27FC236}">
                <a16:creationId xmlns:a16="http://schemas.microsoft.com/office/drawing/2014/main" id="{7EB0110B-EF49-46D1-8F7A-B5ACCCC05CBF}"/>
              </a:ext>
            </a:extLst>
          </p:cNvPr>
          <p:cNvSpPr>
            <a:spLocks xmlns:a="http://schemas.openxmlformats.org/drawingml/2006/main" noGrp="1"/>
          </p:cNvSpPr>
          <p:nvPr/>
        </p:nvSpPr>
        <p:spPr>
          <a:xfrm xmlns:a="http://schemas.openxmlformats.org/drawingml/2006/main">
            <a:off x="9525" y="9525"/>
            <a:ext cx="3181350" cy="400050"/>
          </a:xfrm>
          <a:prstGeom xmlns:a="http://schemas.openxmlformats.org/drawingml/2006/main" prst="rect">
            <a:avLst/>
          </a:prstGeom>
          <a:solidFill xmlns:a="http://schemas.openxmlformats.org/drawingml/2006/main">
            <a:srgbClr val="176578"/>
          </a:solidFill>
          <a:ln xmlns:a="http://schemas.openxmlformats.org/drawingml/2006/main" w="0">
            <a:noFill/>
          </a:ln>
        </p:spPr>
      </p:sp>
      <p:sp>
        <p:nvSpPr>
          <p:cNvPr id="3" name="Game name">
            <a:extLst xmlns:a="http://schemas.openxmlformats.org/drawingml/2006/main">
              <a:ext uri="{FF2B5EF4-FFF2-40B4-BE49-F238E27FC236}">
                <a16:creationId xmlns:a16="http://schemas.microsoft.com/office/drawing/2014/main" id="{D2975D4A-9C05-47AB-A7E6-6DF780161D4F}"/>
              </a:ext>
            </a:extLst>
          </p:cNvPr>
          <p:cNvSpPr>
            <a:spLocks xmlns:a="http://schemas.openxmlformats.org/drawingml/2006/main" noGrp="1"/>
          </p:cNvSpPr>
          <p:nvPr/>
        </p:nvSpPr>
        <p:spPr>
          <a:xfrm xmlns:a="http://schemas.openxmlformats.org/drawingml/2006/main">
            <a:off x="190500" y="133350"/>
            <a:ext cx="1943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FFFFFF"/>
                </a:solidFill>
                <a:latin typeface="DejaVu Sans"/>
                <a:ea typeface="DejaVu Sans"/>
                <a:cs typeface="DejaVu Sans"/>
              </a:defRPr>
            </a:defPPr>
          </a:lstStyle>
          <a:p xmlns:a="http://schemas.openxmlformats.org/drawingml/2006/main">
            <a:pPr algn="l">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GRANT CONTROL</a:t>
            </a:r>
          </a:p>
        </p:txBody>
      </p:sp>
      <p:sp>
        <p:nvSpPr>
          <p:cNvPr id="4" name="Card identifier">
            <a:extLst xmlns:a="http://schemas.openxmlformats.org/drawingml/2006/main">
              <a:ext uri="{FF2B5EF4-FFF2-40B4-BE49-F238E27FC236}">
                <a16:creationId xmlns:a16="http://schemas.microsoft.com/office/drawing/2014/main" id="{30CCEDA3-C87D-48FE-98DA-72938C330B13}"/>
              </a:ext>
            </a:extLst>
          </p:cNvPr>
          <p:cNvSpPr>
            <a:spLocks xmlns:a="http://schemas.openxmlformats.org/drawingml/2006/main" noGrp="1"/>
          </p:cNvSpPr>
          <p:nvPr/>
        </p:nvSpPr>
        <p:spPr>
          <a:xfrm xmlns:a="http://schemas.openxmlformats.org/drawingml/2006/main">
            <a:off x="2371725" y="142875"/>
            <a:ext cx="6381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788" b="1">
                <a:solidFill>
                  <a:srgbClr val="FFFFFF"/>
                </a:solidFill>
                <a:latin typeface="DejaVu Sans"/>
                <a:ea typeface="DejaVu Sans"/>
                <a:cs typeface="DejaVu Sans"/>
              </a:defRPr>
            </a:defPPr>
          </a:lstStyle>
          <a:p xmlns:a="http://schemas.openxmlformats.org/drawingml/2006/main">
            <a:pPr algn="r">
              <a:defRPr sz="788" b="1">
                <a:solidFill>
                  <a:srgbClr val="FFFFFF"/>
                </a:solidFill>
                <a:latin typeface="DejaVu Sans"/>
                <a:ea typeface="DejaVu Sans"/>
                <a:cs typeface="DejaVu Sans"/>
              </a:defRPr>
            </a:pPr>
            <a:r>
              <a:rPr sz="788" b="1">
                <a:solidFill>
                  <a:srgbClr val="FFFFFF"/>
                </a:solidFill>
                <a:latin typeface="DejaVu Sans"/>
                <a:ea typeface="DejaVu Sans"/>
                <a:cs typeface="DejaVu Sans"/>
              </a:rPr>
              <a:t>PID-01</a:t>
            </a:r>
          </a:p>
        </p:txBody>
      </p:sp>
      <p:sp>
        <p:nvSpPr>
          <p:cNvPr id="5" name="Card category">
            <a:extLst xmlns:a="http://schemas.openxmlformats.org/drawingml/2006/main">
              <a:ext uri="{FF2B5EF4-FFF2-40B4-BE49-F238E27FC236}">
                <a16:creationId xmlns:a16="http://schemas.microsoft.com/office/drawing/2014/main" id="{E4980751-B5E3-4026-B562-CC0CAA25EC8E}"/>
              </a:ext>
            </a:extLst>
          </p:cNvPr>
          <p:cNvSpPr>
            <a:spLocks xmlns:a="http://schemas.openxmlformats.org/drawingml/2006/main" noGrp="1"/>
          </p:cNvSpPr>
          <p:nvPr/>
        </p:nvSpPr>
        <p:spPr>
          <a:xfrm xmlns:a="http://schemas.openxmlformats.org/drawingml/2006/main">
            <a:off x="190500" y="523875"/>
            <a:ext cx="2800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176578"/>
                </a:solidFill>
                <a:latin typeface="DejaVu Sans"/>
                <a:ea typeface="DejaVu Sans"/>
                <a:cs typeface="DejaVu Sans"/>
              </a:defRPr>
            </a:defPPr>
          </a:lstStyle>
          <a:p xmlns:a="http://schemas.openxmlformats.org/drawingml/2006/main">
            <a:pPr algn="l">
              <a:defRPr sz="788" b="1">
                <a:solidFill>
                  <a:srgbClr val="176578"/>
                </a:solidFill>
                <a:latin typeface="DejaVu Sans"/>
                <a:ea typeface="DejaVu Sans"/>
                <a:cs typeface="DejaVu Sans"/>
              </a:defRPr>
            </a:pPr>
            <a:r>
              <a:rPr sz="788" b="1">
                <a:solidFill>
                  <a:srgbClr val="176578"/>
                </a:solidFill>
                <a:latin typeface="DejaVu Sans"/>
                <a:ea typeface="DejaVu Sans"/>
                <a:cs typeface="DejaVu Sans"/>
              </a:rPr>
              <a:t>FUNDING CALL</a:t>
            </a:r>
          </a:p>
        </p:txBody>
      </p:sp>
      <p:sp>
        <p:nvSpPr>
          <p:cNvPr id="6" name="Primary topic">
            <a:extLst xmlns:a="http://schemas.openxmlformats.org/drawingml/2006/main">
              <a:ext uri="{FF2B5EF4-FFF2-40B4-BE49-F238E27FC236}">
                <a16:creationId xmlns:a16="http://schemas.microsoft.com/office/drawing/2014/main" id="{FA349642-93E0-44E0-AC1D-F417CFA2D6FD}"/>
              </a:ext>
            </a:extLst>
          </p:cNvPr>
          <p:cNvSpPr>
            <a:spLocks xmlns:a="http://schemas.openxmlformats.org/drawingml/2006/main" noGrp="1"/>
          </p:cNvSpPr>
          <p:nvPr/>
        </p:nvSpPr>
        <p:spPr>
          <a:xfrm xmlns:a="http://schemas.openxmlformats.org/drawingml/2006/main">
            <a:off x="190500" y="733425"/>
            <a:ext cx="2819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176578"/>
                </a:solidFill>
                <a:latin typeface="DejaVu Sans"/>
                <a:ea typeface="DejaVu Sans"/>
                <a:cs typeface="DejaVu Sans"/>
              </a:defRPr>
            </a:defPPr>
          </a:lstStyle>
          <a:p xmlns:a="http://schemas.openxmlformats.org/drawingml/2006/main">
            <a:pPr algn="l">
              <a:defRPr sz="975" b="1">
                <a:solidFill>
                  <a:srgbClr val="176578"/>
                </a:solidFill>
                <a:latin typeface="DejaVu Sans"/>
                <a:ea typeface="DejaVu Sans"/>
                <a:cs typeface="DejaVu Sans"/>
              </a:defRPr>
            </a:pPr>
            <a:r>
              <a:rPr sz="975" b="1">
                <a:solidFill>
                  <a:srgbClr val="176578"/>
                </a:solidFill>
                <a:latin typeface="DejaVu Sans"/>
                <a:ea typeface="DejaVu Sans"/>
                <a:cs typeface="DejaVu Sans"/>
              </a:rPr>
              <a:t>Feedback / PID</a:t>
            </a:r>
          </a:p>
        </p:txBody>
      </p:sp>
      <p:sp>
        <p:nvSpPr>
          <p:cNvPr id="7" name="Call title">
            <a:extLst xmlns:a="http://schemas.openxmlformats.org/drawingml/2006/main">
              <a:ext uri="{FF2B5EF4-FFF2-40B4-BE49-F238E27FC236}">
                <a16:creationId xmlns:a16="http://schemas.microsoft.com/office/drawing/2014/main" id="{7EE941C8-FD89-4877-A4A2-B32587847972}"/>
              </a:ext>
            </a:extLst>
          </p:cNvPr>
          <p:cNvSpPr>
            <a:spLocks xmlns:a="http://schemas.openxmlformats.org/drawingml/2006/main" noGrp="1"/>
          </p:cNvSpPr>
          <p:nvPr/>
        </p:nvSpPr>
        <p:spPr>
          <a:xfrm xmlns:a="http://schemas.openxmlformats.org/drawingml/2006/main">
            <a:off x="190500" y="1028700"/>
            <a:ext cx="281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92936"/>
                </a:solidFill>
                <a:latin typeface="DejaVu Sans"/>
                <a:ea typeface="DejaVu Sans"/>
                <a:cs typeface="DejaVu Sans"/>
              </a:defRPr>
            </a:defPPr>
          </a:lstStyle>
          <a:p xmlns:a="http://schemas.openxmlformats.org/drawingml/2006/main">
            <a:pPr algn="l">
              <a:defRPr sz="1500" b="1">
                <a:solidFill>
                  <a:srgbClr val="192936"/>
                </a:solidFill>
                <a:latin typeface="DejaVu Sans"/>
                <a:ea typeface="DejaVu Sans"/>
                <a:cs typeface="DejaVu Sans"/>
              </a:defRPr>
            </a:pPr>
            <a:r>
              <a:rPr sz="1500" b="1">
                <a:solidFill>
                  <a:srgbClr val="192936"/>
                </a:solidFill>
                <a:latin typeface="DejaVu Sans"/>
                <a:ea typeface="DejaVu Sans"/>
                <a:cs typeface="DejaVu Sans"/>
              </a:rPr>
              <a:t>Precision Motor Control</a:t>
            </a:r>
          </a:p>
        </p:txBody>
      </p:sp>
      <p:sp>
        <p:nvSpPr>
          <p:cNvPr id="8" name="Research scope">
            <a:extLst xmlns:a="http://schemas.openxmlformats.org/drawingml/2006/main">
              <a:ext uri="{FF2B5EF4-FFF2-40B4-BE49-F238E27FC236}">
                <a16:creationId xmlns:a16="http://schemas.microsoft.com/office/drawing/2014/main" id="{BC13C441-EFC0-488B-8909-F6972BEA0225}"/>
              </a:ext>
            </a:extLst>
          </p:cNvPr>
          <p:cNvSpPr>
            <a:spLocks xmlns:a="http://schemas.openxmlformats.org/drawingml/2006/main" noGrp="1"/>
          </p:cNvSpPr>
          <p:nvPr/>
        </p:nvSpPr>
        <p:spPr>
          <a:xfrm xmlns:a="http://schemas.openxmlformats.org/drawingml/2006/main">
            <a:off x="190500" y="1628775"/>
            <a:ext cx="2819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0">
                <a:solidFill>
                  <a:srgbClr val="52616A"/>
                </a:solidFill>
                <a:latin typeface="DejaVu Sans"/>
                <a:ea typeface="DejaVu Sans"/>
                <a:cs typeface="DejaVu Sans"/>
              </a:defRPr>
            </a:defPPr>
          </a:lstStyle>
          <a:p xmlns:a="http://schemas.openxmlformats.org/drawingml/2006/main">
            <a:pPr algn="l">
              <a:defRPr sz="825" b="0">
                <a:solidFill>
                  <a:srgbClr val="52616A"/>
                </a:solidFill>
                <a:latin typeface="DejaVu Sans"/>
                <a:ea typeface="DejaVu Sans"/>
                <a:cs typeface="DejaVu Sans"/>
              </a:defRPr>
            </a:pPr>
            <a:r>
              <a:rPr sz="825" b="0">
                <a:solidFill>
                  <a:srgbClr val="52616A"/>
                </a:solidFill>
                <a:latin typeface="DejaVu Sans"/>
                <a:ea typeface="DejaVu Sans"/>
                <a:cs typeface="DejaVu Sans"/>
              </a:rPr>
              <a:t>Develop a feedback controller for a motor with load disturbances. The call supports accurate tracking while respecting actuator limits.</a:t>
            </a:r>
          </a:p>
        </p:txBody>
      </p:sp>
      <p:sp>
        <p:nvSpPr>
          <p:cNvPr id="9" name="Statistics divider">
            <a:extLst xmlns:a="http://schemas.openxmlformats.org/drawingml/2006/main">
              <a:ext uri="{FF2B5EF4-FFF2-40B4-BE49-F238E27FC236}">
                <a16:creationId xmlns:a16="http://schemas.microsoft.com/office/drawing/2014/main" id="{55F93C8E-E400-481B-A12E-9497CFDDAEC1}"/>
              </a:ext>
            </a:extLst>
          </p:cNvPr>
          <p:cNvSpPr>
            <a:spLocks xmlns:a="http://schemas.openxmlformats.org/drawingml/2006/main" noGrp="1"/>
          </p:cNvSpPr>
          <p:nvPr/>
        </p:nvSpPr>
        <p:spPr>
          <a:xfrm xmlns:a="http://schemas.openxmlformats.org/drawingml/2006/main">
            <a:off x="190500" y="216217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0" name="Funding award label">
            <a:extLst xmlns:a="http://schemas.openxmlformats.org/drawingml/2006/main">
              <a:ext uri="{FF2B5EF4-FFF2-40B4-BE49-F238E27FC236}">
                <a16:creationId xmlns:a16="http://schemas.microsoft.com/office/drawing/2014/main" id="{20603E79-B150-404E-9239-D3BB41E18EB6}"/>
              </a:ext>
            </a:extLst>
          </p:cNvPr>
          <p:cNvSpPr>
            <a:spLocks xmlns:a="http://schemas.openxmlformats.org/drawingml/2006/main" noGrp="1"/>
          </p:cNvSpPr>
          <p:nvPr/>
        </p:nvSpPr>
        <p:spPr>
          <a:xfrm xmlns:a="http://schemas.openxmlformats.org/drawingml/2006/main">
            <a:off x="190500"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FUNDING AWARD</a:t>
            </a:r>
          </a:p>
        </p:txBody>
      </p:sp>
      <p:sp>
        <p:nvSpPr>
          <p:cNvPr id="11" name="Gray cube label">
            <a:extLst xmlns:a="http://schemas.openxmlformats.org/drawingml/2006/main">
              <a:ext uri="{FF2B5EF4-FFF2-40B4-BE49-F238E27FC236}">
                <a16:creationId xmlns:a16="http://schemas.microsoft.com/office/drawing/2014/main" id="{E39581AA-4ABD-4699-8021-77CA474D7CB3}"/>
              </a:ext>
            </a:extLst>
          </p:cNvPr>
          <p:cNvSpPr>
            <a:spLocks xmlns:a="http://schemas.openxmlformats.org/drawingml/2006/main" noGrp="1"/>
          </p:cNvSpPr>
          <p:nvPr/>
        </p:nvSpPr>
        <p:spPr>
          <a:xfrm xmlns:a="http://schemas.openxmlformats.org/drawingml/2006/main">
            <a:off x="1685925"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OUTSIDE / NO-AWARD</a:t>
            </a:r>
          </a:p>
        </p:txBody>
      </p:sp>
      <p:sp>
        <p:nvSpPr>
          <p:cNvPr id="12" name="Funding award value">
            <a:extLst xmlns:a="http://schemas.openxmlformats.org/drawingml/2006/main">
              <a:ext uri="{FF2B5EF4-FFF2-40B4-BE49-F238E27FC236}">
                <a16:creationId xmlns:a16="http://schemas.microsoft.com/office/drawing/2014/main" id="{DCC5A64B-853A-4600-935D-A818D7745B8F}"/>
              </a:ext>
            </a:extLst>
          </p:cNvPr>
          <p:cNvSpPr>
            <a:spLocks xmlns:a="http://schemas.openxmlformats.org/drawingml/2006/main" noGrp="1"/>
          </p:cNvSpPr>
          <p:nvPr/>
        </p:nvSpPr>
        <p:spPr>
          <a:xfrm xmlns:a="http://schemas.openxmlformats.org/drawingml/2006/main">
            <a:off x="190500"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6578"/>
                </a:solidFill>
                <a:latin typeface="DejaVu Sans"/>
                <a:ea typeface="DejaVu Sans"/>
                <a:cs typeface="DejaVu Sans"/>
              </a:defRPr>
            </a:defPPr>
          </a:lstStyle>
          <a:p xmlns:a="http://schemas.openxmlformats.org/drawingml/2006/main">
            <a:pPr algn="l">
              <a:defRPr sz="2100" b="1">
                <a:solidFill>
                  <a:srgbClr val="176578"/>
                </a:solidFill>
                <a:latin typeface="DejaVu Sans"/>
                <a:ea typeface="DejaVu Sans"/>
                <a:cs typeface="DejaVu Sans"/>
              </a:defRPr>
            </a:pPr>
            <a:r>
              <a:rPr sz="2100" b="1">
                <a:solidFill>
                  <a:srgbClr val="176578"/>
                </a:solidFill>
                <a:latin typeface="DejaVu Sans"/>
                <a:ea typeface="DejaVu Sans"/>
                <a:cs typeface="DejaVu Sans"/>
              </a:rPr>
              <a:t>4</a:t>
            </a:r>
          </a:p>
        </p:txBody>
      </p:sp>
      <p:sp>
        <p:nvSpPr>
          <p:cNvPr id="13" name="Funding award unit">
            <a:extLst xmlns:a="http://schemas.openxmlformats.org/drawingml/2006/main">
              <a:ext uri="{FF2B5EF4-FFF2-40B4-BE49-F238E27FC236}">
                <a16:creationId xmlns:a16="http://schemas.microsoft.com/office/drawing/2014/main" id="{CCF16785-C1CF-4B1B-99D8-7A8347BF514A}"/>
              </a:ext>
            </a:extLst>
          </p:cNvPr>
          <p:cNvSpPr>
            <a:spLocks xmlns:a="http://schemas.openxmlformats.org/drawingml/2006/main" noGrp="1"/>
          </p:cNvSpPr>
          <p:nvPr/>
        </p:nvSpPr>
        <p:spPr>
          <a:xfrm xmlns:a="http://schemas.openxmlformats.org/drawingml/2006/main">
            <a:off x="600075" y="2543175"/>
            <a:ext cx="904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192936"/>
                </a:solidFill>
                <a:latin typeface="DejaVu Sans"/>
                <a:ea typeface="DejaVu Sans"/>
                <a:cs typeface="DejaVu Sans"/>
              </a:defRPr>
            </a:defPPr>
          </a:lstStyle>
          <a:p xmlns:a="http://schemas.openxmlformats.org/drawingml/2006/main">
            <a:pPr algn="l">
              <a:defRPr sz="900" b="1">
                <a:solidFill>
                  <a:srgbClr val="192936"/>
                </a:solidFill>
                <a:latin typeface="DejaVu Sans"/>
                <a:ea typeface="DejaVu Sans"/>
                <a:cs typeface="DejaVu Sans"/>
              </a:defRPr>
            </a:pPr>
            <a:r>
              <a:rPr sz="900" b="1">
                <a:solidFill>
                  <a:srgbClr val="192936"/>
                </a:solidFill>
                <a:latin typeface="DejaVu Sans"/>
                <a:ea typeface="DejaVu Sans"/>
                <a:cs typeface="DejaVu Sans"/>
              </a:rPr>
              <a:t>Funding</a:t>
            </a:r>
          </a:p>
        </p:txBody>
      </p:sp>
      <p:sp>
        <p:nvSpPr>
          <p:cNvPr id="14" name="Gray cube value">
            <a:extLst xmlns:a="http://schemas.openxmlformats.org/drawingml/2006/main">
              <a:ext uri="{FF2B5EF4-FFF2-40B4-BE49-F238E27FC236}">
                <a16:creationId xmlns:a16="http://schemas.microsoft.com/office/drawing/2014/main" id="{05610245-5856-48F7-BE90-0C3D0C457633}"/>
              </a:ext>
            </a:extLst>
          </p:cNvPr>
          <p:cNvSpPr>
            <a:spLocks xmlns:a="http://schemas.openxmlformats.org/drawingml/2006/main" noGrp="1"/>
          </p:cNvSpPr>
          <p:nvPr/>
        </p:nvSpPr>
        <p:spPr>
          <a:xfrm xmlns:a="http://schemas.openxmlformats.org/drawingml/2006/main">
            <a:off x="1685925"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2616A"/>
                </a:solidFill>
                <a:latin typeface="DejaVu Sans"/>
                <a:ea typeface="DejaVu Sans"/>
                <a:cs typeface="DejaVu Sans"/>
              </a:defRPr>
            </a:defPPr>
          </a:lstStyle>
          <a:p xmlns:a="http://schemas.openxmlformats.org/drawingml/2006/main">
            <a:pPr algn="l">
              <a:defRPr sz="2100" b="1">
                <a:solidFill>
                  <a:srgbClr val="52616A"/>
                </a:solidFill>
                <a:latin typeface="DejaVu Sans"/>
                <a:ea typeface="DejaVu Sans"/>
                <a:cs typeface="DejaVu Sans"/>
              </a:defRPr>
            </a:pPr>
            <a:r>
              <a:rPr sz="2100" b="1">
                <a:solidFill>
                  <a:srgbClr val="52616A"/>
                </a:solidFill>
                <a:latin typeface="DejaVu Sans"/>
                <a:ea typeface="DejaVu Sans"/>
                <a:cs typeface="DejaVu Sans"/>
              </a:rPr>
              <a:t>3</a:t>
            </a:r>
          </a:p>
        </p:txBody>
      </p:sp>
      <p:sp>
        <p:nvSpPr>
          <p:cNvPr id="15" name="Gray cube unit">
            <a:extLst xmlns:a="http://schemas.openxmlformats.org/drawingml/2006/main">
              <a:ext uri="{FF2B5EF4-FFF2-40B4-BE49-F238E27FC236}">
                <a16:creationId xmlns:a16="http://schemas.microsoft.com/office/drawing/2014/main" id="{70A96C83-7604-46D6-B854-58E3F54727C2}"/>
              </a:ext>
            </a:extLst>
          </p:cNvPr>
          <p:cNvSpPr>
            <a:spLocks xmlns:a="http://schemas.openxmlformats.org/drawingml/2006/main" noGrp="1"/>
          </p:cNvSpPr>
          <p:nvPr/>
        </p:nvSpPr>
        <p:spPr>
          <a:xfrm xmlns:a="http://schemas.openxmlformats.org/drawingml/2006/main">
            <a:off x="2095500" y="2543175"/>
            <a:ext cx="914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1">
                <a:solidFill>
                  <a:srgbClr val="52616A"/>
                </a:solidFill>
                <a:latin typeface="DejaVu Sans"/>
                <a:ea typeface="DejaVu Sans"/>
                <a:cs typeface="DejaVu Sans"/>
              </a:defRPr>
            </a:defPPr>
          </a:lstStyle>
          <a:p xmlns:a="http://schemas.openxmlformats.org/drawingml/2006/main">
            <a:pPr algn="l">
              <a:defRPr sz="863" b="1">
                <a:solidFill>
                  <a:srgbClr val="52616A"/>
                </a:solidFill>
                <a:latin typeface="DejaVu Sans"/>
                <a:ea typeface="DejaVu Sans"/>
                <a:cs typeface="DejaVu Sans"/>
              </a:defRPr>
            </a:pPr>
            <a:r>
              <a:rPr sz="863" b="1">
                <a:solidFill>
                  <a:srgbClr val="52616A"/>
                </a:solidFill>
                <a:latin typeface="DejaVu Sans"/>
                <a:ea typeface="DejaVu Sans"/>
                <a:cs typeface="DejaVu Sans"/>
              </a:rPr>
              <a:t>gray cubes</a:t>
            </a:r>
          </a:p>
        </p:txBody>
      </p:sp>
      <p:sp>
        <p:nvSpPr>
          <p:cNvPr id="16" name="Eligibility divider">
            <a:extLst xmlns:a="http://schemas.openxmlformats.org/drawingml/2006/main">
              <a:ext uri="{FF2B5EF4-FFF2-40B4-BE49-F238E27FC236}">
                <a16:creationId xmlns:a16="http://schemas.microsoft.com/office/drawing/2014/main" id="{2DE27F73-1799-4095-ADC6-AC644BBD1109}"/>
              </a:ext>
            </a:extLst>
          </p:cNvPr>
          <p:cNvSpPr>
            <a:spLocks xmlns:a="http://schemas.openxmlformats.org/drawingml/2006/main" noGrp="1"/>
          </p:cNvSpPr>
          <p:nvPr/>
        </p:nvSpPr>
        <p:spPr>
          <a:xfrm xmlns:a="http://schemas.openxmlformats.org/drawingml/2006/main">
            <a:off x="190500" y="282892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7" name="Without certification heading">
            <a:extLst xmlns:a="http://schemas.openxmlformats.org/drawingml/2006/main">
              <a:ext uri="{FF2B5EF4-FFF2-40B4-BE49-F238E27FC236}">
                <a16:creationId xmlns:a16="http://schemas.microsoft.com/office/drawing/2014/main" id="{1C7E9141-2306-4CAD-B4BE-C1CFA33A743D}"/>
              </a:ext>
            </a:extLst>
          </p:cNvPr>
          <p:cNvSpPr>
            <a:spLocks xmlns:a="http://schemas.openxmlformats.org/drawingml/2006/main" noGrp="1"/>
          </p:cNvSpPr>
          <p:nvPr/>
        </p:nvSpPr>
        <p:spPr>
          <a:xfrm xmlns:a="http://schemas.openxmlformats.org/drawingml/2006/main">
            <a:off x="190500" y="2943225"/>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1">
                <a:solidFill>
                  <a:srgbClr val="176578"/>
                </a:solidFill>
                <a:latin typeface="DejaVu Sans"/>
                <a:ea typeface="DejaVu Sans"/>
                <a:cs typeface="DejaVu Sans"/>
              </a:defRPr>
            </a:defPPr>
          </a:lstStyle>
          <a:p xmlns:a="http://schemas.openxmlformats.org/drawingml/2006/main">
            <a:pPr algn="l">
              <a:defRPr sz="825" b="1">
                <a:solidFill>
                  <a:srgbClr val="176578"/>
                </a:solidFill>
                <a:latin typeface="DejaVu Sans"/>
                <a:ea typeface="DejaVu Sans"/>
                <a:cs typeface="DejaVu Sans"/>
              </a:defRPr>
            </a:pPr>
            <a:r>
              <a:rPr sz="825" b="1">
                <a:solidFill>
                  <a:srgbClr val="176578"/>
                </a:solidFill>
                <a:latin typeface="DejaVu Sans"/>
                <a:ea typeface="DejaVu Sans"/>
                <a:cs typeface="DejaVu Sans"/>
              </a:rPr>
              <a:t>No Certified Expertise in Feedback / PID</a:t>
            </a:r>
          </a:p>
        </p:txBody>
      </p:sp>
      <p:sp>
        <p:nvSpPr>
          <p:cNvPr id="18" name="Without certification rule">
            <a:extLst xmlns:a="http://schemas.openxmlformats.org/drawingml/2006/main">
              <a:ext uri="{FF2B5EF4-FFF2-40B4-BE49-F238E27FC236}">
                <a16:creationId xmlns:a16="http://schemas.microsoft.com/office/drawing/2014/main" id="{0746A700-6224-4A79-9693-5D2D3DA756B5}"/>
              </a:ext>
            </a:extLst>
          </p:cNvPr>
          <p:cNvSpPr>
            <a:spLocks xmlns:a="http://schemas.openxmlformats.org/drawingml/2006/main" noGrp="1"/>
          </p:cNvSpPr>
          <p:nvPr/>
        </p:nvSpPr>
        <p:spPr>
          <a:xfrm xmlns:a="http://schemas.openxmlformats.org/drawingml/2006/main">
            <a:off x="190500" y="3152775"/>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need at least 1 Feedback / PID Recent Work token to apply. Only Feedback / PID tokens count.</a:t>
            </a:r>
          </a:p>
        </p:txBody>
      </p:sp>
      <p:sp>
        <p:nvSpPr>
          <p:cNvPr id="19" name="With certification heading">
            <a:extLst xmlns:a="http://schemas.openxmlformats.org/drawingml/2006/main">
              <a:ext uri="{FF2B5EF4-FFF2-40B4-BE49-F238E27FC236}">
                <a16:creationId xmlns:a16="http://schemas.microsoft.com/office/drawing/2014/main" id="{84E8D8B5-030F-4B65-98DA-616F034FDEE9}"/>
              </a:ext>
            </a:extLst>
          </p:cNvPr>
          <p:cNvSpPr>
            <a:spLocks xmlns:a="http://schemas.openxmlformats.org/drawingml/2006/main" noGrp="1"/>
          </p:cNvSpPr>
          <p:nvPr/>
        </p:nvSpPr>
        <p:spPr>
          <a:xfrm xmlns:a="http://schemas.openxmlformats.org/drawingml/2006/main">
            <a:off x="190500" y="3619500"/>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176578"/>
                </a:solidFill>
                <a:latin typeface="DejaVu Sans"/>
                <a:ea typeface="DejaVu Sans"/>
                <a:cs typeface="DejaVu Sans"/>
              </a:defRPr>
            </a:defPPr>
          </a:lstStyle>
          <a:p xmlns:a="http://schemas.openxmlformats.org/drawingml/2006/main">
            <a:pPr algn="l">
              <a:defRPr sz="788" b="1">
                <a:solidFill>
                  <a:srgbClr val="176578"/>
                </a:solidFill>
                <a:latin typeface="DejaVu Sans"/>
                <a:ea typeface="DejaVu Sans"/>
                <a:cs typeface="DejaVu Sans"/>
              </a:defRPr>
            </a:pPr>
            <a:r>
              <a:rPr sz="788" b="1">
                <a:solidFill>
                  <a:srgbClr val="176578"/>
                </a:solidFill>
                <a:latin typeface="DejaVu Sans"/>
                <a:ea typeface="DejaVu Sans"/>
                <a:cs typeface="DejaVu Sans"/>
              </a:rPr>
              <a:t>With Certified Expertise in Feedback / PID</a:t>
            </a:r>
          </a:p>
        </p:txBody>
      </p:sp>
      <p:sp>
        <p:nvSpPr>
          <p:cNvPr id="20" name="With certification rule">
            <a:extLst xmlns:a="http://schemas.openxmlformats.org/drawingml/2006/main">
              <a:ext uri="{FF2B5EF4-FFF2-40B4-BE49-F238E27FC236}">
                <a16:creationId xmlns:a16="http://schemas.microsoft.com/office/drawing/2014/main" id="{AF5F88BD-B1B4-4CF3-9D17-B232D1C669E4}"/>
              </a:ext>
            </a:extLst>
          </p:cNvPr>
          <p:cNvSpPr>
            <a:spLocks xmlns:a="http://schemas.openxmlformats.org/drawingml/2006/main" noGrp="1"/>
          </p:cNvSpPr>
          <p:nvPr/>
        </p:nvSpPr>
        <p:spPr>
          <a:xfrm xmlns:a="http://schemas.openxmlformats.org/drawingml/2006/main">
            <a:off x="190500" y="3829050"/>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may apply without Recent Work. Recent Work from ANY topic can count. Your expertise badge is permanent.</a:t>
            </a:r>
          </a:p>
        </p:txBody>
      </p:sp>
      <p:sp>
        <p:nvSpPr>
          <p:cNvPr id="21" name="Footer divider">
            <a:extLst xmlns:a="http://schemas.openxmlformats.org/drawingml/2006/main">
              <a:ext uri="{FF2B5EF4-FFF2-40B4-BE49-F238E27FC236}">
                <a16:creationId xmlns:a16="http://schemas.microsoft.com/office/drawing/2014/main" id="{6178BC5E-FA59-4F49-9973-EE2B84FEDAEC}"/>
              </a:ext>
            </a:extLst>
          </p:cNvPr>
          <p:cNvSpPr>
            <a:spLocks xmlns:a="http://schemas.openxmlformats.org/drawingml/2006/main" noGrp="1"/>
          </p:cNvSpPr>
          <p:nvPr/>
        </p:nvSpPr>
        <p:spPr>
          <a:xfrm xmlns:a="http://schemas.openxmlformats.org/drawingml/2006/main">
            <a:off x="190500" y="4286250"/>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22" name="Recent Work cap">
            <a:extLst xmlns:a="http://schemas.openxmlformats.org/drawingml/2006/main">
              <a:ext uri="{FF2B5EF4-FFF2-40B4-BE49-F238E27FC236}">
                <a16:creationId xmlns:a16="http://schemas.microsoft.com/office/drawing/2014/main" id="{2B433154-FD8A-4EBF-8B99-A5AE7BF2477B}"/>
              </a:ext>
            </a:extLst>
          </p:cNvPr>
          <p:cNvSpPr>
            <a:spLocks xmlns:a="http://schemas.openxmlformats.org/drawingml/2006/main" noGrp="1"/>
          </p:cNvSpPr>
          <p:nvPr/>
        </p:nvSpPr>
        <p:spPr>
          <a:xfrm xmlns:a="http://schemas.openxmlformats.org/drawingml/2006/main">
            <a:off x="190500" y="4371975"/>
            <a:ext cx="28194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192936"/>
                </a:solidFill>
                <a:latin typeface="DejaVu Sans"/>
                <a:ea typeface="DejaVu Sans"/>
                <a:cs typeface="DejaVu Sans"/>
              </a:defRPr>
            </a:defPPr>
          </a:lstStyle>
          <a:p xmlns:a="http://schemas.openxmlformats.org/drawingml/2006/main">
            <a:pPr algn="l">
              <a:defRPr sz="788" b="1">
                <a:solidFill>
                  <a:srgbClr val="192936"/>
                </a:solidFill>
                <a:latin typeface="DejaVu Sans"/>
                <a:ea typeface="DejaVu Sans"/>
                <a:cs typeface="DejaVu Sans"/>
              </a:defRPr>
            </a:pPr>
            <a:r>
              <a:rPr sz="788" b="1">
                <a:solidFill>
                  <a:srgbClr val="192936"/>
                </a:solidFill>
                <a:latin typeface="DejaVu Sans"/>
                <a:ea typeface="DejaVu Sans"/>
                <a:cs typeface="DejaVu Sans"/>
              </a:rPr>
              <a:t>Count at most 3 Recent Work tokens.</a:t>
            </a:r>
          </a:p>
        </p:txBody>
      </p:sp>
    </p:spTree>
    <p:extLst>
      <p:ext uri="{BB962C8B-B14F-4D97-AF65-F5344CB8AC3E}">
        <p14:creationId xmlns:p14="http://schemas.microsoft.com/office/powerpoint/2010/main" val="176772787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Card border">
            <a:extLst xmlns:a="http://schemas.openxmlformats.org/drawingml/2006/main">
              <a:ext uri="{FF2B5EF4-FFF2-40B4-BE49-F238E27FC236}">
                <a16:creationId xmlns:a16="http://schemas.microsoft.com/office/drawing/2014/main" id="{9EF56CA3-2C30-417C-86FD-3760889C427A}"/>
              </a:ext>
            </a:extLst>
          </p:cNvPr>
          <p:cNvSpPr>
            <a:spLocks xmlns:a="http://schemas.openxmlformats.org/drawingml/2006/main" noGrp="1"/>
          </p:cNvSpPr>
          <p:nvPr/>
        </p:nvSpPr>
        <p:spPr>
          <a:xfrm xmlns:a="http://schemas.openxmlformats.org/drawingml/2006/main">
            <a:off x="9525" y="9525"/>
            <a:ext cx="3181350" cy="4552950"/>
          </a:xfrm>
          <a:prstGeom xmlns:a="http://schemas.openxmlformats.org/drawingml/2006/main" prst="rect">
            <a:avLst/>
          </a:prstGeom>
          <a:noFill xmlns:a="http://schemas.openxmlformats.org/drawingml/2006/main"/>
          <a:ln xmlns:a="http://schemas.openxmlformats.org/drawingml/2006/main" w="9525">
            <a:solidFill>
              <a:srgbClr val="D0D5D8"/>
            </a:solidFill>
          </a:ln>
        </p:spPr>
      </p:sp>
      <p:sp>
        <p:nvSpPr>
          <p:cNvPr id="2" name="Topic color band">
            <a:extLst xmlns:a="http://schemas.openxmlformats.org/drawingml/2006/main">
              <a:ext uri="{FF2B5EF4-FFF2-40B4-BE49-F238E27FC236}">
                <a16:creationId xmlns:a16="http://schemas.microsoft.com/office/drawing/2014/main" id="{D943A10C-145D-4CDD-BF97-ABD49AEA1734}"/>
              </a:ext>
            </a:extLst>
          </p:cNvPr>
          <p:cNvSpPr>
            <a:spLocks xmlns:a="http://schemas.openxmlformats.org/drawingml/2006/main" noGrp="1"/>
          </p:cNvSpPr>
          <p:nvPr/>
        </p:nvSpPr>
        <p:spPr>
          <a:xfrm xmlns:a="http://schemas.openxmlformats.org/drawingml/2006/main">
            <a:off x="9525" y="9525"/>
            <a:ext cx="3181350" cy="400050"/>
          </a:xfrm>
          <a:prstGeom xmlns:a="http://schemas.openxmlformats.org/drawingml/2006/main" prst="rect">
            <a:avLst/>
          </a:prstGeom>
          <a:solidFill xmlns:a="http://schemas.openxmlformats.org/drawingml/2006/main">
            <a:srgbClr val="176578"/>
          </a:solidFill>
          <a:ln xmlns:a="http://schemas.openxmlformats.org/drawingml/2006/main" w="0">
            <a:noFill/>
          </a:ln>
        </p:spPr>
      </p:sp>
      <p:sp>
        <p:nvSpPr>
          <p:cNvPr id="3" name="Game name">
            <a:extLst xmlns:a="http://schemas.openxmlformats.org/drawingml/2006/main">
              <a:ext uri="{FF2B5EF4-FFF2-40B4-BE49-F238E27FC236}">
                <a16:creationId xmlns:a16="http://schemas.microsoft.com/office/drawing/2014/main" id="{10FE43D9-3A59-4D63-B1A5-0E107716A788}"/>
              </a:ext>
            </a:extLst>
          </p:cNvPr>
          <p:cNvSpPr>
            <a:spLocks xmlns:a="http://schemas.openxmlformats.org/drawingml/2006/main" noGrp="1"/>
          </p:cNvSpPr>
          <p:nvPr/>
        </p:nvSpPr>
        <p:spPr>
          <a:xfrm xmlns:a="http://schemas.openxmlformats.org/drawingml/2006/main">
            <a:off x="190500" y="133350"/>
            <a:ext cx="1943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FFFFFF"/>
                </a:solidFill>
                <a:latin typeface="DejaVu Sans"/>
                <a:ea typeface="DejaVu Sans"/>
                <a:cs typeface="DejaVu Sans"/>
              </a:defRPr>
            </a:defPPr>
          </a:lstStyle>
          <a:p xmlns:a="http://schemas.openxmlformats.org/drawingml/2006/main">
            <a:pPr algn="l">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GRANT CONTROL</a:t>
            </a:r>
          </a:p>
        </p:txBody>
      </p:sp>
      <p:sp>
        <p:nvSpPr>
          <p:cNvPr id="4" name="Card identifier">
            <a:extLst xmlns:a="http://schemas.openxmlformats.org/drawingml/2006/main">
              <a:ext uri="{FF2B5EF4-FFF2-40B4-BE49-F238E27FC236}">
                <a16:creationId xmlns:a16="http://schemas.microsoft.com/office/drawing/2014/main" id="{C9D4DAD1-4384-47E6-8FC5-F63A267D64FB}"/>
              </a:ext>
            </a:extLst>
          </p:cNvPr>
          <p:cNvSpPr>
            <a:spLocks xmlns:a="http://schemas.openxmlformats.org/drawingml/2006/main" noGrp="1"/>
          </p:cNvSpPr>
          <p:nvPr/>
        </p:nvSpPr>
        <p:spPr>
          <a:xfrm xmlns:a="http://schemas.openxmlformats.org/drawingml/2006/main">
            <a:off x="2371725" y="142875"/>
            <a:ext cx="6381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788" b="1">
                <a:solidFill>
                  <a:srgbClr val="FFFFFF"/>
                </a:solidFill>
                <a:latin typeface="DejaVu Sans"/>
                <a:ea typeface="DejaVu Sans"/>
                <a:cs typeface="DejaVu Sans"/>
              </a:defRPr>
            </a:defPPr>
          </a:lstStyle>
          <a:p xmlns:a="http://schemas.openxmlformats.org/drawingml/2006/main">
            <a:pPr algn="r">
              <a:defRPr sz="788" b="1">
                <a:solidFill>
                  <a:srgbClr val="FFFFFF"/>
                </a:solidFill>
                <a:latin typeface="DejaVu Sans"/>
                <a:ea typeface="DejaVu Sans"/>
                <a:cs typeface="DejaVu Sans"/>
              </a:defRPr>
            </a:pPr>
            <a:r>
              <a:rPr sz="788" b="1">
                <a:solidFill>
                  <a:srgbClr val="FFFFFF"/>
                </a:solidFill>
                <a:latin typeface="DejaVu Sans"/>
                <a:ea typeface="DejaVu Sans"/>
                <a:cs typeface="DejaVu Sans"/>
              </a:rPr>
              <a:t>PID-02</a:t>
            </a:r>
          </a:p>
        </p:txBody>
      </p:sp>
      <p:sp>
        <p:nvSpPr>
          <p:cNvPr id="5" name="Card category">
            <a:extLst xmlns:a="http://schemas.openxmlformats.org/drawingml/2006/main">
              <a:ext uri="{FF2B5EF4-FFF2-40B4-BE49-F238E27FC236}">
                <a16:creationId xmlns:a16="http://schemas.microsoft.com/office/drawing/2014/main" id="{40EAF7FA-8A4F-493A-93C5-64C20E9C6E07}"/>
              </a:ext>
            </a:extLst>
          </p:cNvPr>
          <p:cNvSpPr>
            <a:spLocks xmlns:a="http://schemas.openxmlformats.org/drawingml/2006/main" noGrp="1"/>
          </p:cNvSpPr>
          <p:nvPr/>
        </p:nvSpPr>
        <p:spPr>
          <a:xfrm xmlns:a="http://schemas.openxmlformats.org/drawingml/2006/main">
            <a:off x="190500" y="523875"/>
            <a:ext cx="2800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176578"/>
                </a:solidFill>
                <a:latin typeface="DejaVu Sans"/>
                <a:ea typeface="DejaVu Sans"/>
                <a:cs typeface="DejaVu Sans"/>
              </a:defRPr>
            </a:defPPr>
          </a:lstStyle>
          <a:p xmlns:a="http://schemas.openxmlformats.org/drawingml/2006/main">
            <a:pPr algn="l">
              <a:defRPr sz="788" b="1">
                <a:solidFill>
                  <a:srgbClr val="176578"/>
                </a:solidFill>
                <a:latin typeface="DejaVu Sans"/>
                <a:ea typeface="DejaVu Sans"/>
                <a:cs typeface="DejaVu Sans"/>
              </a:defRPr>
            </a:pPr>
            <a:r>
              <a:rPr sz="788" b="1">
                <a:solidFill>
                  <a:srgbClr val="176578"/>
                </a:solidFill>
                <a:latin typeface="DejaVu Sans"/>
                <a:ea typeface="DejaVu Sans"/>
                <a:cs typeface="DejaVu Sans"/>
              </a:rPr>
              <a:t>FUNDING CALL</a:t>
            </a:r>
          </a:p>
        </p:txBody>
      </p:sp>
      <p:sp>
        <p:nvSpPr>
          <p:cNvPr id="6" name="Primary topic">
            <a:extLst xmlns:a="http://schemas.openxmlformats.org/drawingml/2006/main">
              <a:ext uri="{FF2B5EF4-FFF2-40B4-BE49-F238E27FC236}">
                <a16:creationId xmlns:a16="http://schemas.microsoft.com/office/drawing/2014/main" id="{65731771-EE89-4234-BA63-CAB093171F8E}"/>
              </a:ext>
            </a:extLst>
          </p:cNvPr>
          <p:cNvSpPr>
            <a:spLocks xmlns:a="http://schemas.openxmlformats.org/drawingml/2006/main" noGrp="1"/>
          </p:cNvSpPr>
          <p:nvPr/>
        </p:nvSpPr>
        <p:spPr>
          <a:xfrm xmlns:a="http://schemas.openxmlformats.org/drawingml/2006/main">
            <a:off x="190500" y="733425"/>
            <a:ext cx="2819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176578"/>
                </a:solidFill>
                <a:latin typeface="DejaVu Sans"/>
                <a:ea typeface="DejaVu Sans"/>
                <a:cs typeface="DejaVu Sans"/>
              </a:defRPr>
            </a:defPPr>
          </a:lstStyle>
          <a:p xmlns:a="http://schemas.openxmlformats.org/drawingml/2006/main">
            <a:pPr algn="l">
              <a:defRPr sz="975" b="1">
                <a:solidFill>
                  <a:srgbClr val="176578"/>
                </a:solidFill>
                <a:latin typeface="DejaVu Sans"/>
                <a:ea typeface="DejaVu Sans"/>
                <a:cs typeface="DejaVu Sans"/>
              </a:defRPr>
            </a:pPr>
            <a:r>
              <a:rPr sz="975" b="1">
                <a:solidFill>
                  <a:srgbClr val="176578"/>
                </a:solidFill>
                <a:latin typeface="DejaVu Sans"/>
                <a:ea typeface="DejaVu Sans"/>
                <a:cs typeface="DejaVu Sans"/>
              </a:rPr>
              <a:t>Feedback / PID</a:t>
            </a:r>
          </a:p>
        </p:txBody>
      </p:sp>
      <p:sp>
        <p:nvSpPr>
          <p:cNvPr id="7" name="Call title">
            <a:extLst xmlns:a="http://schemas.openxmlformats.org/drawingml/2006/main">
              <a:ext uri="{FF2B5EF4-FFF2-40B4-BE49-F238E27FC236}">
                <a16:creationId xmlns:a16="http://schemas.microsoft.com/office/drawing/2014/main" id="{923FFD96-7FDA-43D8-8979-9B0876ABC9B9}"/>
              </a:ext>
            </a:extLst>
          </p:cNvPr>
          <p:cNvSpPr>
            <a:spLocks xmlns:a="http://schemas.openxmlformats.org/drawingml/2006/main" noGrp="1"/>
          </p:cNvSpPr>
          <p:nvPr/>
        </p:nvSpPr>
        <p:spPr>
          <a:xfrm xmlns:a="http://schemas.openxmlformats.org/drawingml/2006/main">
            <a:off x="190500" y="1028700"/>
            <a:ext cx="281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92936"/>
                </a:solidFill>
                <a:latin typeface="DejaVu Sans"/>
                <a:ea typeface="DejaVu Sans"/>
                <a:cs typeface="DejaVu Sans"/>
              </a:defRPr>
            </a:defPPr>
          </a:lstStyle>
          <a:p xmlns:a="http://schemas.openxmlformats.org/drawingml/2006/main">
            <a:pPr algn="l">
              <a:defRPr sz="1500" b="1">
                <a:solidFill>
                  <a:srgbClr val="192936"/>
                </a:solidFill>
                <a:latin typeface="DejaVu Sans"/>
                <a:ea typeface="DejaVu Sans"/>
                <a:cs typeface="DejaVu Sans"/>
              </a:defRPr>
            </a:pPr>
            <a:r>
              <a:rPr sz="1500" b="1">
                <a:solidFill>
                  <a:srgbClr val="192936"/>
                </a:solidFill>
                <a:latin typeface="DejaVu Sans"/>
                <a:ea typeface="DejaVu Sans"/>
                <a:cs typeface="DejaVu Sans"/>
              </a:rPr>
              <a:t>Reliable Process Regulation</a:t>
            </a:r>
          </a:p>
        </p:txBody>
      </p:sp>
      <p:sp>
        <p:nvSpPr>
          <p:cNvPr id="8" name="Research scope">
            <a:extLst xmlns:a="http://schemas.openxmlformats.org/drawingml/2006/main">
              <a:ext uri="{FF2B5EF4-FFF2-40B4-BE49-F238E27FC236}">
                <a16:creationId xmlns:a16="http://schemas.microsoft.com/office/drawing/2014/main" id="{C9F460A0-0C25-4C0A-B011-5A12BA4FDEC3}"/>
              </a:ext>
            </a:extLst>
          </p:cNvPr>
          <p:cNvSpPr>
            <a:spLocks xmlns:a="http://schemas.openxmlformats.org/drawingml/2006/main" noGrp="1"/>
          </p:cNvSpPr>
          <p:nvPr/>
        </p:nvSpPr>
        <p:spPr>
          <a:xfrm xmlns:a="http://schemas.openxmlformats.org/drawingml/2006/main">
            <a:off x="190500" y="1628775"/>
            <a:ext cx="2819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0">
                <a:solidFill>
                  <a:srgbClr val="52616A"/>
                </a:solidFill>
                <a:latin typeface="DejaVu Sans"/>
                <a:ea typeface="DejaVu Sans"/>
                <a:cs typeface="DejaVu Sans"/>
              </a:defRPr>
            </a:defPPr>
          </a:lstStyle>
          <a:p xmlns:a="http://schemas.openxmlformats.org/drawingml/2006/main">
            <a:pPr algn="l">
              <a:defRPr sz="825" b="0">
                <a:solidFill>
                  <a:srgbClr val="52616A"/>
                </a:solidFill>
                <a:latin typeface="DejaVu Sans"/>
                <a:ea typeface="DejaVu Sans"/>
                <a:cs typeface="DejaVu Sans"/>
              </a:defRPr>
            </a:pPr>
            <a:r>
              <a:rPr sz="825" b="0">
                <a:solidFill>
                  <a:srgbClr val="52616A"/>
                </a:solidFill>
                <a:latin typeface="DejaVu Sans"/>
                <a:ea typeface="DejaVu Sans"/>
                <a:cs typeface="DejaVu Sans"/>
              </a:rPr>
              <a:t>Improve PID regulation of a thermal or fluid process with sensor noise and actuator saturation. The call emphasizes practical controller design.</a:t>
            </a:r>
          </a:p>
        </p:txBody>
      </p:sp>
      <p:sp>
        <p:nvSpPr>
          <p:cNvPr id="9" name="Statistics divider">
            <a:extLst xmlns:a="http://schemas.openxmlformats.org/drawingml/2006/main">
              <a:ext uri="{FF2B5EF4-FFF2-40B4-BE49-F238E27FC236}">
                <a16:creationId xmlns:a16="http://schemas.microsoft.com/office/drawing/2014/main" id="{11DA668B-D772-41F1-B7FB-93045A939298}"/>
              </a:ext>
            </a:extLst>
          </p:cNvPr>
          <p:cNvSpPr>
            <a:spLocks xmlns:a="http://schemas.openxmlformats.org/drawingml/2006/main" noGrp="1"/>
          </p:cNvSpPr>
          <p:nvPr/>
        </p:nvSpPr>
        <p:spPr>
          <a:xfrm xmlns:a="http://schemas.openxmlformats.org/drawingml/2006/main">
            <a:off x="190500" y="216217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0" name="Funding award label">
            <a:extLst xmlns:a="http://schemas.openxmlformats.org/drawingml/2006/main">
              <a:ext uri="{FF2B5EF4-FFF2-40B4-BE49-F238E27FC236}">
                <a16:creationId xmlns:a16="http://schemas.microsoft.com/office/drawing/2014/main" id="{030FADA3-A23D-4742-8C05-73FB25488450}"/>
              </a:ext>
            </a:extLst>
          </p:cNvPr>
          <p:cNvSpPr>
            <a:spLocks xmlns:a="http://schemas.openxmlformats.org/drawingml/2006/main" noGrp="1"/>
          </p:cNvSpPr>
          <p:nvPr/>
        </p:nvSpPr>
        <p:spPr>
          <a:xfrm xmlns:a="http://schemas.openxmlformats.org/drawingml/2006/main">
            <a:off x="190500"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FUNDING AWARD</a:t>
            </a:r>
          </a:p>
        </p:txBody>
      </p:sp>
      <p:sp>
        <p:nvSpPr>
          <p:cNvPr id="11" name="Gray cube label">
            <a:extLst xmlns:a="http://schemas.openxmlformats.org/drawingml/2006/main">
              <a:ext uri="{FF2B5EF4-FFF2-40B4-BE49-F238E27FC236}">
                <a16:creationId xmlns:a16="http://schemas.microsoft.com/office/drawing/2014/main" id="{1E09BEAB-7D07-47AF-87A5-6AD1B004E45F}"/>
              </a:ext>
            </a:extLst>
          </p:cNvPr>
          <p:cNvSpPr>
            <a:spLocks xmlns:a="http://schemas.openxmlformats.org/drawingml/2006/main" noGrp="1"/>
          </p:cNvSpPr>
          <p:nvPr/>
        </p:nvSpPr>
        <p:spPr>
          <a:xfrm xmlns:a="http://schemas.openxmlformats.org/drawingml/2006/main">
            <a:off x="1685925"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OUTSIDE / NO-AWARD</a:t>
            </a:r>
          </a:p>
        </p:txBody>
      </p:sp>
      <p:sp>
        <p:nvSpPr>
          <p:cNvPr id="12" name="Funding award value">
            <a:extLst xmlns:a="http://schemas.openxmlformats.org/drawingml/2006/main">
              <a:ext uri="{FF2B5EF4-FFF2-40B4-BE49-F238E27FC236}">
                <a16:creationId xmlns:a16="http://schemas.microsoft.com/office/drawing/2014/main" id="{DD86CF4C-F66E-4323-9E92-C38EBC2CE762}"/>
              </a:ext>
            </a:extLst>
          </p:cNvPr>
          <p:cNvSpPr>
            <a:spLocks xmlns:a="http://schemas.openxmlformats.org/drawingml/2006/main" noGrp="1"/>
          </p:cNvSpPr>
          <p:nvPr/>
        </p:nvSpPr>
        <p:spPr>
          <a:xfrm xmlns:a="http://schemas.openxmlformats.org/drawingml/2006/main">
            <a:off x="190500"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6578"/>
                </a:solidFill>
                <a:latin typeface="DejaVu Sans"/>
                <a:ea typeface="DejaVu Sans"/>
                <a:cs typeface="DejaVu Sans"/>
              </a:defRPr>
            </a:defPPr>
          </a:lstStyle>
          <a:p xmlns:a="http://schemas.openxmlformats.org/drawingml/2006/main">
            <a:pPr algn="l">
              <a:defRPr sz="2100" b="1">
                <a:solidFill>
                  <a:srgbClr val="176578"/>
                </a:solidFill>
                <a:latin typeface="DejaVu Sans"/>
                <a:ea typeface="DejaVu Sans"/>
                <a:cs typeface="DejaVu Sans"/>
              </a:defRPr>
            </a:pPr>
            <a:r>
              <a:rPr sz="2100" b="1">
                <a:solidFill>
                  <a:srgbClr val="176578"/>
                </a:solidFill>
                <a:latin typeface="DejaVu Sans"/>
                <a:ea typeface="DejaVu Sans"/>
                <a:cs typeface="DejaVu Sans"/>
              </a:rPr>
              <a:t>5</a:t>
            </a:r>
          </a:p>
        </p:txBody>
      </p:sp>
      <p:sp>
        <p:nvSpPr>
          <p:cNvPr id="13" name="Funding award unit">
            <a:extLst xmlns:a="http://schemas.openxmlformats.org/drawingml/2006/main">
              <a:ext uri="{FF2B5EF4-FFF2-40B4-BE49-F238E27FC236}">
                <a16:creationId xmlns:a16="http://schemas.microsoft.com/office/drawing/2014/main" id="{331974BD-F673-42F7-A633-A52038AFD6E3}"/>
              </a:ext>
            </a:extLst>
          </p:cNvPr>
          <p:cNvSpPr>
            <a:spLocks xmlns:a="http://schemas.openxmlformats.org/drawingml/2006/main" noGrp="1"/>
          </p:cNvSpPr>
          <p:nvPr/>
        </p:nvSpPr>
        <p:spPr>
          <a:xfrm xmlns:a="http://schemas.openxmlformats.org/drawingml/2006/main">
            <a:off x="600075" y="2543175"/>
            <a:ext cx="904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192936"/>
                </a:solidFill>
                <a:latin typeface="DejaVu Sans"/>
                <a:ea typeface="DejaVu Sans"/>
                <a:cs typeface="DejaVu Sans"/>
              </a:defRPr>
            </a:defPPr>
          </a:lstStyle>
          <a:p xmlns:a="http://schemas.openxmlformats.org/drawingml/2006/main">
            <a:pPr algn="l">
              <a:defRPr sz="900" b="1">
                <a:solidFill>
                  <a:srgbClr val="192936"/>
                </a:solidFill>
                <a:latin typeface="DejaVu Sans"/>
                <a:ea typeface="DejaVu Sans"/>
                <a:cs typeface="DejaVu Sans"/>
              </a:defRPr>
            </a:pPr>
            <a:r>
              <a:rPr sz="900" b="1">
                <a:solidFill>
                  <a:srgbClr val="192936"/>
                </a:solidFill>
                <a:latin typeface="DejaVu Sans"/>
                <a:ea typeface="DejaVu Sans"/>
                <a:cs typeface="DejaVu Sans"/>
              </a:rPr>
              <a:t>Funding</a:t>
            </a:r>
          </a:p>
        </p:txBody>
      </p:sp>
      <p:sp>
        <p:nvSpPr>
          <p:cNvPr id="14" name="Gray cube value">
            <a:extLst xmlns:a="http://schemas.openxmlformats.org/drawingml/2006/main">
              <a:ext uri="{FF2B5EF4-FFF2-40B4-BE49-F238E27FC236}">
                <a16:creationId xmlns:a16="http://schemas.microsoft.com/office/drawing/2014/main" id="{A6AB3216-1376-45C7-9491-0305F05CBCA8}"/>
              </a:ext>
            </a:extLst>
          </p:cNvPr>
          <p:cNvSpPr>
            <a:spLocks xmlns:a="http://schemas.openxmlformats.org/drawingml/2006/main" noGrp="1"/>
          </p:cNvSpPr>
          <p:nvPr/>
        </p:nvSpPr>
        <p:spPr>
          <a:xfrm xmlns:a="http://schemas.openxmlformats.org/drawingml/2006/main">
            <a:off x="1685925"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2616A"/>
                </a:solidFill>
                <a:latin typeface="DejaVu Sans"/>
                <a:ea typeface="DejaVu Sans"/>
                <a:cs typeface="DejaVu Sans"/>
              </a:defRPr>
            </a:defPPr>
          </a:lstStyle>
          <a:p xmlns:a="http://schemas.openxmlformats.org/drawingml/2006/main">
            <a:pPr algn="l">
              <a:defRPr sz="2100" b="1">
                <a:solidFill>
                  <a:srgbClr val="52616A"/>
                </a:solidFill>
                <a:latin typeface="DejaVu Sans"/>
                <a:ea typeface="DejaVu Sans"/>
                <a:cs typeface="DejaVu Sans"/>
              </a:defRPr>
            </a:pPr>
            <a:r>
              <a:rPr sz="2100" b="1">
                <a:solidFill>
                  <a:srgbClr val="52616A"/>
                </a:solidFill>
                <a:latin typeface="DejaVu Sans"/>
                <a:ea typeface="DejaVu Sans"/>
                <a:cs typeface="DejaVu Sans"/>
              </a:rPr>
              <a:t>4</a:t>
            </a:r>
          </a:p>
        </p:txBody>
      </p:sp>
      <p:sp>
        <p:nvSpPr>
          <p:cNvPr id="15" name="Gray cube unit">
            <a:extLst xmlns:a="http://schemas.openxmlformats.org/drawingml/2006/main">
              <a:ext uri="{FF2B5EF4-FFF2-40B4-BE49-F238E27FC236}">
                <a16:creationId xmlns:a16="http://schemas.microsoft.com/office/drawing/2014/main" id="{A9B579F9-6052-467C-BE54-FED72C6D826A}"/>
              </a:ext>
            </a:extLst>
          </p:cNvPr>
          <p:cNvSpPr>
            <a:spLocks xmlns:a="http://schemas.openxmlformats.org/drawingml/2006/main" noGrp="1"/>
          </p:cNvSpPr>
          <p:nvPr/>
        </p:nvSpPr>
        <p:spPr>
          <a:xfrm xmlns:a="http://schemas.openxmlformats.org/drawingml/2006/main">
            <a:off x="2095500" y="2543175"/>
            <a:ext cx="914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1">
                <a:solidFill>
                  <a:srgbClr val="52616A"/>
                </a:solidFill>
                <a:latin typeface="DejaVu Sans"/>
                <a:ea typeface="DejaVu Sans"/>
                <a:cs typeface="DejaVu Sans"/>
              </a:defRPr>
            </a:defPPr>
          </a:lstStyle>
          <a:p xmlns:a="http://schemas.openxmlformats.org/drawingml/2006/main">
            <a:pPr algn="l">
              <a:defRPr sz="863" b="1">
                <a:solidFill>
                  <a:srgbClr val="52616A"/>
                </a:solidFill>
                <a:latin typeface="DejaVu Sans"/>
                <a:ea typeface="DejaVu Sans"/>
                <a:cs typeface="DejaVu Sans"/>
              </a:defRPr>
            </a:pPr>
            <a:r>
              <a:rPr sz="863" b="1">
                <a:solidFill>
                  <a:srgbClr val="52616A"/>
                </a:solidFill>
                <a:latin typeface="DejaVu Sans"/>
                <a:ea typeface="DejaVu Sans"/>
                <a:cs typeface="DejaVu Sans"/>
              </a:rPr>
              <a:t>gray cubes</a:t>
            </a:r>
          </a:p>
        </p:txBody>
      </p:sp>
      <p:sp>
        <p:nvSpPr>
          <p:cNvPr id="16" name="Eligibility divider">
            <a:extLst xmlns:a="http://schemas.openxmlformats.org/drawingml/2006/main">
              <a:ext uri="{FF2B5EF4-FFF2-40B4-BE49-F238E27FC236}">
                <a16:creationId xmlns:a16="http://schemas.microsoft.com/office/drawing/2014/main" id="{457789D1-484B-4124-8C53-1FACB604644E}"/>
              </a:ext>
            </a:extLst>
          </p:cNvPr>
          <p:cNvSpPr>
            <a:spLocks xmlns:a="http://schemas.openxmlformats.org/drawingml/2006/main" noGrp="1"/>
          </p:cNvSpPr>
          <p:nvPr/>
        </p:nvSpPr>
        <p:spPr>
          <a:xfrm xmlns:a="http://schemas.openxmlformats.org/drawingml/2006/main">
            <a:off x="190500" y="282892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7" name="Without certification heading">
            <a:extLst xmlns:a="http://schemas.openxmlformats.org/drawingml/2006/main">
              <a:ext uri="{FF2B5EF4-FFF2-40B4-BE49-F238E27FC236}">
                <a16:creationId xmlns:a16="http://schemas.microsoft.com/office/drawing/2014/main" id="{7AAA6A1D-27C6-42B8-9936-5CFE949634AC}"/>
              </a:ext>
            </a:extLst>
          </p:cNvPr>
          <p:cNvSpPr>
            <a:spLocks xmlns:a="http://schemas.openxmlformats.org/drawingml/2006/main" noGrp="1"/>
          </p:cNvSpPr>
          <p:nvPr/>
        </p:nvSpPr>
        <p:spPr>
          <a:xfrm xmlns:a="http://schemas.openxmlformats.org/drawingml/2006/main">
            <a:off x="190500" y="2943225"/>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1">
                <a:solidFill>
                  <a:srgbClr val="176578"/>
                </a:solidFill>
                <a:latin typeface="DejaVu Sans"/>
                <a:ea typeface="DejaVu Sans"/>
                <a:cs typeface="DejaVu Sans"/>
              </a:defRPr>
            </a:defPPr>
          </a:lstStyle>
          <a:p xmlns:a="http://schemas.openxmlformats.org/drawingml/2006/main">
            <a:pPr algn="l">
              <a:defRPr sz="825" b="1">
                <a:solidFill>
                  <a:srgbClr val="176578"/>
                </a:solidFill>
                <a:latin typeface="DejaVu Sans"/>
                <a:ea typeface="DejaVu Sans"/>
                <a:cs typeface="DejaVu Sans"/>
              </a:defRPr>
            </a:pPr>
            <a:r>
              <a:rPr sz="825" b="1">
                <a:solidFill>
                  <a:srgbClr val="176578"/>
                </a:solidFill>
                <a:latin typeface="DejaVu Sans"/>
                <a:ea typeface="DejaVu Sans"/>
                <a:cs typeface="DejaVu Sans"/>
              </a:rPr>
              <a:t>No Certified Expertise in Feedback / PID</a:t>
            </a:r>
          </a:p>
        </p:txBody>
      </p:sp>
      <p:sp>
        <p:nvSpPr>
          <p:cNvPr id="18" name="Without certification rule">
            <a:extLst xmlns:a="http://schemas.openxmlformats.org/drawingml/2006/main">
              <a:ext uri="{FF2B5EF4-FFF2-40B4-BE49-F238E27FC236}">
                <a16:creationId xmlns:a16="http://schemas.microsoft.com/office/drawing/2014/main" id="{69283B33-063D-40D0-9AD7-790A7067253E}"/>
              </a:ext>
            </a:extLst>
          </p:cNvPr>
          <p:cNvSpPr>
            <a:spLocks xmlns:a="http://schemas.openxmlformats.org/drawingml/2006/main" noGrp="1"/>
          </p:cNvSpPr>
          <p:nvPr/>
        </p:nvSpPr>
        <p:spPr>
          <a:xfrm xmlns:a="http://schemas.openxmlformats.org/drawingml/2006/main">
            <a:off x="190500" y="3152775"/>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need at least 1 Feedback / PID Recent Work token to apply. Only Feedback / PID tokens count.</a:t>
            </a:r>
          </a:p>
        </p:txBody>
      </p:sp>
      <p:sp>
        <p:nvSpPr>
          <p:cNvPr id="19" name="With certification heading">
            <a:extLst xmlns:a="http://schemas.openxmlformats.org/drawingml/2006/main">
              <a:ext uri="{FF2B5EF4-FFF2-40B4-BE49-F238E27FC236}">
                <a16:creationId xmlns:a16="http://schemas.microsoft.com/office/drawing/2014/main" id="{5F1101A4-D583-4407-98FB-C2F44001C51C}"/>
              </a:ext>
            </a:extLst>
          </p:cNvPr>
          <p:cNvSpPr>
            <a:spLocks xmlns:a="http://schemas.openxmlformats.org/drawingml/2006/main" noGrp="1"/>
          </p:cNvSpPr>
          <p:nvPr/>
        </p:nvSpPr>
        <p:spPr>
          <a:xfrm xmlns:a="http://schemas.openxmlformats.org/drawingml/2006/main">
            <a:off x="190500" y="3619500"/>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176578"/>
                </a:solidFill>
                <a:latin typeface="DejaVu Sans"/>
                <a:ea typeface="DejaVu Sans"/>
                <a:cs typeface="DejaVu Sans"/>
              </a:defRPr>
            </a:defPPr>
          </a:lstStyle>
          <a:p xmlns:a="http://schemas.openxmlformats.org/drawingml/2006/main">
            <a:pPr algn="l">
              <a:defRPr sz="788" b="1">
                <a:solidFill>
                  <a:srgbClr val="176578"/>
                </a:solidFill>
                <a:latin typeface="DejaVu Sans"/>
                <a:ea typeface="DejaVu Sans"/>
                <a:cs typeface="DejaVu Sans"/>
              </a:defRPr>
            </a:pPr>
            <a:r>
              <a:rPr sz="788" b="1">
                <a:solidFill>
                  <a:srgbClr val="176578"/>
                </a:solidFill>
                <a:latin typeface="DejaVu Sans"/>
                <a:ea typeface="DejaVu Sans"/>
                <a:cs typeface="DejaVu Sans"/>
              </a:rPr>
              <a:t>With Certified Expertise in Feedback / PID</a:t>
            </a:r>
          </a:p>
        </p:txBody>
      </p:sp>
      <p:sp>
        <p:nvSpPr>
          <p:cNvPr id="20" name="With certification rule">
            <a:extLst xmlns:a="http://schemas.openxmlformats.org/drawingml/2006/main">
              <a:ext uri="{FF2B5EF4-FFF2-40B4-BE49-F238E27FC236}">
                <a16:creationId xmlns:a16="http://schemas.microsoft.com/office/drawing/2014/main" id="{F5E9D717-660E-4EB2-BA6A-96DD1ABE67D3}"/>
              </a:ext>
            </a:extLst>
          </p:cNvPr>
          <p:cNvSpPr>
            <a:spLocks xmlns:a="http://schemas.openxmlformats.org/drawingml/2006/main" noGrp="1"/>
          </p:cNvSpPr>
          <p:nvPr/>
        </p:nvSpPr>
        <p:spPr>
          <a:xfrm xmlns:a="http://schemas.openxmlformats.org/drawingml/2006/main">
            <a:off x="190500" y="3829050"/>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may apply without Recent Work. Recent Work from ANY topic can count. Your expertise badge is permanent.</a:t>
            </a:r>
          </a:p>
        </p:txBody>
      </p:sp>
      <p:sp>
        <p:nvSpPr>
          <p:cNvPr id="21" name="Footer divider">
            <a:extLst xmlns:a="http://schemas.openxmlformats.org/drawingml/2006/main">
              <a:ext uri="{FF2B5EF4-FFF2-40B4-BE49-F238E27FC236}">
                <a16:creationId xmlns:a16="http://schemas.microsoft.com/office/drawing/2014/main" id="{D7B5C857-7CE2-42C0-B579-241BAF5C65D1}"/>
              </a:ext>
            </a:extLst>
          </p:cNvPr>
          <p:cNvSpPr>
            <a:spLocks xmlns:a="http://schemas.openxmlformats.org/drawingml/2006/main" noGrp="1"/>
          </p:cNvSpPr>
          <p:nvPr/>
        </p:nvSpPr>
        <p:spPr>
          <a:xfrm xmlns:a="http://schemas.openxmlformats.org/drawingml/2006/main">
            <a:off x="190500" y="4286250"/>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22" name="Recent Work cap">
            <a:extLst xmlns:a="http://schemas.openxmlformats.org/drawingml/2006/main">
              <a:ext uri="{FF2B5EF4-FFF2-40B4-BE49-F238E27FC236}">
                <a16:creationId xmlns:a16="http://schemas.microsoft.com/office/drawing/2014/main" id="{FA1AF23F-830C-40C9-9200-A1C8EED70840}"/>
              </a:ext>
            </a:extLst>
          </p:cNvPr>
          <p:cNvSpPr>
            <a:spLocks xmlns:a="http://schemas.openxmlformats.org/drawingml/2006/main" noGrp="1"/>
          </p:cNvSpPr>
          <p:nvPr/>
        </p:nvSpPr>
        <p:spPr>
          <a:xfrm xmlns:a="http://schemas.openxmlformats.org/drawingml/2006/main">
            <a:off x="190500" y="4371975"/>
            <a:ext cx="28194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192936"/>
                </a:solidFill>
                <a:latin typeface="DejaVu Sans"/>
                <a:ea typeface="DejaVu Sans"/>
                <a:cs typeface="DejaVu Sans"/>
              </a:defRPr>
            </a:defPPr>
          </a:lstStyle>
          <a:p xmlns:a="http://schemas.openxmlformats.org/drawingml/2006/main">
            <a:pPr algn="l">
              <a:defRPr sz="788" b="1">
                <a:solidFill>
                  <a:srgbClr val="192936"/>
                </a:solidFill>
                <a:latin typeface="DejaVu Sans"/>
                <a:ea typeface="DejaVu Sans"/>
                <a:cs typeface="DejaVu Sans"/>
              </a:defRPr>
            </a:pPr>
            <a:r>
              <a:rPr sz="788" b="1">
                <a:solidFill>
                  <a:srgbClr val="192936"/>
                </a:solidFill>
                <a:latin typeface="DejaVu Sans"/>
                <a:ea typeface="DejaVu Sans"/>
                <a:cs typeface="DejaVu Sans"/>
              </a:rPr>
              <a:t>Count at most 3 Recent Work tokens.</a:t>
            </a:r>
          </a:p>
        </p:txBody>
      </p:sp>
    </p:spTree>
    <p:extLst>
      <p:ext uri="{BB962C8B-B14F-4D97-AF65-F5344CB8AC3E}">
        <p14:creationId xmlns:p14="http://schemas.microsoft.com/office/powerpoint/2010/main" val="121456692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Card border">
            <a:extLst xmlns:a="http://schemas.openxmlformats.org/drawingml/2006/main">
              <a:ext uri="{FF2B5EF4-FFF2-40B4-BE49-F238E27FC236}">
                <a16:creationId xmlns:a16="http://schemas.microsoft.com/office/drawing/2014/main" id="{C23CB7FA-62E4-4DF0-842E-22DCDE2B9AF6}"/>
              </a:ext>
            </a:extLst>
          </p:cNvPr>
          <p:cNvSpPr>
            <a:spLocks xmlns:a="http://schemas.openxmlformats.org/drawingml/2006/main" noGrp="1"/>
          </p:cNvSpPr>
          <p:nvPr/>
        </p:nvSpPr>
        <p:spPr>
          <a:xfrm xmlns:a="http://schemas.openxmlformats.org/drawingml/2006/main">
            <a:off x="9525" y="9525"/>
            <a:ext cx="3181350" cy="4552950"/>
          </a:xfrm>
          <a:prstGeom xmlns:a="http://schemas.openxmlformats.org/drawingml/2006/main" prst="rect">
            <a:avLst/>
          </a:prstGeom>
          <a:noFill xmlns:a="http://schemas.openxmlformats.org/drawingml/2006/main"/>
          <a:ln xmlns:a="http://schemas.openxmlformats.org/drawingml/2006/main" w="9525">
            <a:solidFill>
              <a:srgbClr val="D0D5D8"/>
            </a:solidFill>
          </a:ln>
        </p:spPr>
      </p:sp>
      <p:sp>
        <p:nvSpPr>
          <p:cNvPr id="2" name="Topic color band">
            <a:extLst xmlns:a="http://schemas.openxmlformats.org/drawingml/2006/main">
              <a:ext uri="{FF2B5EF4-FFF2-40B4-BE49-F238E27FC236}">
                <a16:creationId xmlns:a16="http://schemas.microsoft.com/office/drawing/2014/main" id="{E6FE2288-70D9-4AC4-9C05-136B24A526D0}"/>
              </a:ext>
            </a:extLst>
          </p:cNvPr>
          <p:cNvSpPr>
            <a:spLocks xmlns:a="http://schemas.openxmlformats.org/drawingml/2006/main" noGrp="1"/>
          </p:cNvSpPr>
          <p:nvPr/>
        </p:nvSpPr>
        <p:spPr>
          <a:xfrm xmlns:a="http://schemas.openxmlformats.org/drawingml/2006/main">
            <a:off x="9525" y="9525"/>
            <a:ext cx="3181350" cy="400050"/>
          </a:xfrm>
          <a:prstGeom xmlns:a="http://schemas.openxmlformats.org/drawingml/2006/main" prst="rect">
            <a:avLst/>
          </a:prstGeom>
          <a:solidFill xmlns:a="http://schemas.openxmlformats.org/drawingml/2006/main">
            <a:srgbClr val="176578"/>
          </a:solidFill>
          <a:ln xmlns:a="http://schemas.openxmlformats.org/drawingml/2006/main" w="0">
            <a:noFill/>
          </a:ln>
        </p:spPr>
      </p:sp>
      <p:sp>
        <p:nvSpPr>
          <p:cNvPr id="3" name="Game name">
            <a:extLst xmlns:a="http://schemas.openxmlformats.org/drawingml/2006/main">
              <a:ext uri="{FF2B5EF4-FFF2-40B4-BE49-F238E27FC236}">
                <a16:creationId xmlns:a16="http://schemas.microsoft.com/office/drawing/2014/main" id="{984D1416-E58F-47E4-AEF8-101235165D6F}"/>
              </a:ext>
            </a:extLst>
          </p:cNvPr>
          <p:cNvSpPr>
            <a:spLocks xmlns:a="http://schemas.openxmlformats.org/drawingml/2006/main" noGrp="1"/>
          </p:cNvSpPr>
          <p:nvPr/>
        </p:nvSpPr>
        <p:spPr>
          <a:xfrm xmlns:a="http://schemas.openxmlformats.org/drawingml/2006/main">
            <a:off x="190500" y="133350"/>
            <a:ext cx="1943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FFFFFF"/>
                </a:solidFill>
                <a:latin typeface="DejaVu Sans"/>
                <a:ea typeface="DejaVu Sans"/>
                <a:cs typeface="DejaVu Sans"/>
              </a:defRPr>
            </a:defPPr>
          </a:lstStyle>
          <a:p xmlns:a="http://schemas.openxmlformats.org/drawingml/2006/main">
            <a:pPr algn="l">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GRANT CONTROL</a:t>
            </a:r>
          </a:p>
        </p:txBody>
      </p:sp>
      <p:sp>
        <p:nvSpPr>
          <p:cNvPr id="4" name="Card identifier">
            <a:extLst xmlns:a="http://schemas.openxmlformats.org/drawingml/2006/main">
              <a:ext uri="{FF2B5EF4-FFF2-40B4-BE49-F238E27FC236}">
                <a16:creationId xmlns:a16="http://schemas.microsoft.com/office/drawing/2014/main" id="{EBC8BBD9-5115-4395-A048-3D6661A1559C}"/>
              </a:ext>
            </a:extLst>
          </p:cNvPr>
          <p:cNvSpPr>
            <a:spLocks xmlns:a="http://schemas.openxmlformats.org/drawingml/2006/main" noGrp="1"/>
          </p:cNvSpPr>
          <p:nvPr/>
        </p:nvSpPr>
        <p:spPr>
          <a:xfrm xmlns:a="http://schemas.openxmlformats.org/drawingml/2006/main">
            <a:off x="2371725" y="142875"/>
            <a:ext cx="6381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788" b="1">
                <a:solidFill>
                  <a:srgbClr val="FFFFFF"/>
                </a:solidFill>
                <a:latin typeface="DejaVu Sans"/>
                <a:ea typeface="DejaVu Sans"/>
                <a:cs typeface="DejaVu Sans"/>
              </a:defRPr>
            </a:defPPr>
          </a:lstStyle>
          <a:p xmlns:a="http://schemas.openxmlformats.org/drawingml/2006/main">
            <a:pPr algn="r">
              <a:defRPr sz="788" b="1">
                <a:solidFill>
                  <a:srgbClr val="FFFFFF"/>
                </a:solidFill>
                <a:latin typeface="DejaVu Sans"/>
                <a:ea typeface="DejaVu Sans"/>
                <a:cs typeface="DejaVu Sans"/>
              </a:defRPr>
            </a:pPr>
            <a:r>
              <a:rPr sz="788" b="1">
                <a:solidFill>
                  <a:srgbClr val="FFFFFF"/>
                </a:solidFill>
                <a:latin typeface="DejaVu Sans"/>
                <a:ea typeface="DejaVu Sans"/>
                <a:cs typeface="DejaVu Sans"/>
              </a:rPr>
              <a:t>PID-03</a:t>
            </a:r>
          </a:p>
        </p:txBody>
      </p:sp>
      <p:sp>
        <p:nvSpPr>
          <p:cNvPr id="5" name="Card category">
            <a:extLst xmlns:a="http://schemas.openxmlformats.org/drawingml/2006/main">
              <a:ext uri="{FF2B5EF4-FFF2-40B4-BE49-F238E27FC236}">
                <a16:creationId xmlns:a16="http://schemas.microsoft.com/office/drawing/2014/main" id="{DA391B3A-B9C0-4C5F-B29A-1987B8CBA9B1}"/>
              </a:ext>
            </a:extLst>
          </p:cNvPr>
          <p:cNvSpPr>
            <a:spLocks xmlns:a="http://schemas.openxmlformats.org/drawingml/2006/main" noGrp="1"/>
          </p:cNvSpPr>
          <p:nvPr/>
        </p:nvSpPr>
        <p:spPr>
          <a:xfrm xmlns:a="http://schemas.openxmlformats.org/drawingml/2006/main">
            <a:off x="190500" y="523875"/>
            <a:ext cx="2800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176578"/>
                </a:solidFill>
                <a:latin typeface="DejaVu Sans"/>
                <a:ea typeface="DejaVu Sans"/>
                <a:cs typeface="DejaVu Sans"/>
              </a:defRPr>
            </a:defPPr>
          </a:lstStyle>
          <a:p xmlns:a="http://schemas.openxmlformats.org/drawingml/2006/main">
            <a:pPr algn="l">
              <a:defRPr sz="788" b="1">
                <a:solidFill>
                  <a:srgbClr val="176578"/>
                </a:solidFill>
                <a:latin typeface="DejaVu Sans"/>
                <a:ea typeface="DejaVu Sans"/>
                <a:cs typeface="DejaVu Sans"/>
              </a:defRPr>
            </a:pPr>
            <a:r>
              <a:rPr sz="788" b="1">
                <a:solidFill>
                  <a:srgbClr val="176578"/>
                </a:solidFill>
                <a:latin typeface="DejaVu Sans"/>
                <a:ea typeface="DejaVu Sans"/>
                <a:cs typeface="DejaVu Sans"/>
              </a:rPr>
              <a:t>FUNDING CALL</a:t>
            </a:r>
          </a:p>
        </p:txBody>
      </p:sp>
      <p:sp>
        <p:nvSpPr>
          <p:cNvPr id="6" name="Primary topic">
            <a:extLst xmlns:a="http://schemas.openxmlformats.org/drawingml/2006/main">
              <a:ext uri="{FF2B5EF4-FFF2-40B4-BE49-F238E27FC236}">
                <a16:creationId xmlns:a16="http://schemas.microsoft.com/office/drawing/2014/main" id="{BC7C8117-54D4-4BD4-8A36-2E6B8AE1883C}"/>
              </a:ext>
            </a:extLst>
          </p:cNvPr>
          <p:cNvSpPr>
            <a:spLocks xmlns:a="http://schemas.openxmlformats.org/drawingml/2006/main" noGrp="1"/>
          </p:cNvSpPr>
          <p:nvPr/>
        </p:nvSpPr>
        <p:spPr>
          <a:xfrm xmlns:a="http://schemas.openxmlformats.org/drawingml/2006/main">
            <a:off x="190500" y="733425"/>
            <a:ext cx="2819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176578"/>
                </a:solidFill>
                <a:latin typeface="DejaVu Sans"/>
                <a:ea typeface="DejaVu Sans"/>
                <a:cs typeface="DejaVu Sans"/>
              </a:defRPr>
            </a:defPPr>
          </a:lstStyle>
          <a:p xmlns:a="http://schemas.openxmlformats.org/drawingml/2006/main">
            <a:pPr algn="l">
              <a:defRPr sz="975" b="1">
                <a:solidFill>
                  <a:srgbClr val="176578"/>
                </a:solidFill>
                <a:latin typeface="DejaVu Sans"/>
                <a:ea typeface="DejaVu Sans"/>
                <a:cs typeface="DejaVu Sans"/>
              </a:defRPr>
            </a:pPr>
            <a:r>
              <a:rPr sz="975" b="1">
                <a:solidFill>
                  <a:srgbClr val="176578"/>
                </a:solidFill>
                <a:latin typeface="DejaVu Sans"/>
                <a:ea typeface="DejaVu Sans"/>
                <a:cs typeface="DejaVu Sans"/>
              </a:rPr>
              <a:t>Feedback / PID</a:t>
            </a:r>
          </a:p>
        </p:txBody>
      </p:sp>
      <p:sp>
        <p:nvSpPr>
          <p:cNvPr id="7" name="Call title">
            <a:extLst xmlns:a="http://schemas.openxmlformats.org/drawingml/2006/main">
              <a:ext uri="{FF2B5EF4-FFF2-40B4-BE49-F238E27FC236}">
                <a16:creationId xmlns:a16="http://schemas.microsoft.com/office/drawing/2014/main" id="{793DAFCF-44AA-4020-8768-212A8AC045C9}"/>
              </a:ext>
            </a:extLst>
          </p:cNvPr>
          <p:cNvSpPr>
            <a:spLocks xmlns:a="http://schemas.openxmlformats.org/drawingml/2006/main" noGrp="1"/>
          </p:cNvSpPr>
          <p:nvPr/>
        </p:nvSpPr>
        <p:spPr>
          <a:xfrm xmlns:a="http://schemas.openxmlformats.org/drawingml/2006/main">
            <a:off x="190500" y="1028700"/>
            <a:ext cx="281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92936"/>
                </a:solidFill>
                <a:latin typeface="DejaVu Sans"/>
                <a:ea typeface="DejaVu Sans"/>
                <a:cs typeface="DejaVu Sans"/>
              </a:defRPr>
            </a:defPPr>
          </a:lstStyle>
          <a:p xmlns:a="http://schemas.openxmlformats.org/drawingml/2006/main">
            <a:pPr algn="l">
              <a:defRPr sz="1500" b="1">
                <a:solidFill>
                  <a:srgbClr val="192936"/>
                </a:solidFill>
                <a:latin typeface="DejaVu Sans"/>
                <a:ea typeface="DejaVu Sans"/>
                <a:cs typeface="DejaVu Sans"/>
              </a:defRPr>
            </a:pPr>
            <a:r>
              <a:rPr sz="1500" b="1">
                <a:solidFill>
                  <a:srgbClr val="192936"/>
                </a:solidFill>
                <a:latin typeface="DejaVu Sans"/>
                <a:ea typeface="DejaVu Sans"/>
                <a:cs typeface="DejaVu Sans"/>
              </a:rPr>
              <a:t>Feedback Under Communication Delays</a:t>
            </a:r>
          </a:p>
        </p:txBody>
      </p:sp>
      <p:sp>
        <p:nvSpPr>
          <p:cNvPr id="8" name="Research scope">
            <a:extLst xmlns:a="http://schemas.openxmlformats.org/drawingml/2006/main">
              <a:ext uri="{FF2B5EF4-FFF2-40B4-BE49-F238E27FC236}">
                <a16:creationId xmlns:a16="http://schemas.microsoft.com/office/drawing/2014/main" id="{97BAA242-7482-4512-ADF3-EAD9438810AF}"/>
              </a:ext>
            </a:extLst>
          </p:cNvPr>
          <p:cNvSpPr>
            <a:spLocks xmlns:a="http://schemas.openxmlformats.org/drawingml/2006/main" noGrp="1"/>
          </p:cNvSpPr>
          <p:nvPr/>
        </p:nvSpPr>
        <p:spPr>
          <a:xfrm xmlns:a="http://schemas.openxmlformats.org/drawingml/2006/main">
            <a:off x="190500" y="1628775"/>
            <a:ext cx="2819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0">
                <a:solidFill>
                  <a:srgbClr val="52616A"/>
                </a:solidFill>
                <a:latin typeface="DejaVu Sans"/>
                <a:ea typeface="DejaVu Sans"/>
                <a:cs typeface="DejaVu Sans"/>
              </a:defRPr>
            </a:defPPr>
          </a:lstStyle>
          <a:p xmlns:a="http://schemas.openxmlformats.org/drawingml/2006/main">
            <a:pPr algn="l">
              <a:defRPr sz="825" b="0">
                <a:solidFill>
                  <a:srgbClr val="52616A"/>
                </a:solidFill>
                <a:latin typeface="DejaVu Sans"/>
                <a:ea typeface="DejaVu Sans"/>
                <a:cs typeface="DejaVu Sans"/>
              </a:defRPr>
            </a:pPr>
            <a:r>
              <a:rPr sz="825" b="0">
                <a:solidFill>
                  <a:srgbClr val="52616A"/>
                </a:solidFill>
                <a:latin typeface="DejaVu Sans"/>
                <a:ea typeface="DejaVu Sans"/>
                <a:cs typeface="DejaVu Sans"/>
              </a:rPr>
              <a:t>Develop feedback control for a remotely operated system with variable delay. Study how delay affects tracking and disturbance rejection.</a:t>
            </a:r>
          </a:p>
        </p:txBody>
      </p:sp>
      <p:sp>
        <p:nvSpPr>
          <p:cNvPr id="9" name="Statistics divider">
            <a:extLst xmlns:a="http://schemas.openxmlformats.org/drawingml/2006/main">
              <a:ext uri="{FF2B5EF4-FFF2-40B4-BE49-F238E27FC236}">
                <a16:creationId xmlns:a16="http://schemas.microsoft.com/office/drawing/2014/main" id="{BEC507FF-07F7-4631-8067-76E7514AEC41}"/>
              </a:ext>
            </a:extLst>
          </p:cNvPr>
          <p:cNvSpPr>
            <a:spLocks xmlns:a="http://schemas.openxmlformats.org/drawingml/2006/main" noGrp="1"/>
          </p:cNvSpPr>
          <p:nvPr/>
        </p:nvSpPr>
        <p:spPr>
          <a:xfrm xmlns:a="http://schemas.openxmlformats.org/drawingml/2006/main">
            <a:off x="190500" y="216217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0" name="Funding award label">
            <a:extLst xmlns:a="http://schemas.openxmlformats.org/drawingml/2006/main">
              <a:ext uri="{FF2B5EF4-FFF2-40B4-BE49-F238E27FC236}">
                <a16:creationId xmlns:a16="http://schemas.microsoft.com/office/drawing/2014/main" id="{4056EC75-B5B8-4E36-B6D3-D4ACA001B191}"/>
              </a:ext>
            </a:extLst>
          </p:cNvPr>
          <p:cNvSpPr>
            <a:spLocks xmlns:a="http://schemas.openxmlformats.org/drawingml/2006/main" noGrp="1"/>
          </p:cNvSpPr>
          <p:nvPr/>
        </p:nvSpPr>
        <p:spPr>
          <a:xfrm xmlns:a="http://schemas.openxmlformats.org/drawingml/2006/main">
            <a:off x="190500"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FUNDING AWARD</a:t>
            </a:r>
          </a:p>
        </p:txBody>
      </p:sp>
      <p:sp>
        <p:nvSpPr>
          <p:cNvPr id="11" name="Gray cube label">
            <a:extLst xmlns:a="http://schemas.openxmlformats.org/drawingml/2006/main">
              <a:ext uri="{FF2B5EF4-FFF2-40B4-BE49-F238E27FC236}">
                <a16:creationId xmlns:a16="http://schemas.microsoft.com/office/drawing/2014/main" id="{9F514030-8FB5-45EB-A04B-60C0C56610F4}"/>
              </a:ext>
            </a:extLst>
          </p:cNvPr>
          <p:cNvSpPr>
            <a:spLocks xmlns:a="http://schemas.openxmlformats.org/drawingml/2006/main" noGrp="1"/>
          </p:cNvSpPr>
          <p:nvPr/>
        </p:nvSpPr>
        <p:spPr>
          <a:xfrm xmlns:a="http://schemas.openxmlformats.org/drawingml/2006/main">
            <a:off x="1685925"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OUTSIDE / NO-AWARD</a:t>
            </a:r>
          </a:p>
        </p:txBody>
      </p:sp>
      <p:sp>
        <p:nvSpPr>
          <p:cNvPr id="12" name="Funding award value">
            <a:extLst xmlns:a="http://schemas.openxmlformats.org/drawingml/2006/main">
              <a:ext uri="{FF2B5EF4-FFF2-40B4-BE49-F238E27FC236}">
                <a16:creationId xmlns:a16="http://schemas.microsoft.com/office/drawing/2014/main" id="{D1E98B43-60F1-42D4-8E0C-442B820598F6}"/>
              </a:ext>
            </a:extLst>
          </p:cNvPr>
          <p:cNvSpPr>
            <a:spLocks xmlns:a="http://schemas.openxmlformats.org/drawingml/2006/main" noGrp="1"/>
          </p:cNvSpPr>
          <p:nvPr/>
        </p:nvSpPr>
        <p:spPr>
          <a:xfrm xmlns:a="http://schemas.openxmlformats.org/drawingml/2006/main">
            <a:off x="190500"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6578"/>
                </a:solidFill>
                <a:latin typeface="DejaVu Sans"/>
                <a:ea typeface="DejaVu Sans"/>
                <a:cs typeface="DejaVu Sans"/>
              </a:defRPr>
            </a:defPPr>
          </a:lstStyle>
          <a:p xmlns:a="http://schemas.openxmlformats.org/drawingml/2006/main">
            <a:pPr algn="l">
              <a:defRPr sz="2100" b="1">
                <a:solidFill>
                  <a:srgbClr val="176578"/>
                </a:solidFill>
                <a:latin typeface="DejaVu Sans"/>
                <a:ea typeface="DejaVu Sans"/>
                <a:cs typeface="DejaVu Sans"/>
              </a:defRPr>
            </a:pPr>
            <a:r>
              <a:rPr sz="2100" b="1">
                <a:solidFill>
                  <a:srgbClr val="176578"/>
                </a:solidFill>
                <a:latin typeface="DejaVu Sans"/>
                <a:ea typeface="DejaVu Sans"/>
                <a:cs typeface="DejaVu Sans"/>
              </a:rPr>
              <a:t>6</a:t>
            </a:r>
          </a:p>
        </p:txBody>
      </p:sp>
      <p:sp>
        <p:nvSpPr>
          <p:cNvPr id="13" name="Funding award unit">
            <a:extLst xmlns:a="http://schemas.openxmlformats.org/drawingml/2006/main">
              <a:ext uri="{FF2B5EF4-FFF2-40B4-BE49-F238E27FC236}">
                <a16:creationId xmlns:a16="http://schemas.microsoft.com/office/drawing/2014/main" id="{DFEA44E9-2766-4E7E-8486-405A0CD73FF2}"/>
              </a:ext>
            </a:extLst>
          </p:cNvPr>
          <p:cNvSpPr>
            <a:spLocks xmlns:a="http://schemas.openxmlformats.org/drawingml/2006/main" noGrp="1"/>
          </p:cNvSpPr>
          <p:nvPr/>
        </p:nvSpPr>
        <p:spPr>
          <a:xfrm xmlns:a="http://schemas.openxmlformats.org/drawingml/2006/main">
            <a:off x="600075" y="2543175"/>
            <a:ext cx="904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192936"/>
                </a:solidFill>
                <a:latin typeface="DejaVu Sans"/>
                <a:ea typeface="DejaVu Sans"/>
                <a:cs typeface="DejaVu Sans"/>
              </a:defRPr>
            </a:defPPr>
          </a:lstStyle>
          <a:p xmlns:a="http://schemas.openxmlformats.org/drawingml/2006/main">
            <a:pPr algn="l">
              <a:defRPr sz="900" b="1">
                <a:solidFill>
                  <a:srgbClr val="192936"/>
                </a:solidFill>
                <a:latin typeface="DejaVu Sans"/>
                <a:ea typeface="DejaVu Sans"/>
                <a:cs typeface="DejaVu Sans"/>
              </a:defRPr>
            </a:pPr>
            <a:r>
              <a:rPr sz="900" b="1">
                <a:solidFill>
                  <a:srgbClr val="192936"/>
                </a:solidFill>
                <a:latin typeface="DejaVu Sans"/>
                <a:ea typeface="DejaVu Sans"/>
                <a:cs typeface="DejaVu Sans"/>
              </a:rPr>
              <a:t>Funding</a:t>
            </a:r>
          </a:p>
        </p:txBody>
      </p:sp>
      <p:sp>
        <p:nvSpPr>
          <p:cNvPr id="14" name="Gray cube value">
            <a:extLst xmlns:a="http://schemas.openxmlformats.org/drawingml/2006/main">
              <a:ext uri="{FF2B5EF4-FFF2-40B4-BE49-F238E27FC236}">
                <a16:creationId xmlns:a16="http://schemas.microsoft.com/office/drawing/2014/main" id="{2880D528-F4EF-4BEF-9304-9F2D0E3DCD93}"/>
              </a:ext>
            </a:extLst>
          </p:cNvPr>
          <p:cNvSpPr>
            <a:spLocks xmlns:a="http://schemas.openxmlformats.org/drawingml/2006/main" noGrp="1"/>
          </p:cNvSpPr>
          <p:nvPr/>
        </p:nvSpPr>
        <p:spPr>
          <a:xfrm xmlns:a="http://schemas.openxmlformats.org/drawingml/2006/main">
            <a:off x="1685925"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2616A"/>
                </a:solidFill>
                <a:latin typeface="DejaVu Sans"/>
                <a:ea typeface="DejaVu Sans"/>
                <a:cs typeface="DejaVu Sans"/>
              </a:defRPr>
            </a:defPPr>
          </a:lstStyle>
          <a:p xmlns:a="http://schemas.openxmlformats.org/drawingml/2006/main">
            <a:pPr algn="l">
              <a:defRPr sz="2100" b="1">
                <a:solidFill>
                  <a:srgbClr val="52616A"/>
                </a:solidFill>
                <a:latin typeface="DejaVu Sans"/>
                <a:ea typeface="DejaVu Sans"/>
                <a:cs typeface="DejaVu Sans"/>
              </a:defRPr>
            </a:pPr>
            <a:r>
              <a:rPr sz="2100" b="1">
                <a:solidFill>
                  <a:srgbClr val="52616A"/>
                </a:solidFill>
                <a:latin typeface="DejaVu Sans"/>
                <a:ea typeface="DejaVu Sans"/>
                <a:cs typeface="DejaVu Sans"/>
              </a:rPr>
              <a:t>5</a:t>
            </a:r>
          </a:p>
        </p:txBody>
      </p:sp>
      <p:sp>
        <p:nvSpPr>
          <p:cNvPr id="15" name="Gray cube unit">
            <a:extLst xmlns:a="http://schemas.openxmlformats.org/drawingml/2006/main">
              <a:ext uri="{FF2B5EF4-FFF2-40B4-BE49-F238E27FC236}">
                <a16:creationId xmlns:a16="http://schemas.microsoft.com/office/drawing/2014/main" id="{C9691C14-9BE8-4EA1-9C28-47A750BC1E60}"/>
              </a:ext>
            </a:extLst>
          </p:cNvPr>
          <p:cNvSpPr>
            <a:spLocks xmlns:a="http://schemas.openxmlformats.org/drawingml/2006/main" noGrp="1"/>
          </p:cNvSpPr>
          <p:nvPr/>
        </p:nvSpPr>
        <p:spPr>
          <a:xfrm xmlns:a="http://schemas.openxmlformats.org/drawingml/2006/main">
            <a:off x="2095500" y="2543175"/>
            <a:ext cx="914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1">
                <a:solidFill>
                  <a:srgbClr val="52616A"/>
                </a:solidFill>
                <a:latin typeface="DejaVu Sans"/>
                <a:ea typeface="DejaVu Sans"/>
                <a:cs typeface="DejaVu Sans"/>
              </a:defRPr>
            </a:defPPr>
          </a:lstStyle>
          <a:p xmlns:a="http://schemas.openxmlformats.org/drawingml/2006/main">
            <a:pPr algn="l">
              <a:defRPr sz="863" b="1">
                <a:solidFill>
                  <a:srgbClr val="52616A"/>
                </a:solidFill>
                <a:latin typeface="DejaVu Sans"/>
                <a:ea typeface="DejaVu Sans"/>
                <a:cs typeface="DejaVu Sans"/>
              </a:defRPr>
            </a:pPr>
            <a:r>
              <a:rPr sz="863" b="1">
                <a:solidFill>
                  <a:srgbClr val="52616A"/>
                </a:solidFill>
                <a:latin typeface="DejaVu Sans"/>
                <a:ea typeface="DejaVu Sans"/>
                <a:cs typeface="DejaVu Sans"/>
              </a:rPr>
              <a:t>gray cubes</a:t>
            </a:r>
          </a:p>
        </p:txBody>
      </p:sp>
      <p:sp>
        <p:nvSpPr>
          <p:cNvPr id="16" name="Eligibility divider">
            <a:extLst xmlns:a="http://schemas.openxmlformats.org/drawingml/2006/main">
              <a:ext uri="{FF2B5EF4-FFF2-40B4-BE49-F238E27FC236}">
                <a16:creationId xmlns:a16="http://schemas.microsoft.com/office/drawing/2014/main" id="{E8563DB8-4882-4E1B-9432-D5CF0102C717}"/>
              </a:ext>
            </a:extLst>
          </p:cNvPr>
          <p:cNvSpPr>
            <a:spLocks xmlns:a="http://schemas.openxmlformats.org/drawingml/2006/main" noGrp="1"/>
          </p:cNvSpPr>
          <p:nvPr/>
        </p:nvSpPr>
        <p:spPr>
          <a:xfrm xmlns:a="http://schemas.openxmlformats.org/drawingml/2006/main">
            <a:off x="190500" y="282892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7" name="Without certification heading">
            <a:extLst xmlns:a="http://schemas.openxmlformats.org/drawingml/2006/main">
              <a:ext uri="{FF2B5EF4-FFF2-40B4-BE49-F238E27FC236}">
                <a16:creationId xmlns:a16="http://schemas.microsoft.com/office/drawing/2014/main" id="{8A731D4B-7F01-448A-AA8F-BFC68E858C5F}"/>
              </a:ext>
            </a:extLst>
          </p:cNvPr>
          <p:cNvSpPr>
            <a:spLocks xmlns:a="http://schemas.openxmlformats.org/drawingml/2006/main" noGrp="1"/>
          </p:cNvSpPr>
          <p:nvPr/>
        </p:nvSpPr>
        <p:spPr>
          <a:xfrm xmlns:a="http://schemas.openxmlformats.org/drawingml/2006/main">
            <a:off x="190500" y="2943225"/>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1">
                <a:solidFill>
                  <a:srgbClr val="176578"/>
                </a:solidFill>
                <a:latin typeface="DejaVu Sans"/>
                <a:ea typeface="DejaVu Sans"/>
                <a:cs typeface="DejaVu Sans"/>
              </a:defRPr>
            </a:defPPr>
          </a:lstStyle>
          <a:p xmlns:a="http://schemas.openxmlformats.org/drawingml/2006/main">
            <a:pPr algn="l">
              <a:defRPr sz="825" b="1">
                <a:solidFill>
                  <a:srgbClr val="176578"/>
                </a:solidFill>
                <a:latin typeface="DejaVu Sans"/>
                <a:ea typeface="DejaVu Sans"/>
                <a:cs typeface="DejaVu Sans"/>
              </a:defRPr>
            </a:pPr>
            <a:r>
              <a:rPr sz="825" b="1">
                <a:solidFill>
                  <a:srgbClr val="176578"/>
                </a:solidFill>
                <a:latin typeface="DejaVu Sans"/>
                <a:ea typeface="DejaVu Sans"/>
                <a:cs typeface="DejaVu Sans"/>
              </a:rPr>
              <a:t>No Certified Expertise in Feedback / PID</a:t>
            </a:r>
          </a:p>
        </p:txBody>
      </p:sp>
      <p:sp>
        <p:nvSpPr>
          <p:cNvPr id="18" name="Without certification rule">
            <a:extLst xmlns:a="http://schemas.openxmlformats.org/drawingml/2006/main">
              <a:ext uri="{FF2B5EF4-FFF2-40B4-BE49-F238E27FC236}">
                <a16:creationId xmlns:a16="http://schemas.microsoft.com/office/drawing/2014/main" id="{BF2B53BF-E05E-476F-A72C-BC5B5C8D5F5C}"/>
              </a:ext>
            </a:extLst>
          </p:cNvPr>
          <p:cNvSpPr>
            <a:spLocks xmlns:a="http://schemas.openxmlformats.org/drawingml/2006/main" noGrp="1"/>
          </p:cNvSpPr>
          <p:nvPr/>
        </p:nvSpPr>
        <p:spPr>
          <a:xfrm xmlns:a="http://schemas.openxmlformats.org/drawingml/2006/main">
            <a:off x="190500" y="3152775"/>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need at least 1 Feedback / PID Recent Work token to apply. Only Feedback / PID tokens count.</a:t>
            </a:r>
          </a:p>
        </p:txBody>
      </p:sp>
      <p:sp>
        <p:nvSpPr>
          <p:cNvPr id="19" name="With certification heading">
            <a:extLst xmlns:a="http://schemas.openxmlformats.org/drawingml/2006/main">
              <a:ext uri="{FF2B5EF4-FFF2-40B4-BE49-F238E27FC236}">
                <a16:creationId xmlns:a16="http://schemas.microsoft.com/office/drawing/2014/main" id="{D1040E55-DA85-443B-B323-DB04C601C347}"/>
              </a:ext>
            </a:extLst>
          </p:cNvPr>
          <p:cNvSpPr>
            <a:spLocks xmlns:a="http://schemas.openxmlformats.org/drawingml/2006/main" noGrp="1"/>
          </p:cNvSpPr>
          <p:nvPr/>
        </p:nvSpPr>
        <p:spPr>
          <a:xfrm xmlns:a="http://schemas.openxmlformats.org/drawingml/2006/main">
            <a:off x="190500" y="3619500"/>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176578"/>
                </a:solidFill>
                <a:latin typeface="DejaVu Sans"/>
                <a:ea typeface="DejaVu Sans"/>
                <a:cs typeface="DejaVu Sans"/>
              </a:defRPr>
            </a:defPPr>
          </a:lstStyle>
          <a:p xmlns:a="http://schemas.openxmlformats.org/drawingml/2006/main">
            <a:pPr algn="l">
              <a:defRPr sz="788" b="1">
                <a:solidFill>
                  <a:srgbClr val="176578"/>
                </a:solidFill>
                <a:latin typeface="DejaVu Sans"/>
                <a:ea typeface="DejaVu Sans"/>
                <a:cs typeface="DejaVu Sans"/>
              </a:defRPr>
            </a:pPr>
            <a:r>
              <a:rPr sz="788" b="1">
                <a:solidFill>
                  <a:srgbClr val="176578"/>
                </a:solidFill>
                <a:latin typeface="DejaVu Sans"/>
                <a:ea typeface="DejaVu Sans"/>
                <a:cs typeface="DejaVu Sans"/>
              </a:rPr>
              <a:t>With Certified Expertise in Feedback / PID</a:t>
            </a:r>
          </a:p>
        </p:txBody>
      </p:sp>
      <p:sp>
        <p:nvSpPr>
          <p:cNvPr id="20" name="With certification rule">
            <a:extLst xmlns:a="http://schemas.openxmlformats.org/drawingml/2006/main">
              <a:ext uri="{FF2B5EF4-FFF2-40B4-BE49-F238E27FC236}">
                <a16:creationId xmlns:a16="http://schemas.microsoft.com/office/drawing/2014/main" id="{95EA1FD1-7A06-4E81-A901-9631F53F7FD6}"/>
              </a:ext>
            </a:extLst>
          </p:cNvPr>
          <p:cNvSpPr>
            <a:spLocks xmlns:a="http://schemas.openxmlformats.org/drawingml/2006/main" noGrp="1"/>
          </p:cNvSpPr>
          <p:nvPr/>
        </p:nvSpPr>
        <p:spPr>
          <a:xfrm xmlns:a="http://schemas.openxmlformats.org/drawingml/2006/main">
            <a:off x="190500" y="3829050"/>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may apply without Recent Work. Recent Work from ANY topic can count. Your expertise badge is permanent.</a:t>
            </a:r>
          </a:p>
        </p:txBody>
      </p:sp>
      <p:sp>
        <p:nvSpPr>
          <p:cNvPr id="21" name="Footer divider">
            <a:extLst xmlns:a="http://schemas.openxmlformats.org/drawingml/2006/main">
              <a:ext uri="{FF2B5EF4-FFF2-40B4-BE49-F238E27FC236}">
                <a16:creationId xmlns:a16="http://schemas.microsoft.com/office/drawing/2014/main" id="{9753EB2B-0FB2-45B2-B2C6-D6B4765E4739}"/>
              </a:ext>
            </a:extLst>
          </p:cNvPr>
          <p:cNvSpPr>
            <a:spLocks xmlns:a="http://schemas.openxmlformats.org/drawingml/2006/main" noGrp="1"/>
          </p:cNvSpPr>
          <p:nvPr/>
        </p:nvSpPr>
        <p:spPr>
          <a:xfrm xmlns:a="http://schemas.openxmlformats.org/drawingml/2006/main">
            <a:off x="190500" y="4286250"/>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22" name="Recent Work cap">
            <a:extLst xmlns:a="http://schemas.openxmlformats.org/drawingml/2006/main">
              <a:ext uri="{FF2B5EF4-FFF2-40B4-BE49-F238E27FC236}">
                <a16:creationId xmlns:a16="http://schemas.microsoft.com/office/drawing/2014/main" id="{27FD3DA2-3AA6-49BD-A32D-9B0D78FEADC0}"/>
              </a:ext>
            </a:extLst>
          </p:cNvPr>
          <p:cNvSpPr>
            <a:spLocks xmlns:a="http://schemas.openxmlformats.org/drawingml/2006/main" noGrp="1"/>
          </p:cNvSpPr>
          <p:nvPr/>
        </p:nvSpPr>
        <p:spPr>
          <a:xfrm xmlns:a="http://schemas.openxmlformats.org/drawingml/2006/main">
            <a:off x="190500" y="4371975"/>
            <a:ext cx="28194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192936"/>
                </a:solidFill>
                <a:latin typeface="DejaVu Sans"/>
                <a:ea typeface="DejaVu Sans"/>
                <a:cs typeface="DejaVu Sans"/>
              </a:defRPr>
            </a:defPPr>
          </a:lstStyle>
          <a:p xmlns:a="http://schemas.openxmlformats.org/drawingml/2006/main">
            <a:pPr algn="l">
              <a:defRPr sz="788" b="1">
                <a:solidFill>
                  <a:srgbClr val="192936"/>
                </a:solidFill>
                <a:latin typeface="DejaVu Sans"/>
                <a:ea typeface="DejaVu Sans"/>
                <a:cs typeface="DejaVu Sans"/>
              </a:defRPr>
            </a:pPr>
            <a:r>
              <a:rPr sz="788" b="1">
                <a:solidFill>
                  <a:srgbClr val="192936"/>
                </a:solidFill>
                <a:latin typeface="DejaVu Sans"/>
                <a:ea typeface="DejaVu Sans"/>
                <a:cs typeface="DejaVu Sans"/>
              </a:rPr>
              <a:t>Count at most 3 Recent Work tokens.</a:t>
            </a:r>
          </a:p>
        </p:txBody>
      </p:sp>
    </p:spTree>
    <p:extLst>
      <p:ext uri="{BB962C8B-B14F-4D97-AF65-F5344CB8AC3E}">
        <p14:creationId xmlns:p14="http://schemas.microsoft.com/office/powerpoint/2010/main" val="46198770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Card border">
            <a:extLst xmlns:a="http://schemas.openxmlformats.org/drawingml/2006/main">
              <a:ext uri="{FF2B5EF4-FFF2-40B4-BE49-F238E27FC236}">
                <a16:creationId xmlns:a16="http://schemas.microsoft.com/office/drawing/2014/main" id="{71FF1C31-7BA5-45C0-8861-E75DF29523D8}"/>
              </a:ext>
            </a:extLst>
          </p:cNvPr>
          <p:cNvSpPr>
            <a:spLocks xmlns:a="http://schemas.openxmlformats.org/drawingml/2006/main" noGrp="1"/>
          </p:cNvSpPr>
          <p:nvPr/>
        </p:nvSpPr>
        <p:spPr>
          <a:xfrm xmlns:a="http://schemas.openxmlformats.org/drawingml/2006/main">
            <a:off x="9525" y="9525"/>
            <a:ext cx="3181350" cy="4552950"/>
          </a:xfrm>
          <a:prstGeom xmlns:a="http://schemas.openxmlformats.org/drawingml/2006/main" prst="rect">
            <a:avLst/>
          </a:prstGeom>
          <a:noFill xmlns:a="http://schemas.openxmlformats.org/drawingml/2006/main"/>
          <a:ln xmlns:a="http://schemas.openxmlformats.org/drawingml/2006/main" w="9525">
            <a:solidFill>
              <a:srgbClr val="D0D5D8"/>
            </a:solidFill>
          </a:ln>
        </p:spPr>
      </p:sp>
      <p:sp>
        <p:nvSpPr>
          <p:cNvPr id="2" name="Topic color band">
            <a:extLst xmlns:a="http://schemas.openxmlformats.org/drawingml/2006/main">
              <a:ext uri="{FF2B5EF4-FFF2-40B4-BE49-F238E27FC236}">
                <a16:creationId xmlns:a16="http://schemas.microsoft.com/office/drawing/2014/main" id="{884B59AE-CF99-46A6-A64B-FE7348F24BD3}"/>
              </a:ext>
            </a:extLst>
          </p:cNvPr>
          <p:cNvSpPr>
            <a:spLocks xmlns:a="http://schemas.openxmlformats.org/drawingml/2006/main" noGrp="1"/>
          </p:cNvSpPr>
          <p:nvPr/>
        </p:nvSpPr>
        <p:spPr>
          <a:xfrm xmlns:a="http://schemas.openxmlformats.org/drawingml/2006/main">
            <a:off x="9525" y="9525"/>
            <a:ext cx="3181350" cy="400050"/>
          </a:xfrm>
          <a:prstGeom xmlns:a="http://schemas.openxmlformats.org/drawingml/2006/main" prst="rect">
            <a:avLst/>
          </a:prstGeom>
          <a:solidFill xmlns:a="http://schemas.openxmlformats.org/drawingml/2006/main">
            <a:srgbClr val="87521B"/>
          </a:solidFill>
          <a:ln xmlns:a="http://schemas.openxmlformats.org/drawingml/2006/main" w="0">
            <a:noFill/>
          </a:ln>
        </p:spPr>
      </p:sp>
      <p:sp>
        <p:nvSpPr>
          <p:cNvPr id="3" name="Game name">
            <a:extLst xmlns:a="http://schemas.openxmlformats.org/drawingml/2006/main">
              <a:ext uri="{FF2B5EF4-FFF2-40B4-BE49-F238E27FC236}">
                <a16:creationId xmlns:a16="http://schemas.microsoft.com/office/drawing/2014/main" id="{71C086DA-E7CE-4F28-B5C9-67D613B87955}"/>
              </a:ext>
            </a:extLst>
          </p:cNvPr>
          <p:cNvSpPr>
            <a:spLocks xmlns:a="http://schemas.openxmlformats.org/drawingml/2006/main" noGrp="1"/>
          </p:cNvSpPr>
          <p:nvPr/>
        </p:nvSpPr>
        <p:spPr>
          <a:xfrm xmlns:a="http://schemas.openxmlformats.org/drawingml/2006/main">
            <a:off x="190500" y="133350"/>
            <a:ext cx="1943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FFFFFF"/>
                </a:solidFill>
                <a:latin typeface="DejaVu Sans"/>
                <a:ea typeface="DejaVu Sans"/>
                <a:cs typeface="DejaVu Sans"/>
              </a:defRPr>
            </a:defPPr>
          </a:lstStyle>
          <a:p xmlns:a="http://schemas.openxmlformats.org/drawingml/2006/main">
            <a:pPr algn="l">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GRANT CONTROL</a:t>
            </a:r>
          </a:p>
        </p:txBody>
      </p:sp>
      <p:sp>
        <p:nvSpPr>
          <p:cNvPr id="4" name="Card identifier">
            <a:extLst xmlns:a="http://schemas.openxmlformats.org/drawingml/2006/main">
              <a:ext uri="{FF2B5EF4-FFF2-40B4-BE49-F238E27FC236}">
                <a16:creationId xmlns:a16="http://schemas.microsoft.com/office/drawing/2014/main" id="{3FC71C7D-8265-4BCF-A0B2-E348B62E9763}"/>
              </a:ext>
            </a:extLst>
          </p:cNvPr>
          <p:cNvSpPr>
            <a:spLocks xmlns:a="http://schemas.openxmlformats.org/drawingml/2006/main" noGrp="1"/>
          </p:cNvSpPr>
          <p:nvPr/>
        </p:nvSpPr>
        <p:spPr>
          <a:xfrm xmlns:a="http://schemas.openxmlformats.org/drawingml/2006/main">
            <a:off x="2371725" y="142875"/>
            <a:ext cx="6381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788" b="1">
                <a:solidFill>
                  <a:srgbClr val="FFFFFF"/>
                </a:solidFill>
                <a:latin typeface="DejaVu Sans"/>
                <a:ea typeface="DejaVu Sans"/>
                <a:cs typeface="DejaVu Sans"/>
              </a:defRPr>
            </a:defPPr>
          </a:lstStyle>
          <a:p xmlns:a="http://schemas.openxmlformats.org/drawingml/2006/main">
            <a:pPr algn="r">
              <a:defRPr sz="788" b="1">
                <a:solidFill>
                  <a:srgbClr val="FFFFFF"/>
                </a:solidFill>
                <a:latin typeface="DejaVu Sans"/>
                <a:ea typeface="DejaVu Sans"/>
                <a:cs typeface="DejaVu Sans"/>
              </a:defRPr>
            </a:pPr>
            <a:r>
              <a:rPr sz="788" b="1">
                <a:solidFill>
                  <a:srgbClr val="FFFFFF"/>
                </a:solidFill>
                <a:latin typeface="DejaVu Sans"/>
                <a:ea typeface="DejaVu Sans"/>
                <a:cs typeface="DejaVu Sans"/>
              </a:rPr>
              <a:t>STA-01</a:t>
            </a:r>
          </a:p>
        </p:txBody>
      </p:sp>
      <p:sp>
        <p:nvSpPr>
          <p:cNvPr id="5" name="Card category">
            <a:extLst xmlns:a="http://schemas.openxmlformats.org/drawingml/2006/main">
              <a:ext uri="{FF2B5EF4-FFF2-40B4-BE49-F238E27FC236}">
                <a16:creationId xmlns:a16="http://schemas.microsoft.com/office/drawing/2014/main" id="{D2998793-0B6E-4A61-943C-6649AB4DB00F}"/>
              </a:ext>
            </a:extLst>
          </p:cNvPr>
          <p:cNvSpPr>
            <a:spLocks xmlns:a="http://schemas.openxmlformats.org/drawingml/2006/main" noGrp="1"/>
          </p:cNvSpPr>
          <p:nvPr/>
        </p:nvSpPr>
        <p:spPr>
          <a:xfrm xmlns:a="http://schemas.openxmlformats.org/drawingml/2006/main">
            <a:off x="190500" y="523875"/>
            <a:ext cx="2800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87521B"/>
                </a:solidFill>
                <a:latin typeface="DejaVu Sans"/>
                <a:ea typeface="DejaVu Sans"/>
                <a:cs typeface="DejaVu Sans"/>
              </a:defRPr>
            </a:defPPr>
          </a:lstStyle>
          <a:p xmlns:a="http://schemas.openxmlformats.org/drawingml/2006/main">
            <a:pPr algn="l">
              <a:defRPr sz="788" b="1">
                <a:solidFill>
                  <a:srgbClr val="87521B"/>
                </a:solidFill>
                <a:latin typeface="DejaVu Sans"/>
                <a:ea typeface="DejaVu Sans"/>
                <a:cs typeface="DejaVu Sans"/>
              </a:defRPr>
            </a:pPr>
            <a:r>
              <a:rPr sz="788" b="1">
                <a:solidFill>
                  <a:srgbClr val="87521B"/>
                </a:solidFill>
                <a:latin typeface="DejaVu Sans"/>
                <a:ea typeface="DejaVu Sans"/>
                <a:cs typeface="DejaVu Sans"/>
              </a:rPr>
              <a:t>FUNDING CALL</a:t>
            </a:r>
          </a:p>
        </p:txBody>
      </p:sp>
      <p:sp>
        <p:nvSpPr>
          <p:cNvPr id="6" name="Primary topic">
            <a:extLst xmlns:a="http://schemas.openxmlformats.org/drawingml/2006/main">
              <a:ext uri="{FF2B5EF4-FFF2-40B4-BE49-F238E27FC236}">
                <a16:creationId xmlns:a16="http://schemas.microsoft.com/office/drawing/2014/main" id="{499341B7-5314-4EA6-9653-E66346956DC9}"/>
              </a:ext>
            </a:extLst>
          </p:cNvPr>
          <p:cNvSpPr>
            <a:spLocks xmlns:a="http://schemas.openxmlformats.org/drawingml/2006/main" noGrp="1"/>
          </p:cNvSpPr>
          <p:nvPr/>
        </p:nvSpPr>
        <p:spPr>
          <a:xfrm xmlns:a="http://schemas.openxmlformats.org/drawingml/2006/main">
            <a:off x="190500" y="733425"/>
            <a:ext cx="2819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87521B"/>
                </a:solidFill>
                <a:latin typeface="DejaVu Sans"/>
                <a:ea typeface="DejaVu Sans"/>
                <a:cs typeface="DejaVu Sans"/>
              </a:defRPr>
            </a:defPPr>
          </a:lstStyle>
          <a:p xmlns:a="http://schemas.openxmlformats.org/drawingml/2006/main">
            <a:pPr algn="l">
              <a:defRPr sz="975" b="1">
                <a:solidFill>
                  <a:srgbClr val="87521B"/>
                </a:solidFill>
                <a:latin typeface="DejaVu Sans"/>
                <a:ea typeface="DejaVu Sans"/>
                <a:cs typeface="DejaVu Sans"/>
              </a:defRPr>
            </a:pPr>
            <a:r>
              <a:rPr sz="975" b="1">
                <a:solidFill>
                  <a:srgbClr val="87521B"/>
                </a:solidFill>
                <a:latin typeface="DejaVu Sans"/>
                <a:ea typeface="DejaVu Sans"/>
                <a:cs typeface="DejaVu Sans"/>
              </a:rPr>
              <a:t>Stability</a:t>
            </a:r>
          </a:p>
        </p:txBody>
      </p:sp>
      <p:sp>
        <p:nvSpPr>
          <p:cNvPr id="7" name="Call title">
            <a:extLst xmlns:a="http://schemas.openxmlformats.org/drawingml/2006/main">
              <a:ext uri="{FF2B5EF4-FFF2-40B4-BE49-F238E27FC236}">
                <a16:creationId xmlns:a16="http://schemas.microsoft.com/office/drawing/2014/main" id="{8EFC43D7-F69F-4E1A-A33A-F7BB5A0F2571}"/>
              </a:ext>
            </a:extLst>
          </p:cNvPr>
          <p:cNvSpPr>
            <a:spLocks xmlns:a="http://schemas.openxmlformats.org/drawingml/2006/main" noGrp="1"/>
          </p:cNvSpPr>
          <p:nvPr/>
        </p:nvSpPr>
        <p:spPr>
          <a:xfrm xmlns:a="http://schemas.openxmlformats.org/drawingml/2006/main">
            <a:off x="190500" y="1028700"/>
            <a:ext cx="281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92936"/>
                </a:solidFill>
                <a:latin typeface="DejaVu Sans"/>
                <a:ea typeface="DejaVu Sans"/>
                <a:cs typeface="DejaVu Sans"/>
              </a:defRPr>
            </a:defPPr>
          </a:lstStyle>
          <a:p xmlns:a="http://schemas.openxmlformats.org/drawingml/2006/main">
            <a:pPr algn="l">
              <a:defRPr sz="1500" b="1">
                <a:solidFill>
                  <a:srgbClr val="192936"/>
                </a:solidFill>
                <a:latin typeface="DejaVu Sans"/>
                <a:ea typeface="DejaVu Sans"/>
                <a:cs typeface="DejaVu Sans"/>
              </a:defRPr>
            </a:pPr>
            <a:r>
              <a:rPr sz="1500" b="1">
                <a:solidFill>
                  <a:srgbClr val="192936"/>
                </a:solidFill>
                <a:latin typeface="DejaVu Sans"/>
                <a:ea typeface="DejaVu Sans"/>
                <a:cs typeface="DejaVu Sans"/>
              </a:rPr>
              <a:t>Stability of Nonlinear Systems</a:t>
            </a:r>
          </a:p>
        </p:txBody>
      </p:sp>
      <p:sp>
        <p:nvSpPr>
          <p:cNvPr id="8" name="Research scope">
            <a:extLst xmlns:a="http://schemas.openxmlformats.org/drawingml/2006/main">
              <a:ext uri="{FF2B5EF4-FFF2-40B4-BE49-F238E27FC236}">
                <a16:creationId xmlns:a16="http://schemas.microsoft.com/office/drawing/2014/main" id="{B378125F-E5EA-4A55-B29F-9649891071AC}"/>
              </a:ext>
            </a:extLst>
          </p:cNvPr>
          <p:cNvSpPr>
            <a:spLocks xmlns:a="http://schemas.openxmlformats.org/drawingml/2006/main" noGrp="1"/>
          </p:cNvSpPr>
          <p:nvPr/>
        </p:nvSpPr>
        <p:spPr>
          <a:xfrm xmlns:a="http://schemas.openxmlformats.org/drawingml/2006/main">
            <a:off x="190500" y="1628775"/>
            <a:ext cx="2819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0">
                <a:solidFill>
                  <a:srgbClr val="52616A"/>
                </a:solidFill>
                <a:latin typeface="DejaVu Sans"/>
                <a:ea typeface="DejaVu Sans"/>
                <a:cs typeface="DejaVu Sans"/>
              </a:defRPr>
            </a:defPPr>
          </a:lstStyle>
          <a:p xmlns:a="http://schemas.openxmlformats.org/drawingml/2006/main">
            <a:pPr algn="l">
              <a:defRPr sz="825" b="0">
                <a:solidFill>
                  <a:srgbClr val="52616A"/>
                </a:solidFill>
                <a:latin typeface="DejaVu Sans"/>
                <a:ea typeface="DejaVu Sans"/>
                <a:cs typeface="DejaVu Sans"/>
              </a:defRPr>
            </a:pPr>
            <a:r>
              <a:rPr sz="825" b="0">
                <a:solidFill>
                  <a:srgbClr val="52616A"/>
                </a:solidFill>
                <a:latin typeface="DejaVu Sans"/>
                <a:ea typeface="DejaVu Sans"/>
                <a:cs typeface="DejaVu Sans"/>
              </a:rPr>
              <a:t>Establish stability guarantees for a nonlinear dynamical system. The call supports Lyapunov analysis with clearly stated assumptions.</a:t>
            </a:r>
          </a:p>
        </p:txBody>
      </p:sp>
      <p:sp>
        <p:nvSpPr>
          <p:cNvPr id="9" name="Statistics divider">
            <a:extLst xmlns:a="http://schemas.openxmlformats.org/drawingml/2006/main">
              <a:ext uri="{FF2B5EF4-FFF2-40B4-BE49-F238E27FC236}">
                <a16:creationId xmlns:a16="http://schemas.microsoft.com/office/drawing/2014/main" id="{B285FF9B-EB33-45A5-8471-347BB2427F22}"/>
              </a:ext>
            </a:extLst>
          </p:cNvPr>
          <p:cNvSpPr>
            <a:spLocks xmlns:a="http://schemas.openxmlformats.org/drawingml/2006/main" noGrp="1"/>
          </p:cNvSpPr>
          <p:nvPr/>
        </p:nvSpPr>
        <p:spPr>
          <a:xfrm xmlns:a="http://schemas.openxmlformats.org/drawingml/2006/main">
            <a:off x="190500" y="216217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0" name="Funding award label">
            <a:extLst xmlns:a="http://schemas.openxmlformats.org/drawingml/2006/main">
              <a:ext uri="{FF2B5EF4-FFF2-40B4-BE49-F238E27FC236}">
                <a16:creationId xmlns:a16="http://schemas.microsoft.com/office/drawing/2014/main" id="{89CAA098-6D4C-4C0B-B983-1F246243E60D}"/>
              </a:ext>
            </a:extLst>
          </p:cNvPr>
          <p:cNvSpPr>
            <a:spLocks xmlns:a="http://schemas.openxmlformats.org/drawingml/2006/main" noGrp="1"/>
          </p:cNvSpPr>
          <p:nvPr/>
        </p:nvSpPr>
        <p:spPr>
          <a:xfrm xmlns:a="http://schemas.openxmlformats.org/drawingml/2006/main">
            <a:off x="190500"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FUNDING AWARD</a:t>
            </a:r>
          </a:p>
        </p:txBody>
      </p:sp>
      <p:sp>
        <p:nvSpPr>
          <p:cNvPr id="11" name="Gray cube label">
            <a:extLst xmlns:a="http://schemas.openxmlformats.org/drawingml/2006/main">
              <a:ext uri="{FF2B5EF4-FFF2-40B4-BE49-F238E27FC236}">
                <a16:creationId xmlns:a16="http://schemas.microsoft.com/office/drawing/2014/main" id="{0F1C68F4-5C9E-480E-8490-1CBDF5F9E894}"/>
              </a:ext>
            </a:extLst>
          </p:cNvPr>
          <p:cNvSpPr>
            <a:spLocks xmlns:a="http://schemas.openxmlformats.org/drawingml/2006/main" noGrp="1"/>
          </p:cNvSpPr>
          <p:nvPr/>
        </p:nvSpPr>
        <p:spPr>
          <a:xfrm xmlns:a="http://schemas.openxmlformats.org/drawingml/2006/main">
            <a:off x="1685925"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OUTSIDE / NO-AWARD</a:t>
            </a:r>
          </a:p>
        </p:txBody>
      </p:sp>
      <p:sp>
        <p:nvSpPr>
          <p:cNvPr id="12" name="Funding award value">
            <a:extLst xmlns:a="http://schemas.openxmlformats.org/drawingml/2006/main">
              <a:ext uri="{FF2B5EF4-FFF2-40B4-BE49-F238E27FC236}">
                <a16:creationId xmlns:a16="http://schemas.microsoft.com/office/drawing/2014/main" id="{50D2A9D6-55FC-4761-A00D-D97CA407C756}"/>
              </a:ext>
            </a:extLst>
          </p:cNvPr>
          <p:cNvSpPr>
            <a:spLocks xmlns:a="http://schemas.openxmlformats.org/drawingml/2006/main" noGrp="1"/>
          </p:cNvSpPr>
          <p:nvPr/>
        </p:nvSpPr>
        <p:spPr>
          <a:xfrm xmlns:a="http://schemas.openxmlformats.org/drawingml/2006/main">
            <a:off x="190500"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87521B"/>
                </a:solidFill>
                <a:latin typeface="DejaVu Sans"/>
                <a:ea typeface="DejaVu Sans"/>
                <a:cs typeface="DejaVu Sans"/>
              </a:defRPr>
            </a:defPPr>
          </a:lstStyle>
          <a:p xmlns:a="http://schemas.openxmlformats.org/drawingml/2006/main">
            <a:pPr algn="l">
              <a:defRPr sz="2100" b="1">
                <a:solidFill>
                  <a:srgbClr val="87521B"/>
                </a:solidFill>
                <a:latin typeface="DejaVu Sans"/>
                <a:ea typeface="DejaVu Sans"/>
                <a:cs typeface="DejaVu Sans"/>
              </a:defRPr>
            </a:pPr>
            <a:r>
              <a:rPr sz="2100" b="1">
                <a:solidFill>
                  <a:srgbClr val="87521B"/>
                </a:solidFill>
                <a:latin typeface="DejaVu Sans"/>
                <a:ea typeface="DejaVu Sans"/>
                <a:cs typeface="DejaVu Sans"/>
              </a:rPr>
              <a:t>4</a:t>
            </a:r>
          </a:p>
        </p:txBody>
      </p:sp>
      <p:sp>
        <p:nvSpPr>
          <p:cNvPr id="13" name="Funding award unit">
            <a:extLst xmlns:a="http://schemas.openxmlformats.org/drawingml/2006/main">
              <a:ext uri="{FF2B5EF4-FFF2-40B4-BE49-F238E27FC236}">
                <a16:creationId xmlns:a16="http://schemas.microsoft.com/office/drawing/2014/main" id="{65BC9F10-7F07-4EA3-8CCE-23E78E8D7E83}"/>
              </a:ext>
            </a:extLst>
          </p:cNvPr>
          <p:cNvSpPr>
            <a:spLocks xmlns:a="http://schemas.openxmlformats.org/drawingml/2006/main" noGrp="1"/>
          </p:cNvSpPr>
          <p:nvPr/>
        </p:nvSpPr>
        <p:spPr>
          <a:xfrm xmlns:a="http://schemas.openxmlformats.org/drawingml/2006/main">
            <a:off x="600075" y="2543175"/>
            <a:ext cx="904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192936"/>
                </a:solidFill>
                <a:latin typeface="DejaVu Sans"/>
                <a:ea typeface="DejaVu Sans"/>
                <a:cs typeface="DejaVu Sans"/>
              </a:defRPr>
            </a:defPPr>
          </a:lstStyle>
          <a:p xmlns:a="http://schemas.openxmlformats.org/drawingml/2006/main">
            <a:pPr algn="l">
              <a:defRPr sz="900" b="1">
                <a:solidFill>
                  <a:srgbClr val="192936"/>
                </a:solidFill>
                <a:latin typeface="DejaVu Sans"/>
                <a:ea typeface="DejaVu Sans"/>
                <a:cs typeface="DejaVu Sans"/>
              </a:defRPr>
            </a:pPr>
            <a:r>
              <a:rPr sz="900" b="1">
                <a:solidFill>
                  <a:srgbClr val="192936"/>
                </a:solidFill>
                <a:latin typeface="DejaVu Sans"/>
                <a:ea typeface="DejaVu Sans"/>
                <a:cs typeface="DejaVu Sans"/>
              </a:rPr>
              <a:t>Funding</a:t>
            </a:r>
          </a:p>
        </p:txBody>
      </p:sp>
      <p:sp>
        <p:nvSpPr>
          <p:cNvPr id="14" name="Gray cube value">
            <a:extLst xmlns:a="http://schemas.openxmlformats.org/drawingml/2006/main">
              <a:ext uri="{FF2B5EF4-FFF2-40B4-BE49-F238E27FC236}">
                <a16:creationId xmlns:a16="http://schemas.microsoft.com/office/drawing/2014/main" id="{3B80003B-D38B-4D6D-8ED7-83AE2DF07B9D}"/>
              </a:ext>
            </a:extLst>
          </p:cNvPr>
          <p:cNvSpPr>
            <a:spLocks xmlns:a="http://schemas.openxmlformats.org/drawingml/2006/main" noGrp="1"/>
          </p:cNvSpPr>
          <p:nvPr/>
        </p:nvSpPr>
        <p:spPr>
          <a:xfrm xmlns:a="http://schemas.openxmlformats.org/drawingml/2006/main">
            <a:off x="1685925"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2616A"/>
                </a:solidFill>
                <a:latin typeface="DejaVu Sans"/>
                <a:ea typeface="DejaVu Sans"/>
                <a:cs typeface="DejaVu Sans"/>
              </a:defRPr>
            </a:defPPr>
          </a:lstStyle>
          <a:p xmlns:a="http://schemas.openxmlformats.org/drawingml/2006/main">
            <a:pPr algn="l">
              <a:defRPr sz="2100" b="1">
                <a:solidFill>
                  <a:srgbClr val="52616A"/>
                </a:solidFill>
                <a:latin typeface="DejaVu Sans"/>
                <a:ea typeface="DejaVu Sans"/>
                <a:cs typeface="DejaVu Sans"/>
              </a:defRPr>
            </a:pPr>
            <a:r>
              <a:rPr sz="2100" b="1">
                <a:solidFill>
                  <a:srgbClr val="52616A"/>
                </a:solidFill>
                <a:latin typeface="DejaVu Sans"/>
                <a:ea typeface="DejaVu Sans"/>
                <a:cs typeface="DejaVu Sans"/>
              </a:rPr>
              <a:t>3</a:t>
            </a:r>
          </a:p>
        </p:txBody>
      </p:sp>
      <p:sp>
        <p:nvSpPr>
          <p:cNvPr id="15" name="Gray cube unit">
            <a:extLst xmlns:a="http://schemas.openxmlformats.org/drawingml/2006/main">
              <a:ext uri="{FF2B5EF4-FFF2-40B4-BE49-F238E27FC236}">
                <a16:creationId xmlns:a16="http://schemas.microsoft.com/office/drawing/2014/main" id="{A56A79BE-F6D1-4229-A8F0-CACD787212CA}"/>
              </a:ext>
            </a:extLst>
          </p:cNvPr>
          <p:cNvSpPr>
            <a:spLocks xmlns:a="http://schemas.openxmlformats.org/drawingml/2006/main" noGrp="1"/>
          </p:cNvSpPr>
          <p:nvPr/>
        </p:nvSpPr>
        <p:spPr>
          <a:xfrm xmlns:a="http://schemas.openxmlformats.org/drawingml/2006/main">
            <a:off x="2095500" y="2543175"/>
            <a:ext cx="914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1">
                <a:solidFill>
                  <a:srgbClr val="52616A"/>
                </a:solidFill>
                <a:latin typeface="DejaVu Sans"/>
                <a:ea typeface="DejaVu Sans"/>
                <a:cs typeface="DejaVu Sans"/>
              </a:defRPr>
            </a:defPPr>
          </a:lstStyle>
          <a:p xmlns:a="http://schemas.openxmlformats.org/drawingml/2006/main">
            <a:pPr algn="l">
              <a:defRPr sz="863" b="1">
                <a:solidFill>
                  <a:srgbClr val="52616A"/>
                </a:solidFill>
                <a:latin typeface="DejaVu Sans"/>
                <a:ea typeface="DejaVu Sans"/>
                <a:cs typeface="DejaVu Sans"/>
              </a:defRPr>
            </a:pPr>
            <a:r>
              <a:rPr sz="863" b="1">
                <a:solidFill>
                  <a:srgbClr val="52616A"/>
                </a:solidFill>
                <a:latin typeface="DejaVu Sans"/>
                <a:ea typeface="DejaVu Sans"/>
                <a:cs typeface="DejaVu Sans"/>
              </a:rPr>
              <a:t>gray cubes</a:t>
            </a:r>
          </a:p>
        </p:txBody>
      </p:sp>
      <p:sp>
        <p:nvSpPr>
          <p:cNvPr id="16" name="Eligibility divider">
            <a:extLst xmlns:a="http://schemas.openxmlformats.org/drawingml/2006/main">
              <a:ext uri="{FF2B5EF4-FFF2-40B4-BE49-F238E27FC236}">
                <a16:creationId xmlns:a16="http://schemas.microsoft.com/office/drawing/2014/main" id="{33311B39-5763-4494-92B3-5B36210B8024}"/>
              </a:ext>
            </a:extLst>
          </p:cNvPr>
          <p:cNvSpPr>
            <a:spLocks xmlns:a="http://schemas.openxmlformats.org/drawingml/2006/main" noGrp="1"/>
          </p:cNvSpPr>
          <p:nvPr/>
        </p:nvSpPr>
        <p:spPr>
          <a:xfrm xmlns:a="http://schemas.openxmlformats.org/drawingml/2006/main">
            <a:off x="190500" y="282892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7" name="Without certification heading">
            <a:extLst xmlns:a="http://schemas.openxmlformats.org/drawingml/2006/main">
              <a:ext uri="{FF2B5EF4-FFF2-40B4-BE49-F238E27FC236}">
                <a16:creationId xmlns:a16="http://schemas.microsoft.com/office/drawing/2014/main" id="{2B4A0252-CDF5-4142-9F19-F6E337F21C38}"/>
              </a:ext>
            </a:extLst>
          </p:cNvPr>
          <p:cNvSpPr>
            <a:spLocks xmlns:a="http://schemas.openxmlformats.org/drawingml/2006/main" noGrp="1"/>
          </p:cNvSpPr>
          <p:nvPr/>
        </p:nvSpPr>
        <p:spPr>
          <a:xfrm xmlns:a="http://schemas.openxmlformats.org/drawingml/2006/main">
            <a:off x="190500" y="2943225"/>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1">
                <a:solidFill>
                  <a:srgbClr val="87521B"/>
                </a:solidFill>
                <a:latin typeface="DejaVu Sans"/>
                <a:ea typeface="DejaVu Sans"/>
                <a:cs typeface="DejaVu Sans"/>
              </a:defRPr>
            </a:defPPr>
          </a:lstStyle>
          <a:p xmlns:a="http://schemas.openxmlformats.org/drawingml/2006/main">
            <a:pPr algn="l">
              <a:defRPr sz="825" b="1">
                <a:solidFill>
                  <a:srgbClr val="87521B"/>
                </a:solidFill>
                <a:latin typeface="DejaVu Sans"/>
                <a:ea typeface="DejaVu Sans"/>
                <a:cs typeface="DejaVu Sans"/>
              </a:defRPr>
            </a:pPr>
            <a:r>
              <a:rPr sz="825" b="1">
                <a:solidFill>
                  <a:srgbClr val="87521B"/>
                </a:solidFill>
                <a:latin typeface="DejaVu Sans"/>
                <a:ea typeface="DejaVu Sans"/>
                <a:cs typeface="DejaVu Sans"/>
              </a:rPr>
              <a:t>No Certified Expertise in Stability</a:t>
            </a:r>
          </a:p>
        </p:txBody>
      </p:sp>
      <p:sp>
        <p:nvSpPr>
          <p:cNvPr id="18" name="Without certification rule">
            <a:extLst xmlns:a="http://schemas.openxmlformats.org/drawingml/2006/main">
              <a:ext uri="{FF2B5EF4-FFF2-40B4-BE49-F238E27FC236}">
                <a16:creationId xmlns:a16="http://schemas.microsoft.com/office/drawing/2014/main" id="{5DECA2AD-49D7-4860-B721-0697835AA4F2}"/>
              </a:ext>
            </a:extLst>
          </p:cNvPr>
          <p:cNvSpPr>
            <a:spLocks xmlns:a="http://schemas.openxmlformats.org/drawingml/2006/main" noGrp="1"/>
          </p:cNvSpPr>
          <p:nvPr/>
        </p:nvSpPr>
        <p:spPr>
          <a:xfrm xmlns:a="http://schemas.openxmlformats.org/drawingml/2006/main">
            <a:off x="190500" y="3152775"/>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need at least 1 Stability Recent Work token to apply. Only Stability tokens count.</a:t>
            </a:r>
          </a:p>
        </p:txBody>
      </p:sp>
      <p:sp>
        <p:nvSpPr>
          <p:cNvPr id="19" name="With certification heading">
            <a:extLst xmlns:a="http://schemas.openxmlformats.org/drawingml/2006/main">
              <a:ext uri="{FF2B5EF4-FFF2-40B4-BE49-F238E27FC236}">
                <a16:creationId xmlns:a16="http://schemas.microsoft.com/office/drawing/2014/main" id="{EC9EF89C-835E-4289-9B4A-FA6E157A8BC5}"/>
              </a:ext>
            </a:extLst>
          </p:cNvPr>
          <p:cNvSpPr>
            <a:spLocks xmlns:a="http://schemas.openxmlformats.org/drawingml/2006/main" noGrp="1"/>
          </p:cNvSpPr>
          <p:nvPr/>
        </p:nvSpPr>
        <p:spPr>
          <a:xfrm xmlns:a="http://schemas.openxmlformats.org/drawingml/2006/main">
            <a:off x="190500" y="3619500"/>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87521B"/>
                </a:solidFill>
                <a:latin typeface="DejaVu Sans"/>
                <a:ea typeface="DejaVu Sans"/>
                <a:cs typeface="DejaVu Sans"/>
              </a:defRPr>
            </a:defPPr>
          </a:lstStyle>
          <a:p xmlns:a="http://schemas.openxmlformats.org/drawingml/2006/main">
            <a:pPr algn="l">
              <a:defRPr sz="788" b="1">
                <a:solidFill>
                  <a:srgbClr val="87521B"/>
                </a:solidFill>
                <a:latin typeface="DejaVu Sans"/>
                <a:ea typeface="DejaVu Sans"/>
                <a:cs typeface="DejaVu Sans"/>
              </a:defRPr>
            </a:pPr>
            <a:r>
              <a:rPr sz="788" b="1">
                <a:solidFill>
                  <a:srgbClr val="87521B"/>
                </a:solidFill>
                <a:latin typeface="DejaVu Sans"/>
                <a:ea typeface="DejaVu Sans"/>
                <a:cs typeface="DejaVu Sans"/>
              </a:rPr>
              <a:t>With Certified Expertise in Stability</a:t>
            </a:r>
          </a:p>
        </p:txBody>
      </p:sp>
      <p:sp>
        <p:nvSpPr>
          <p:cNvPr id="20" name="With certification rule">
            <a:extLst xmlns:a="http://schemas.openxmlformats.org/drawingml/2006/main">
              <a:ext uri="{FF2B5EF4-FFF2-40B4-BE49-F238E27FC236}">
                <a16:creationId xmlns:a16="http://schemas.microsoft.com/office/drawing/2014/main" id="{BF260BE3-FA7E-45D5-8A1C-030FA6210FF3}"/>
              </a:ext>
            </a:extLst>
          </p:cNvPr>
          <p:cNvSpPr>
            <a:spLocks xmlns:a="http://schemas.openxmlformats.org/drawingml/2006/main" noGrp="1"/>
          </p:cNvSpPr>
          <p:nvPr/>
        </p:nvSpPr>
        <p:spPr>
          <a:xfrm xmlns:a="http://schemas.openxmlformats.org/drawingml/2006/main">
            <a:off x="190500" y="3829050"/>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may apply without Recent Work. Recent Work from ANY topic can count. Your expertise badge is permanent.</a:t>
            </a:r>
          </a:p>
        </p:txBody>
      </p:sp>
      <p:sp>
        <p:nvSpPr>
          <p:cNvPr id="21" name="Footer divider">
            <a:extLst xmlns:a="http://schemas.openxmlformats.org/drawingml/2006/main">
              <a:ext uri="{FF2B5EF4-FFF2-40B4-BE49-F238E27FC236}">
                <a16:creationId xmlns:a16="http://schemas.microsoft.com/office/drawing/2014/main" id="{40F2CFFA-47BA-474F-ACDC-0BD8F6695622}"/>
              </a:ext>
            </a:extLst>
          </p:cNvPr>
          <p:cNvSpPr>
            <a:spLocks xmlns:a="http://schemas.openxmlformats.org/drawingml/2006/main" noGrp="1"/>
          </p:cNvSpPr>
          <p:nvPr/>
        </p:nvSpPr>
        <p:spPr>
          <a:xfrm xmlns:a="http://schemas.openxmlformats.org/drawingml/2006/main">
            <a:off x="190500" y="4286250"/>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22" name="Recent Work cap">
            <a:extLst xmlns:a="http://schemas.openxmlformats.org/drawingml/2006/main">
              <a:ext uri="{FF2B5EF4-FFF2-40B4-BE49-F238E27FC236}">
                <a16:creationId xmlns:a16="http://schemas.microsoft.com/office/drawing/2014/main" id="{F6356EB8-1CA8-4F2A-B7DA-1C4E800688DE}"/>
              </a:ext>
            </a:extLst>
          </p:cNvPr>
          <p:cNvSpPr>
            <a:spLocks xmlns:a="http://schemas.openxmlformats.org/drawingml/2006/main" noGrp="1"/>
          </p:cNvSpPr>
          <p:nvPr/>
        </p:nvSpPr>
        <p:spPr>
          <a:xfrm xmlns:a="http://schemas.openxmlformats.org/drawingml/2006/main">
            <a:off x="190500" y="4371975"/>
            <a:ext cx="28194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192936"/>
                </a:solidFill>
                <a:latin typeface="DejaVu Sans"/>
                <a:ea typeface="DejaVu Sans"/>
                <a:cs typeface="DejaVu Sans"/>
              </a:defRPr>
            </a:defPPr>
          </a:lstStyle>
          <a:p xmlns:a="http://schemas.openxmlformats.org/drawingml/2006/main">
            <a:pPr algn="l">
              <a:defRPr sz="788" b="1">
                <a:solidFill>
                  <a:srgbClr val="192936"/>
                </a:solidFill>
                <a:latin typeface="DejaVu Sans"/>
                <a:ea typeface="DejaVu Sans"/>
                <a:cs typeface="DejaVu Sans"/>
              </a:defRPr>
            </a:pPr>
            <a:r>
              <a:rPr sz="788" b="1">
                <a:solidFill>
                  <a:srgbClr val="192936"/>
                </a:solidFill>
                <a:latin typeface="DejaVu Sans"/>
                <a:ea typeface="DejaVu Sans"/>
                <a:cs typeface="DejaVu Sans"/>
              </a:rPr>
              <a:t>Count at most 3 Recent Work tokens.</a:t>
            </a:r>
          </a:p>
        </p:txBody>
      </p:sp>
    </p:spTree>
    <p:extLst>
      <p:ext uri="{BB962C8B-B14F-4D97-AF65-F5344CB8AC3E}">
        <p14:creationId xmlns:p14="http://schemas.microsoft.com/office/powerpoint/2010/main" val="124065157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Card border">
            <a:extLst xmlns:a="http://schemas.openxmlformats.org/drawingml/2006/main">
              <a:ext uri="{FF2B5EF4-FFF2-40B4-BE49-F238E27FC236}">
                <a16:creationId xmlns:a16="http://schemas.microsoft.com/office/drawing/2014/main" id="{F1F8E93F-2E24-4060-82CB-85E6AC2EB5E4}"/>
              </a:ext>
            </a:extLst>
          </p:cNvPr>
          <p:cNvSpPr>
            <a:spLocks xmlns:a="http://schemas.openxmlformats.org/drawingml/2006/main" noGrp="1"/>
          </p:cNvSpPr>
          <p:nvPr/>
        </p:nvSpPr>
        <p:spPr>
          <a:xfrm xmlns:a="http://schemas.openxmlformats.org/drawingml/2006/main">
            <a:off x="9525" y="9525"/>
            <a:ext cx="3181350" cy="4552950"/>
          </a:xfrm>
          <a:prstGeom xmlns:a="http://schemas.openxmlformats.org/drawingml/2006/main" prst="rect">
            <a:avLst/>
          </a:prstGeom>
          <a:noFill xmlns:a="http://schemas.openxmlformats.org/drawingml/2006/main"/>
          <a:ln xmlns:a="http://schemas.openxmlformats.org/drawingml/2006/main" w="9525">
            <a:solidFill>
              <a:srgbClr val="D0D5D8"/>
            </a:solidFill>
          </a:ln>
        </p:spPr>
      </p:sp>
      <p:sp>
        <p:nvSpPr>
          <p:cNvPr id="2" name="Topic color band">
            <a:extLst xmlns:a="http://schemas.openxmlformats.org/drawingml/2006/main">
              <a:ext uri="{FF2B5EF4-FFF2-40B4-BE49-F238E27FC236}">
                <a16:creationId xmlns:a16="http://schemas.microsoft.com/office/drawing/2014/main" id="{B0F9A55C-2B85-41E0-B635-A01CF2DCD850}"/>
              </a:ext>
            </a:extLst>
          </p:cNvPr>
          <p:cNvSpPr>
            <a:spLocks xmlns:a="http://schemas.openxmlformats.org/drawingml/2006/main" noGrp="1"/>
          </p:cNvSpPr>
          <p:nvPr/>
        </p:nvSpPr>
        <p:spPr>
          <a:xfrm xmlns:a="http://schemas.openxmlformats.org/drawingml/2006/main">
            <a:off x="9525" y="9525"/>
            <a:ext cx="3181350" cy="400050"/>
          </a:xfrm>
          <a:prstGeom xmlns:a="http://schemas.openxmlformats.org/drawingml/2006/main" prst="rect">
            <a:avLst/>
          </a:prstGeom>
          <a:solidFill xmlns:a="http://schemas.openxmlformats.org/drawingml/2006/main">
            <a:srgbClr val="87521B"/>
          </a:solidFill>
          <a:ln xmlns:a="http://schemas.openxmlformats.org/drawingml/2006/main" w="0">
            <a:noFill/>
          </a:ln>
        </p:spPr>
      </p:sp>
      <p:sp>
        <p:nvSpPr>
          <p:cNvPr id="3" name="Game name">
            <a:extLst xmlns:a="http://schemas.openxmlformats.org/drawingml/2006/main">
              <a:ext uri="{FF2B5EF4-FFF2-40B4-BE49-F238E27FC236}">
                <a16:creationId xmlns:a16="http://schemas.microsoft.com/office/drawing/2014/main" id="{E4FCC42B-CB46-424F-B9F1-43FE6D907AE7}"/>
              </a:ext>
            </a:extLst>
          </p:cNvPr>
          <p:cNvSpPr>
            <a:spLocks xmlns:a="http://schemas.openxmlformats.org/drawingml/2006/main" noGrp="1"/>
          </p:cNvSpPr>
          <p:nvPr/>
        </p:nvSpPr>
        <p:spPr>
          <a:xfrm xmlns:a="http://schemas.openxmlformats.org/drawingml/2006/main">
            <a:off x="190500" y="133350"/>
            <a:ext cx="1943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FFFFFF"/>
                </a:solidFill>
                <a:latin typeface="DejaVu Sans"/>
                <a:ea typeface="DejaVu Sans"/>
                <a:cs typeface="DejaVu Sans"/>
              </a:defRPr>
            </a:defPPr>
          </a:lstStyle>
          <a:p xmlns:a="http://schemas.openxmlformats.org/drawingml/2006/main">
            <a:pPr algn="l">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GRANT CONTROL</a:t>
            </a:r>
          </a:p>
        </p:txBody>
      </p:sp>
      <p:sp>
        <p:nvSpPr>
          <p:cNvPr id="4" name="Card identifier">
            <a:extLst xmlns:a="http://schemas.openxmlformats.org/drawingml/2006/main">
              <a:ext uri="{FF2B5EF4-FFF2-40B4-BE49-F238E27FC236}">
                <a16:creationId xmlns:a16="http://schemas.microsoft.com/office/drawing/2014/main" id="{0F43669F-6205-40AF-9CF0-4943686652B1}"/>
              </a:ext>
            </a:extLst>
          </p:cNvPr>
          <p:cNvSpPr>
            <a:spLocks xmlns:a="http://schemas.openxmlformats.org/drawingml/2006/main" noGrp="1"/>
          </p:cNvSpPr>
          <p:nvPr/>
        </p:nvSpPr>
        <p:spPr>
          <a:xfrm xmlns:a="http://schemas.openxmlformats.org/drawingml/2006/main">
            <a:off x="2371725" y="142875"/>
            <a:ext cx="6381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788" b="1">
                <a:solidFill>
                  <a:srgbClr val="FFFFFF"/>
                </a:solidFill>
                <a:latin typeface="DejaVu Sans"/>
                <a:ea typeface="DejaVu Sans"/>
                <a:cs typeface="DejaVu Sans"/>
              </a:defRPr>
            </a:defPPr>
          </a:lstStyle>
          <a:p xmlns:a="http://schemas.openxmlformats.org/drawingml/2006/main">
            <a:pPr algn="r">
              <a:defRPr sz="788" b="1">
                <a:solidFill>
                  <a:srgbClr val="FFFFFF"/>
                </a:solidFill>
                <a:latin typeface="DejaVu Sans"/>
                <a:ea typeface="DejaVu Sans"/>
                <a:cs typeface="DejaVu Sans"/>
              </a:defRPr>
            </a:pPr>
            <a:r>
              <a:rPr sz="788" b="1">
                <a:solidFill>
                  <a:srgbClr val="FFFFFF"/>
                </a:solidFill>
                <a:latin typeface="DejaVu Sans"/>
                <a:ea typeface="DejaVu Sans"/>
                <a:cs typeface="DejaVu Sans"/>
              </a:rPr>
              <a:t>STA-02</a:t>
            </a:r>
          </a:p>
        </p:txBody>
      </p:sp>
      <p:sp>
        <p:nvSpPr>
          <p:cNvPr id="5" name="Card category">
            <a:extLst xmlns:a="http://schemas.openxmlformats.org/drawingml/2006/main">
              <a:ext uri="{FF2B5EF4-FFF2-40B4-BE49-F238E27FC236}">
                <a16:creationId xmlns:a16="http://schemas.microsoft.com/office/drawing/2014/main" id="{FE869665-BADE-4B89-81CB-E4A69A406403}"/>
              </a:ext>
            </a:extLst>
          </p:cNvPr>
          <p:cNvSpPr>
            <a:spLocks xmlns:a="http://schemas.openxmlformats.org/drawingml/2006/main" noGrp="1"/>
          </p:cNvSpPr>
          <p:nvPr/>
        </p:nvSpPr>
        <p:spPr>
          <a:xfrm xmlns:a="http://schemas.openxmlformats.org/drawingml/2006/main">
            <a:off x="190500" y="523875"/>
            <a:ext cx="2800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87521B"/>
                </a:solidFill>
                <a:latin typeface="DejaVu Sans"/>
                <a:ea typeface="DejaVu Sans"/>
                <a:cs typeface="DejaVu Sans"/>
              </a:defRPr>
            </a:defPPr>
          </a:lstStyle>
          <a:p xmlns:a="http://schemas.openxmlformats.org/drawingml/2006/main">
            <a:pPr algn="l">
              <a:defRPr sz="788" b="1">
                <a:solidFill>
                  <a:srgbClr val="87521B"/>
                </a:solidFill>
                <a:latin typeface="DejaVu Sans"/>
                <a:ea typeface="DejaVu Sans"/>
                <a:cs typeface="DejaVu Sans"/>
              </a:defRPr>
            </a:pPr>
            <a:r>
              <a:rPr sz="788" b="1">
                <a:solidFill>
                  <a:srgbClr val="87521B"/>
                </a:solidFill>
                <a:latin typeface="DejaVu Sans"/>
                <a:ea typeface="DejaVu Sans"/>
                <a:cs typeface="DejaVu Sans"/>
              </a:rPr>
              <a:t>FUNDING CALL</a:t>
            </a:r>
          </a:p>
        </p:txBody>
      </p:sp>
      <p:sp>
        <p:nvSpPr>
          <p:cNvPr id="6" name="Primary topic">
            <a:extLst xmlns:a="http://schemas.openxmlformats.org/drawingml/2006/main">
              <a:ext uri="{FF2B5EF4-FFF2-40B4-BE49-F238E27FC236}">
                <a16:creationId xmlns:a16="http://schemas.microsoft.com/office/drawing/2014/main" id="{DE6D66C8-8D05-46A1-B716-56A538175237}"/>
              </a:ext>
            </a:extLst>
          </p:cNvPr>
          <p:cNvSpPr>
            <a:spLocks xmlns:a="http://schemas.openxmlformats.org/drawingml/2006/main" noGrp="1"/>
          </p:cNvSpPr>
          <p:nvPr/>
        </p:nvSpPr>
        <p:spPr>
          <a:xfrm xmlns:a="http://schemas.openxmlformats.org/drawingml/2006/main">
            <a:off x="190500" y="733425"/>
            <a:ext cx="2819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87521B"/>
                </a:solidFill>
                <a:latin typeface="DejaVu Sans"/>
                <a:ea typeface="DejaVu Sans"/>
                <a:cs typeface="DejaVu Sans"/>
              </a:defRPr>
            </a:defPPr>
          </a:lstStyle>
          <a:p xmlns:a="http://schemas.openxmlformats.org/drawingml/2006/main">
            <a:pPr algn="l">
              <a:defRPr sz="975" b="1">
                <a:solidFill>
                  <a:srgbClr val="87521B"/>
                </a:solidFill>
                <a:latin typeface="DejaVu Sans"/>
                <a:ea typeface="DejaVu Sans"/>
                <a:cs typeface="DejaVu Sans"/>
              </a:defRPr>
            </a:pPr>
            <a:r>
              <a:rPr sz="975" b="1">
                <a:solidFill>
                  <a:srgbClr val="87521B"/>
                </a:solidFill>
                <a:latin typeface="DejaVu Sans"/>
                <a:ea typeface="DejaVu Sans"/>
                <a:cs typeface="DejaVu Sans"/>
              </a:rPr>
              <a:t>Stability</a:t>
            </a:r>
          </a:p>
        </p:txBody>
      </p:sp>
      <p:sp>
        <p:nvSpPr>
          <p:cNvPr id="7" name="Call title">
            <a:extLst xmlns:a="http://schemas.openxmlformats.org/drawingml/2006/main">
              <a:ext uri="{FF2B5EF4-FFF2-40B4-BE49-F238E27FC236}">
                <a16:creationId xmlns:a16="http://schemas.microsoft.com/office/drawing/2014/main" id="{DAC2702F-E301-4984-AAFA-071EB19C961A}"/>
              </a:ext>
            </a:extLst>
          </p:cNvPr>
          <p:cNvSpPr>
            <a:spLocks xmlns:a="http://schemas.openxmlformats.org/drawingml/2006/main" noGrp="1"/>
          </p:cNvSpPr>
          <p:nvPr/>
        </p:nvSpPr>
        <p:spPr>
          <a:xfrm xmlns:a="http://schemas.openxmlformats.org/drawingml/2006/main">
            <a:off x="190500" y="1028700"/>
            <a:ext cx="281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92936"/>
                </a:solidFill>
                <a:latin typeface="DejaVu Sans"/>
                <a:ea typeface="DejaVu Sans"/>
                <a:cs typeface="DejaVu Sans"/>
              </a:defRPr>
            </a:defPPr>
          </a:lstStyle>
          <a:p xmlns:a="http://schemas.openxmlformats.org/drawingml/2006/main">
            <a:pPr algn="l">
              <a:defRPr sz="1500" b="1">
                <a:solidFill>
                  <a:srgbClr val="192936"/>
                </a:solidFill>
                <a:latin typeface="DejaVu Sans"/>
                <a:ea typeface="DejaVu Sans"/>
                <a:cs typeface="DejaVu Sans"/>
              </a:defRPr>
            </a:pPr>
            <a:r>
              <a:rPr sz="1500" b="1">
                <a:solidFill>
                  <a:srgbClr val="192936"/>
                </a:solidFill>
                <a:latin typeface="DejaVu Sans"/>
                <a:ea typeface="DejaVu Sans"/>
                <a:cs typeface="DejaVu Sans"/>
              </a:rPr>
              <a:t>Safe Switching Between Controllers</a:t>
            </a:r>
          </a:p>
        </p:txBody>
      </p:sp>
      <p:sp>
        <p:nvSpPr>
          <p:cNvPr id="8" name="Research scope">
            <a:extLst xmlns:a="http://schemas.openxmlformats.org/drawingml/2006/main">
              <a:ext uri="{FF2B5EF4-FFF2-40B4-BE49-F238E27FC236}">
                <a16:creationId xmlns:a16="http://schemas.microsoft.com/office/drawing/2014/main" id="{DD0B27C8-2DB9-4399-AFED-F4088BC2AC7A}"/>
              </a:ext>
            </a:extLst>
          </p:cNvPr>
          <p:cNvSpPr>
            <a:spLocks xmlns:a="http://schemas.openxmlformats.org/drawingml/2006/main" noGrp="1"/>
          </p:cNvSpPr>
          <p:nvPr/>
        </p:nvSpPr>
        <p:spPr>
          <a:xfrm xmlns:a="http://schemas.openxmlformats.org/drawingml/2006/main">
            <a:off x="190500" y="1628775"/>
            <a:ext cx="2819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0">
                <a:solidFill>
                  <a:srgbClr val="52616A"/>
                </a:solidFill>
                <a:latin typeface="DejaVu Sans"/>
                <a:ea typeface="DejaVu Sans"/>
                <a:cs typeface="DejaVu Sans"/>
              </a:defRPr>
            </a:defPPr>
          </a:lstStyle>
          <a:p xmlns:a="http://schemas.openxmlformats.org/drawingml/2006/main">
            <a:pPr algn="l">
              <a:defRPr sz="825" b="0">
                <a:solidFill>
                  <a:srgbClr val="52616A"/>
                </a:solidFill>
                <a:latin typeface="DejaVu Sans"/>
                <a:ea typeface="DejaVu Sans"/>
                <a:cs typeface="DejaVu Sans"/>
              </a:defRPr>
            </a:pPr>
            <a:r>
              <a:rPr sz="825" b="0">
                <a:solidFill>
                  <a:srgbClr val="52616A"/>
                </a:solidFill>
                <a:latin typeface="DejaVu Sans"/>
                <a:ea typeface="DejaVu Sans"/>
                <a:cs typeface="DejaVu Sans"/>
              </a:rPr>
              <a:t>Study stability when a system switches between control modes. Identify conditions that preserve stability across repeated switches.</a:t>
            </a:r>
          </a:p>
        </p:txBody>
      </p:sp>
      <p:sp>
        <p:nvSpPr>
          <p:cNvPr id="9" name="Statistics divider">
            <a:extLst xmlns:a="http://schemas.openxmlformats.org/drawingml/2006/main">
              <a:ext uri="{FF2B5EF4-FFF2-40B4-BE49-F238E27FC236}">
                <a16:creationId xmlns:a16="http://schemas.microsoft.com/office/drawing/2014/main" id="{F5A49BA8-3F01-4C5A-A3BB-16675FEEE312}"/>
              </a:ext>
            </a:extLst>
          </p:cNvPr>
          <p:cNvSpPr>
            <a:spLocks xmlns:a="http://schemas.openxmlformats.org/drawingml/2006/main" noGrp="1"/>
          </p:cNvSpPr>
          <p:nvPr/>
        </p:nvSpPr>
        <p:spPr>
          <a:xfrm xmlns:a="http://schemas.openxmlformats.org/drawingml/2006/main">
            <a:off x="190500" y="216217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0" name="Funding award label">
            <a:extLst xmlns:a="http://schemas.openxmlformats.org/drawingml/2006/main">
              <a:ext uri="{FF2B5EF4-FFF2-40B4-BE49-F238E27FC236}">
                <a16:creationId xmlns:a16="http://schemas.microsoft.com/office/drawing/2014/main" id="{495A5800-03C1-4EB2-AEC2-E598BBA237BB}"/>
              </a:ext>
            </a:extLst>
          </p:cNvPr>
          <p:cNvSpPr>
            <a:spLocks xmlns:a="http://schemas.openxmlformats.org/drawingml/2006/main" noGrp="1"/>
          </p:cNvSpPr>
          <p:nvPr/>
        </p:nvSpPr>
        <p:spPr>
          <a:xfrm xmlns:a="http://schemas.openxmlformats.org/drawingml/2006/main">
            <a:off x="190500"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FUNDING AWARD</a:t>
            </a:r>
          </a:p>
        </p:txBody>
      </p:sp>
      <p:sp>
        <p:nvSpPr>
          <p:cNvPr id="11" name="Gray cube label">
            <a:extLst xmlns:a="http://schemas.openxmlformats.org/drawingml/2006/main">
              <a:ext uri="{FF2B5EF4-FFF2-40B4-BE49-F238E27FC236}">
                <a16:creationId xmlns:a16="http://schemas.microsoft.com/office/drawing/2014/main" id="{BDCC5A1D-0BA0-4AD3-AB91-E27E30E7D053}"/>
              </a:ext>
            </a:extLst>
          </p:cNvPr>
          <p:cNvSpPr>
            <a:spLocks xmlns:a="http://schemas.openxmlformats.org/drawingml/2006/main" noGrp="1"/>
          </p:cNvSpPr>
          <p:nvPr/>
        </p:nvSpPr>
        <p:spPr>
          <a:xfrm xmlns:a="http://schemas.openxmlformats.org/drawingml/2006/main">
            <a:off x="1685925"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OUTSIDE / NO-AWARD</a:t>
            </a:r>
          </a:p>
        </p:txBody>
      </p:sp>
      <p:sp>
        <p:nvSpPr>
          <p:cNvPr id="12" name="Funding award value">
            <a:extLst xmlns:a="http://schemas.openxmlformats.org/drawingml/2006/main">
              <a:ext uri="{FF2B5EF4-FFF2-40B4-BE49-F238E27FC236}">
                <a16:creationId xmlns:a16="http://schemas.microsoft.com/office/drawing/2014/main" id="{D1BE2375-2E21-4AC7-8F71-B220617EFC80}"/>
              </a:ext>
            </a:extLst>
          </p:cNvPr>
          <p:cNvSpPr>
            <a:spLocks xmlns:a="http://schemas.openxmlformats.org/drawingml/2006/main" noGrp="1"/>
          </p:cNvSpPr>
          <p:nvPr/>
        </p:nvSpPr>
        <p:spPr>
          <a:xfrm xmlns:a="http://schemas.openxmlformats.org/drawingml/2006/main">
            <a:off x="190500"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87521B"/>
                </a:solidFill>
                <a:latin typeface="DejaVu Sans"/>
                <a:ea typeface="DejaVu Sans"/>
                <a:cs typeface="DejaVu Sans"/>
              </a:defRPr>
            </a:defPPr>
          </a:lstStyle>
          <a:p xmlns:a="http://schemas.openxmlformats.org/drawingml/2006/main">
            <a:pPr algn="l">
              <a:defRPr sz="2100" b="1">
                <a:solidFill>
                  <a:srgbClr val="87521B"/>
                </a:solidFill>
                <a:latin typeface="DejaVu Sans"/>
                <a:ea typeface="DejaVu Sans"/>
                <a:cs typeface="DejaVu Sans"/>
              </a:defRPr>
            </a:pPr>
            <a:r>
              <a:rPr sz="2100" b="1">
                <a:solidFill>
                  <a:srgbClr val="87521B"/>
                </a:solidFill>
                <a:latin typeface="DejaVu Sans"/>
                <a:ea typeface="DejaVu Sans"/>
                <a:cs typeface="DejaVu Sans"/>
              </a:rPr>
              <a:t>5</a:t>
            </a:r>
          </a:p>
        </p:txBody>
      </p:sp>
      <p:sp>
        <p:nvSpPr>
          <p:cNvPr id="13" name="Funding award unit">
            <a:extLst xmlns:a="http://schemas.openxmlformats.org/drawingml/2006/main">
              <a:ext uri="{FF2B5EF4-FFF2-40B4-BE49-F238E27FC236}">
                <a16:creationId xmlns:a16="http://schemas.microsoft.com/office/drawing/2014/main" id="{80727898-3B23-4CBD-8BF3-0D9774B73467}"/>
              </a:ext>
            </a:extLst>
          </p:cNvPr>
          <p:cNvSpPr>
            <a:spLocks xmlns:a="http://schemas.openxmlformats.org/drawingml/2006/main" noGrp="1"/>
          </p:cNvSpPr>
          <p:nvPr/>
        </p:nvSpPr>
        <p:spPr>
          <a:xfrm xmlns:a="http://schemas.openxmlformats.org/drawingml/2006/main">
            <a:off x="600075" y="2543175"/>
            <a:ext cx="904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192936"/>
                </a:solidFill>
                <a:latin typeface="DejaVu Sans"/>
                <a:ea typeface="DejaVu Sans"/>
                <a:cs typeface="DejaVu Sans"/>
              </a:defRPr>
            </a:defPPr>
          </a:lstStyle>
          <a:p xmlns:a="http://schemas.openxmlformats.org/drawingml/2006/main">
            <a:pPr algn="l">
              <a:defRPr sz="900" b="1">
                <a:solidFill>
                  <a:srgbClr val="192936"/>
                </a:solidFill>
                <a:latin typeface="DejaVu Sans"/>
                <a:ea typeface="DejaVu Sans"/>
                <a:cs typeface="DejaVu Sans"/>
              </a:defRPr>
            </a:pPr>
            <a:r>
              <a:rPr sz="900" b="1">
                <a:solidFill>
                  <a:srgbClr val="192936"/>
                </a:solidFill>
                <a:latin typeface="DejaVu Sans"/>
                <a:ea typeface="DejaVu Sans"/>
                <a:cs typeface="DejaVu Sans"/>
              </a:rPr>
              <a:t>Funding</a:t>
            </a:r>
          </a:p>
        </p:txBody>
      </p:sp>
      <p:sp>
        <p:nvSpPr>
          <p:cNvPr id="14" name="Gray cube value">
            <a:extLst xmlns:a="http://schemas.openxmlformats.org/drawingml/2006/main">
              <a:ext uri="{FF2B5EF4-FFF2-40B4-BE49-F238E27FC236}">
                <a16:creationId xmlns:a16="http://schemas.microsoft.com/office/drawing/2014/main" id="{9142D82E-FB8C-4D4D-9BCB-4669CF9EE6CB}"/>
              </a:ext>
            </a:extLst>
          </p:cNvPr>
          <p:cNvSpPr>
            <a:spLocks xmlns:a="http://schemas.openxmlformats.org/drawingml/2006/main" noGrp="1"/>
          </p:cNvSpPr>
          <p:nvPr/>
        </p:nvSpPr>
        <p:spPr>
          <a:xfrm xmlns:a="http://schemas.openxmlformats.org/drawingml/2006/main">
            <a:off x="1685925"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2616A"/>
                </a:solidFill>
                <a:latin typeface="DejaVu Sans"/>
                <a:ea typeface="DejaVu Sans"/>
                <a:cs typeface="DejaVu Sans"/>
              </a:defRPr>
            </a:defPPr>
          </a:lstStyle>
          <a:p xmlns:a="http://schemas.openxmlformats.org/drawingml/2006/main">
            <a:pPr algn="l">
              <a:defRPr sz="2100" b="1">
                <a:solidFill>
                  <a:srgbClr val="52616A"/>
                </a:solidFill>
                <a:latin typeface="DejaVu Sans"/>
                <a:ea typeface="DejaVu Sans"/>
                <a:cs typeface="DejaVu Sans"/>
              </a:defRPr>
            </a:pPr>
            <a:r>
              <a:rPr sz="2100" b="1">
                <a:solidFill>
                  <a:srgbClr val="52616A"/>
                </a:solidFill>
                <a:latin typeface="DejaVu Sans"/>
                <a:ea typeface="DejaVu Sans"/>
                <a:cs typeface="DejaVu Sans"/>
              </a:rPr>
              <a:t>4</a:t>
            </a:r>
          </a:p>
        </p:txBody>
      </p:sp>
      <p:sp>
        <p:nvSpPr>
          <p:cNvPr id="15" name="Gray cube unit">
            <a:extLst xmlns:a="http://schemas.openxmlformats.org/drawingml/2006/main">
              <a:ext uri="{FF2B5EF4-FFF2-40B4-BE49-F238E27FC236}">
                <a16:creationId xmlns:a16="http://schemas.microsoft.com/office/drawing/2014/main" id="{9DDE2955-109F-4D27-B6F8-54306ED0B026}"/>
              </a:ext>
            </a:extLst>
          </p:cNvPr>
          <p:cNvSpPr>
            <a:spLocks xmlns:a="http://schemas.openxmlformats.org/drawingml/2006/main" noGrp="1"/>
          </p:cNvSpPr>
          <p:nvPr/>
        </p:nvSpPr>
        <p:spPr>
          <a:xfrm xmlns:a="http://schemas.openxmlformats.org/drawingml/2006/main">
            <a:off x="2095500" y="2543175"/>
            <a:ext cx="914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1">
                <a:solidFill>
                  <a:srgbClr val="52616A"/>
                </a:solidFill>
                <a:latin typeface="DejaVu Sans"/>
                <a:ea typeface="DejaVu Sans"/>
                <a:cs typeface="DejaVu Sans"/>
              </a:defRPr>
            </a:defPPr>
          </a:lstStyle>
          <a:p xmlns:a="http://schemas.openxmlformats.org/drawingml/2006/main">
            <a:pPr algn="l">
              <a:defRPr sz="863" b="1">
                <a:solidFill>
                  <a:srgbClr val="52616A"/>
                </a:solidFill>
                <a:latin typeface="DejaVu Sans"/>
                <a:ea typeface="DejaVu Sans"/>
                <a:cs typeface="DejaVu Sans"/>
              </a:defRPr>
            </a:pPr>
            <a:r>
              <a:rPr sz="863" b="1">
                <a:solidFill>
                  <a:srgbClr val="52616A"/>
                </a:solidFill>
                <a:latin typeface="DejaVu Sans"/>
                <a:ea typeface="DejaVu Sans"/>
                <a:cs typeface="DejaVu Sans"/>
              </a:rPr>
              <a:t>gray cubes</a:t>
            </a:r>
          </a:p>
        </p:txBody>
      </p:sp>
      <p:sp>
        <p:nvSpPr>
          <p:cNvPr id="16" name="Eligibility divider">
            <a:extLst xmlns:a="http://schemas.openxmlformats.org/drawingml/2006/main">
              <a:ext uri="{FF2B5EF4-FFF2-40B4-BE49-F238E27FC236}">
                <a16:creationId xmlns:a16="http://schemas.microsoft.com/office/drawing/2014/main" id="{29B3348B-7B59-4D42-9308-25D28A666ED6}"/>
              </a:ext>
            </a:extLst>
          </p:cNvPr>
          <p:cNvSpPr>
            <a:spLocks xmlns:a="http://schemas.openxmlformats.org/drawingml/2006/main" noGrp="1"/>
          </p:cNvSpPr>
          <p:nvPr/>
        </p:nvSpPr>
        <p:spPr>
          <a:xfrm xmlns:a="http://schemas.openxmlformats.org/drawingml/2006/main">
            <a:off x="190500" y="282892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7" name="Without certification heading">
            <a:extLst xmlns:a="http://schemas.openxmlformats.org/drawingml/2006/main">
              <a:ext uri="{FF2B5EF4-FFF2-40B4-BE49-F238E27FC236}">
                <a16:creationId xmlns:a16="http://schemas.microsoft.com/office/drawing/2014/main" id="{5C7CF842-272F-425E-982A-0E09EC8F8187}"/>
              </a:ext>
            </a:extLst>
          </p:cNvPr>
          <p:cNvSpPr>
            <a:spLocks xmlns:a="http://schemas.openxmlformats.org/drawingml/2006/main" noGrp="1"/>
          </p:cNvSpPr>
          <p:nvPr/>
        </p:nvSpPr>
        <p:spPr>
          <a:xfrm xmlns:a="http://schemas.openxmlformats.org/drawingml/2006/main">
            <a:off x="190500" y="2943225"/>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1">
                <a:solidFill>
                  <a:srgbClr val="87521B"/>
                </a:solidFill>
                <a:latin typeface="DejaVu Sans"/>
                <a:ea typeface="DejaVu Sans"/>
                <a:cs typeface="DejaVu Sans"/>
              </a:defRPr>
            </a:defPPr>
          </a:lstStyle>
          <a:p xmlns:a="http://schemas.openxmlformats.org/drawingml/2006/main">
            <a:pPr algn="l">
              <a:defRPr sz="825" b="1">
                <a:solidFill>
                  <a:srgbClr val="87521B"/>
                </a:solidFill>
                <a:latin typeface="DejaVu Sans"/>
                <a:ea typeface="DejaVu Sans"/>
                <a:cs typeface="DejaVu Sans"/>
              </a:defRPr>
            </a:pPr>
            <a:r>
              <a:rPr sz="825" b="1">
                <a:solidFill>
                  <a:srgbClr val="87521B"/>
                </a:solidFill>
                <a:latin typeface="DejaVu Sans"/>
                <a:ea typeface="DejaVu Sans"/>
                <a:cs typeface="DejaVu Sans"/>
              </a:rPr>
              <a:t>No Certified Expertise in Stability</a:t>
            </a:r>
          </a:p>
        </p:txBody>
      </p:sp>
      <p:sp>
        <p:nvSpPr>
          <p:cNvPr id="18" name="Without certification rule">
            <a:extLst xmlns:a="http://schemas.openxmlformats.org/drawingml/2006/main">
              <a:ext uri="{FF2B5EF4-FFF2-40B4-BE49-F238E27FC236}">
                <a16:creationId xmlns:a16="http://schemas.microsoft.com/office/drawing/2014/main" id="{14F32187-9C23-45F6-A4FD-6DEFF9B38FF6}"/>
              </a:ext>
            </a:extLst>
          </p:cNvPr>
          <p:cNvSpPr>
            <a:spLocks xmlns:a="http://schemas.openxmlformats.org/drawingml/2006/main" noGrp="1"/>
          </p:cNvSpPr>
          <p:nvPr/>
        </p:nvSpPr>
        <p:spPr>
          <a:xfrm xmlns:a="http://schemas.openxmlformats.org/drawingml/2006/main">
            <a:off x="190500" y="3152775"/>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need at least 1 Stability Recent Work token to apply. Only Stability tokens count.</a:t>
            </a:r>
          </a:p>
        </p:txBody>
      </p:sp>
      <p:sp>
        <p:nvSpPr>
          <p:cNvPr id="19" name="With certification heading">
            <a:extLst xmlns:a="http://schemas.openxmlformats.org/drawingml/2006/main">
              <a:ext uri="{FF2B5EF4-FFF2-40B4-BE49-F238E27FC236}">
                <a16:creationId xmlns:a16="http://schemas.microsoft.com/office/drawing/2014/main" id="{75218187-E862-4C5E-9AA8-7B310EF3CA57}"/>
              </a:ext>
            </a:extLst>
          </p:cNvPr>
          <p:cNvSpPr>
            <a:spLocks xmlns:a="http://schemas.openxmlformats.org/drawingml/2006/main" noGrp="1"/>
          </p:cNvSpPr>
          <p:nvPr/>
        </p:nvSpPr>
        <p:spPr>
          <a:xfrm xmlns:a="http://schemas.openxmlformats.org/drawingml/2006/main">
            <a:off x="190500" y="3619500"/>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87521B"/>
                </a:solidFill>
                <a:latin typeface="DejaVu Sans"/>
                <a:ea typeface="DejaVu Sans"/>
                <a:cs typeface="DejaVu Sans"/>
              </a:defRPr>
            </a:defPPr>
          </a:lstStyle>
          <a:p xmlns:a="http://schemas.openxmlformats.org/drawingml/2006/main">
            <a:pPr algn="l">
              <a:defRPr sz="788" b="1">
                <a:solidFill>
                  <a:srgbClr val="87521B"/>
                </a:solidFill>
                <a:latin typeface="DejaVu Sans"/>
                <a:ea typeface="DejaVu Sans"/>
                <a:cs typeface="DejaVu Sans"/>
              </a:defRPr>
            </a:pPr>
            <a:r>
              <a:rPr sz="788" b="1">
                <a:solidFill>
                  <a:srgbClr val="87521B"/>
                </a:solidFill>
                <a:latin typeface="DejaVu Sans"/>
                <a:ea typeface="DejaVu Sans"/>
                <a:cs typeface="DejaVu Sans"/>
              </a:rPr>
              <a:t>With Certified Expertise in Stability</a:t>
            </a:r>
          </a:p>
        </p:txBody>
      </p:sp>
      <p:sp>
        <p:nvSpPr>
          <p:cNvPr id="20" name="With certification rule">
            <a:extLst xmlns:a="http://schemas.openxmlformats.org/drawingml/2006/main">
              <a:ext uri="{FF2B5EF4-FFF2-40B4-BE49-F238E27FC236}">
                <a16:creationId xmlns:a16="http://schemas.microsoft.com/office/drawing/2014/main" id="{39604CB2-AAF9-44B6-891E-B3063F3D301E}"/>
              </a:ext>
            </a:extLst>
          </p:cNvPr>
          <p:cNvSpPr>
            <a:spLocks xmlns:a="http://schemas.openxmlformats.org/drawingml/2006/main" noGrp="1"/>
          </p:cNvSpPr>
          <p:nvPr/>
        </p:nvSpPr>
        <p:spPr>
          <a:xfrm xmlns:a="http://schemas.openxmlformats.org/drawingml/2006/main">
            <a:off x="190500" y="3829050"/>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may apply without Recent Work. Recent Work from ANY topic can count. Your expertise badge is permanent.</a:t>
            </a:r>
          </a:p>
        </p:txBody>
      </p:sp>
      <p:sp>
        <p:nvSpPr>
          <p:cNvPr id="21" name="Footer divider">
            <a:extLst xmlns:a="http://schemas.openxmlformats.org/drawingml/2006/main">
              <a:ext uri="{FF2B5EF4-FFF2-40B4-BE49-F238E27FC236}">
                <a16:creationId xmlns:a16="http://schemas.microsoft.com/office/drawing/2014/main" id="{8922BCD7-2702-4480-9EC9-6395DFAE2BB9}"/>
              </a:ext>
            </a:extLst>
          </p:cNvPr>
          <p:cNvSpPr>
            <a:spLocks xmlns:a="http://schemas.openxmlformats.org/drawingml/2006/main" noGrp="1"/>
          </p:cNvSpPr>
          <p:nvPr/>
        </p:nvSpPr>
        <p:spPr>
          <a:xfrm xmlns:a="http://schemas.openxmlformats.org/drawingml/2006/main">
            <a:off x="190500" y="4286250"/>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22" name="Recent Work cap">
            <a:extLst xmlns:a="http://schemas.openxmlformats.org/drawingml/2006/main">
              <a:ext uri="{FF2B5EF4-FFF2-40B4-BE49-F238E27FC236}">
                <a16:creationId xmlns:a16="http://schemas.microsoft.com/office/drawing/2014/main" id="{CCC70316-A5EB-41BC-8262-DC51A6DA0C06}"/>
              </a:ext>
            </a:extLst>
          </p:cNvPr>
          <p:cNvSpPr>
            <a:spLocks xmlns:a="http://schemas.openxmlformats.org/drawingml/2006/main" noGrp="1"/>
          </p:cNvSpPr>
          <p:nvPr/>
        </p:nvSpPr>
        <p:spPr>
          <a:xfrm xmlns:a="http://schemas.openxmlformats.org/drawingml/2006/main">
            <a:off x="190500" y="4371975"/>
            <a:ext cx="28194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192936"/>
                </a:solidFill>
                <a:latin typeface="DejaVu Sans"/>
                <a:ea typeface="DejaVu Sans"/>
                <a:cs typeface="DejaVu Sans"/>
              </a:defRPr>
            </a:defPPr>
          </a:lstStyle>
          <a:p xmlns:a="http://schemas.openxmlformats.org/drawingml/2006/main">
            <a:pPr algn="l">
              <a:defRPr sz="788" b="1">
                <a:solidFill>
                  <a:srgbClr val="192936"/>
                </a:solidFill>
                <a:latin typeface="DejaVu Sans"/>
                <a:ea typeface="DejaVu Sans"/>
                <a:cs typeface="DejaVu Sans"/>
              </a:defRPr>
            </a:pPr>
            <a:r>
              <a:rPr sz="788" b="1">
                <a:solidFill>
                  <a:srgbClr val="192936"/>
                </a:solidFill>
                <a:latin typeface="DejaVu Sans"/>
                <a:ea typeface="DejaVu Sans"/>
                <a:cs typeface="DejaVu Sans"/>
              </a:rPr>
              <a:t>Count at most 3 Recent Work tokens.</a:t>
            </a:r>
          </a:p>
        </p:txBody>
      </p:sp>
    </p:spTree>
    <p:extLst>
      <p:ext uri="{BB962C8B-B14F-4D97-AF65-F5344CB8AC3E}">
        <p14:creationId xmlns:p14="http://schemas.microsoft.com/office/powerpoint/2010/main" val="185097765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Card border">
            <a:extLst xmlns:a="http://schemas.openxmlformats.org/drawingml/2006/main">
              <a:ext uri="{FF2B5EF4-FFF2-40B4-BE49-F238E27FC236}">
                <a16:creationId xmlns:a16="http://schemas.microsoft.com/office/drawing/2014/main" id="{EBF69F05-D2CC-4057-9E2E-36CA4716DB74}"/>
              </a:ext>
            </a:extLst>
          </p:cNvPr>
          <p:cNvSpPr>
            <a:spLocks xmlns:a="http://schemas.openxmlformats.org/drawingml/2006/main" noGrp="1"/>
          </p:cNvSpPr>
          <p:nvPr/>
        </p:nvSpPr>
        <p:spPr>
          <a:xfrm xmlns:a="http://schemas.openxmlformats.org/drawingml/2006/main">
            <a:off x="9525" y="9525"/>
            <a:ext cx="3181350" cy="4552950"/>
          </a:xfrm>
          <a:prstGeom xmlns:a="http://schemas.openxmlformats.org/drawingml/2006/main" prst="rect">
            <a:avLst/>
          </a:prstGeom>
          <a:noFill xmlns:a="http://schemas.openxmlformats.org/drawingml/2006/main"/>
          <a:ln xmlns:a="http://schemas.openxmlformats.org/drawingml/2006/main" w="9525">
            <a:solidFill>
              <a:srgbClr val="D0D5D8"/>
            </a:solidFill>
          </a:ln>
        </p:spPr>
      </p:sp>
      <p:sp>
        <p:nvSpPr>
          <p:cNvPr id="2" name="Topic color band">
            <a:extLst xmlns:a="http://schemas.openxmlformats.org/drawingml/2006/main">
              <a:ext uri="{FF2B5EF4-FFF2-40B4-BE49-F238E27FC236}">
                <a16:creationId xmlns:a16="http://schemas.microsoft.com/office/drawing/2014/main" id="{8E413A20-FB00-4106-9D03-867CA31FFCCA}"/>
              </a:ext>
            </a:extLst>
          </p:cNvPr>
          <p:cNvSpPr>
            <a:spLocks xmlns:a="http://schemas.openxmlformats.org/drawingml/2006/main" noGrp="1"/>
          </p:cNvSpPr>
          <p:nvPr/>
        </p:nvSpPr>
        <p:spPr>
          <a:xfrm xmlns:a="http://schemas.openxmlformats.org/drawingml/2006/main">
            <a:off x="9525" y="9525"/>
            <a:ext cx="3181350" cy="400050"/>
          </a:xfrm>
          <a:prstGeom xmlns:a="http://schemas.openxmlformats.org/drawingml/2006/main" prst="rect">
            <a:avLst/>
          </a:prstGeom>
          <a:solidFill xmlns:a="http://schemas.openxmlformats.org/drawingml/2006/main">
            <a:srgbClr val="87521B"/>
          </a:solidFill>
          <a:ln xmlns:a="http://schemas.openxmlformats.org/drawingml/2006/main" w="0">
            <a:noFill/>
          </a:ln>
        </p:spPr>
      </p:sp>
      <p:sp>
        <p:nvSpPr>
          <p:cNvPr id="3" name="Game name">
            <a:extLst xmlns:a="http://schemas.openxmlformats.org/drawingml/2006/main">
              <a:ext uri="{FF2B5EF4-FFF2-40B4-BE49-F238E27FC236}">
                <a16:creationId xmlns:a16="http://schemas.microsoft.com/office/drawing/2014/main" id="{B345355C-D48C-4987-A88F-DB287A874503}"/>
              </a:ext>
            </a:extLst>
          </p:cNvPr>
          <p:cNvSpPr>
            <a:spLocks xmlns:a="http://schemas.openxmlformats.org/drawingml/2006/main" noGrp="1"/>
          </p:cNvSpPr>
          <p:nvPr/>
        </p:nvSpPr>
        <p:spPr>
          <a:xfrm xmlns:a="http://schemas.openxmlformats.org/drawingml/2006/main">
            <a:off x="190500" y="133350"/>
            <a:ext cx="1943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FFFFFF"/>
                </a:solidFill>
                <a:latin typeface="DejaVu Sans"/>
                <a:ea typeface="DejaVu Sans"/>
                <a:cs typeface="DejaVu Sans"/>
              </a:defRPr>
            </a:defPPr>
          </a:lstStyle>
          <a:p xmlns:a="http://schemas.openxmlformats.org/drawingml/2006/main">
            <a:pPr algn="l">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GRANT CONTROL</a:t>
            </a:r>
          </a:p>
        </p:txBody>
      </p:sp>
      <p:sp>
        <p:nvSpPr>
          <p:cNvPr id="4" name="Card identifier">
            <a:extLst xmlns:a="http://schemas.openxmlformats.org/drawingml/2006/main">
              <a:ext uri="{FF2B5EF4-FFF2-40B4-BE49-F238E27FC236}">
                <a16:creationId xmlns:a16="http://schemas.microsoft.com/office/drawing/2014/main" id="{BE7AE966-1FC9-473A-9DDE-23E42AA7A6C1}"/>
              </a:ext>
            </a:extLst>
          </p:cNvPr>
          <p:cNvSpPr>
            <a:spLocks xmlns:a="http://schemas.openxmlformats.org/drawingml/2006/main" noGrp="1"/>
          </p:cNvSpPr>
          <p:nvPr/>
        </p:nvSpPr>
        <p:spPr>
          <a:xfrm xmlns:a="http://schemas.openxmlformats.org/drawingml/2006/main">
            <a:off x="2371725" y="142875"/>
            <a:ext cx="6381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788" b="1">
                <a:solidFill>
                  <a:srgbClr val="FFFFFF"/>
                </a:solidFill>
                <a:latin typeface="DejaVu Sans"/>
                <a:ea typeface="DejaVu Sans"/>
                <a:cs typeface="DejaVu Sans"/>
              </a:defRPr>
            </a:defPPr>
          </a:lstStyle>
          <a:p xmlns:a="http://schemas.openxmlformats.org/drawingml/2006/main">
            <a:pPr algn="r">
              <a:defRPr sz="788" b="1">
                <a:solidFill>
                  <a:srgbClr val="FFFFFF"/>
                </a:solidFill>
                <a:latin typeface="DejaVu Sans"/>
                <a:ea typeface="DejaVu Sans"/>
                <a:cs typeface="DejaVu Sans"/>
              </a:defRPr>
            </a:pPr>
            <a:r>
              <a:rPr sz="788" b="1">
                <a:solidFill>
                  <a:srgbClr val="FFFFFF"/>
                </a:solidFill>
                <a:latin typeface="DejaVu Sans"/>
                <a:ea typeface="DejaVu Sans"/>
                <a:cs typeface="DejaVu Sans"/>
              </a:rPr>
              <a:t>STA-03</a:t>
            </a:r>
          </a:p>
        </p:txBody>
      </p:sp>
      <p:sp>
        <p:nvSpPr>
          <p:cNvPr id="5" name="Card category">
            <a:extLst xmlns:a="http://schemas.openxmlformats.org/drawingml/2006/main">
              <a:ext uri="{FF2B5EF4-FFF2-40B4-BE49-F238E27FC236}">
                <a16:creationId xmlns:a16="http://schemas.microsoft.com/office/drawing/2014/main" id="{40358D82-F72B-4AFF-8DCE-012F8E9E1C7F}"/>
              </a:ext>
            </a:extLst>
          </p:cNvPr>
          <p:cNvSpPr>
            <a:spLocks xmlns:a="http://schemas.openxmlformats.org/drawingml/2006/main" noGrp="1"/>
          </p:cNvSpPr>
          <p:nvPr/>
        </p:nvSpPr>
        <p:spPr>
          <a:xfrm xmlns:a="http://schemas.openxmlformats.org/drawingml/2006/main">
            <a:off x="190500" y="523875"/>
            <a:ext cx="2800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87521B"/>
                </a:solidFill>
                <a:latin typeface="DejaVu Sans"/>
                <a:ea typeface="DejaVu Sans"/>
                <a:cs typeface="DejaVu Sans"/>
              </a:defRPr>
            </a:defPPr>
          </a:lstStyle>
          <a:p xmlns:a="http://schemas.openxmlformats.org/drawingml/2006/main">
            <a:pPr algn="l">
              <a:defRPr sz="788" b="1">
                <a:solidFill>
                  <a:srgbClr val="87521B"/>
                </a:solidFill>
                <a:latin typeface="DejaVu Sans"/>
                <a:ea typeface="DejaVu Sans"/>
                <a:cs typeface="DejaVu Sans"/>
              </a:defRPr>
            </a:pPr>
            <a:r>
              <a:rPr sz="788" b="1">
                <a:solidFill>
                  <a:srgbClr val="87521B"/>
                </a:solidFill>
                <a:latin typeface="DejaVu Sans"/>
                <a:ea typeface="DejaVu Sans"/>
                <a:cs typeface="DejaVu Sans"/>
              </a:rPr>
              <a:t>FUNDING CALL</a:t>
            </a:r>
          </a:p>
        </p:txBody>
      </p:sp>
      <p:sp>
        <p:nvSpPr>
          <p:cNvPr id="6" name="Primary topic">
            <a:extLst xmlns:a="http://schemas.openxmlformats.org/drawingml/2006/main">
              <a:ext uri="{FF2B5EF4-FFF2-40B4-BE49-F238E27FC236}">
                <a16:creationId xmlns:a16="http://schemas.microsoft.com/office/drawing/2014/main" id="{2C5B0D58-9539-4672-BB41-67CE23E1BC0E}"/>
              </a:ext>
            </a:extLst>
          </p:cNvPr>
          <p:cNvSpPr>
            <a:spLocks xmlns:a="http://schemas.openxmlformats.org/drawingml/2006/main" noGrp="1"/>
          </p:cNvSpPr>
          <p:nvPr/>
        </p:nvSpPr>
        <p:spPr>
          <a:xfrm xmlns:a="http://schemas.openxmlformats.org/drawingml/2006/main">
            <a:off x="190500" y="733425"/>
            <a:ext cx="2819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87521B"/>
                </a:solidFill>
                <a:latin typeface="DejaVu Sans"/>
                <a:ea typeface="DejaVu Sans"/>
                <a:cs typeface="DejaVu Sans"/>
              </a:defRPr>
            </a:defPPr>
          </a:lstStyle>
          <a:p xmlns:a="http://schemas.openxmlformats.org/drawingml/2006/main">
            <a:pPr algn="l">
              <a:defRPr sz="975" b="1">
                <a:solidFill>
                  <a:srgbClr val="87521B"/>
                </a:solidFill>
                <a:latin typeface="DejaVu Sans"/>
                <a:ea typeface="DejaVu Sans"/>
                <a:cs typeface="DejaVu Sans"/>
              </a:defRPr>
            </a:pPr>
            <a:r>
              <a:rPr sz="975" b="1">
                <a:solidFill>
                  <a:srgbClr val="87521B"/>
                </a:solidFill>
                <a:latin typeface="DejaVu Sans"/>
                <a:ea typeface="DejaVu Sans"/>
                <a:cs typeface="DejaVu Sans"/>
              </a:rPr>
              <a:t>Stability</a:t>
            </a:r>
          </a:p>
        </p:txBody>
      </p:sp>
      <p:sp>
        <p:nvSpPr>
          <p:cNvPr id="7" name="Call title">
            <a:extLst xmlns:a="http://schemas.openxmlformats.org/drawingml/2006/main">
              <a:ext uri="{FF2B5EF4-FFF2-40B4-BE49-F238E27FC236}">
                <a16:creationId xmlns:a16="http://schemas.microsoft.com/office/drawing/2014/main" id="{79A8F262-38A7-4293-9806-D46FA98A1C8E}"/>
              </a:ext>
            </a:extLst>
          </p:cNvPr>
          <p:cNvSpPr>
            <a:spLocks xmlns:a="http://schemas.openxmlformats.org/drawingml/2006/main" noGrp="1"/>
          </p:cNvSpPr>
          <p:nvPr/>
        </p:nvSpPr>
        <p:spPr>
          <a:xfrm xmlns:a="http://schemas.openxmlformats.org/drawingml/2006/main">
            <a:off x="190500" y="1028700"/>
            <a:ext cx="281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92936"/>
                </a:solidFill>
                <a:latin typeface="DejaVu Sans"/>
                <a:ea typeface="DejaVu Sans"/>
                <a:cs typeface="DejaVu Sans"/>
              </a:defRPr>
            </a:defPPr>
          </a:lstStyle>
          <a:p xmlns:a="http://schemas.openxmlformats.org/drawingml/2006/main">
            <a:pPr algn="l">
              <a:defRPr sz="1500" b="1">
                <a:solidFill>
                  <a:srgbClr val="192936"/>
                </a:solidFill>
                <a:latin typeface="DejaVu Sans"/>
                <a:ea typeface="DejaVu Sans"/>
                <a:cs typeface="DejaVu Sans"/>
              </a:defRPr>
            </a:pPr>
            <a:r>
              <a:rPr sz="1500" b="1">
                <a:solidFill>
                  <a:srgbClr val="192936"/>
                </a:solidFill>
                <a:latin typeface="DejaVu Sans"/>
                <a:ea typeface="DejaVu Sans"/>
                <a:cs typeface="DejaVu Sans"/>
              </a:rPr>
              <a:t>Robustness to Persistent Disturbances</a:t>
            </a:r>
          </a:p>
        </p:txBody>
      </p:sp>
      <p:sp>
        <p:nvSpPr>
          <p:cNvPr id="8" name="Research scope">
            <a:extLst xmlns:a="http://schemas.openxmlformats.org/drawingml/2006/main">
              <a:ext uri="{FF2B5EF4-FFF2-40B4-BE49-F238E27FC236}">
                <a16:creationId xmlns:a16="http://schemas.microsoft.com/office/drawing/2014/main" id="{F21D872D-6BCD-468B-9A17-6378667EA327}"/>
              </a:ext>
            </a:extLst>
          </p:cNvPr>
          <p:cNvSpPr>
            <a:spLocks xmlns:a="http://schemas.openxmlformats.org/drawingml/2006/main" noGrp="1"/>
          </p:cNvSpPr>
          <p:nvPr/>
        </p:nvSpPr>
        <p:spPr>
          <a:xfrm xmlns:a="http://schemas.openxmlformats.org/drawingml/2006/main">
            <a:off x="190500" y="1628775"/>
            <a:ext cx="2819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0">
                <a:solidFill>
                  <a:srgbClr val="52616A"/>
                </a:solidFill>
                <a:latin typeface="DejaVu Sans"/>
                <a:ea typeface="DejaVu Sans"/>
                <a:cs typeface="DejaVu Sans"/>
              </a:defRPr>
            </a:defPPr>
          </a:lstStyle>
          <a:p xmlns:a="http://schemas.openxmlformats.org/drawingml/2006/main">
            <a:pPr algn="l">
              <a:defRPr sz="825" b="0">
                <a:solidFill>
                  <a:srgbClr val="52616A"/>
                </a:solidFill>
                <a:latin typeface="DejaVu Sans"/>
                <a:ea typeface="DejaVu Sans"/>
                <a:cs typeface="DejaVu Sans"/>
              </a:defRPr>
            </a:pPr>
            <a:r>
              <a:rPr sz="825" b="0">
                <a:solidFill>
                  <a:srgbClr val="52616A"/>
                </a:solidFill>
                <a:latin typeface="DejaVu Sans"/>
                <a:ea typeface="DejaVu Sans"/>
                <a:cs typeface="DejaVu Sans"/>
              </a:rPr>
              <a:t>Develop stability guarantees for systems subject to bounded disturbances. Characterize the resulting state bounds and their dependence on disturbance size.</a:t>
            </a:r>
          </a:p>
        </p:txBody>
      </p:sp>
      <p:sp>
        <p:nvSpPr>
          <p:cNvPr id="9" name="Statistics divider">
            <a:extLst xmlns:a="http://schemas.openxmlformats.org/drawingml/2006/main">
              <a:ext uri="{FF2B5EF4-FFF2-40B4-BE49-F238E27FC236}">
                <a16:creationId xmlns:a16="http://schemas.microsoft.com/office/drawing/2014/main" id="{16EBFAB2-612C-4D1E-A6B6-849CD434CA5F}"/>
              </a:ext>
            </a:extLst>
          </p:cNvPr>
          <p:cNvSpPr>
            <a:spLocks xmlns:a="http://schemas.openxmlformats.org/drawingml/2006/main" noGrp="1"/>
          </p:cNvSpPr>
          <p:nvPr/>
        </p:nvSpPr>
        <p:spPr>
          <a:xfrm xmlns:a="http://schemas.openxmlformats.org/drawingml/2006/main">
            <a:off x="190500" y="216217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0" name="Funding award label">
            <a:extLst xmlns:a="http://schemas.openxmlformats.org/drawingml/2006/main">
              <a:ext uri="{FF2B5EF4-FFF2-40B4-BE49-F238E27FC236}">
                <a16:creationId xmlns:a16="http://schemas.microsoft.com/office/drawing/2014/main" id="{4926858D-264D-436D-814A-B100DD547860}"/>
              </a:ext>
            </a:extLst>
          </p:cNvPr>
          <p:cNvSpPr>
            <a:spLocks xmlns:a="http://schemas.openxmlformats.org/drawingml/2006/main" noGrp="1"/>
          </p:cNvSpPr>
          <p:nvPr/>
        </p:nvSpPr>
        <p:spPr>
          <a:xfrm xmlns:a="http://schemas.openxmlformats.org/drawingml/2006/main">
            <a:off x="190500"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FUNDING AWARD</a:t>
            </a:r>
          </a:p>
        </p:txBody>
      </p:sp>
      <p:sp>
        <p:nvSpPr>
          <p:cNvPr id="11" name="Gray cube label">
            <a:extLst xmlns:a="http://schemas.openxmlformats.org/drawingml/2006/main">
              <a:ext uri="{FF2B5EF4-FFF2-40B4-BE49-F238E27FC236}">
                <a16:creationId xmlns:a16="http://schemas.microsoft.com/office/drawing/2014/main" id="{08D556AE-DE03-43F8-8940-B47A5704A5C4}"/>
              </a:ext>
            </a:extLst>
          </p:cNvPr>
          <p:cNvSpPr>
            <a:spLocks xmlns:a="http://schemas.openxmlformats.org/drawingml/2006/main" noGrp="1"/>
          </p:cNvSpPr>
          <p:nvPr/>
        </p:nvSpPr>
        <p:spPr>
          <a:xfrm xmlns:a="http://schemas.openxmlformats.org/drawingml/2006/main">
            <a:off x="1685925"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OUTSIDE / NO-AWARD</a:t>
            </a:r>
          </a:p>
        </p:txBody>
      </p:sp>
      <p:sp>
        <p:nvSpPr>
          <p:cNvPr id="12" name="Funding award value">
            <a:extLst xmlns:a="http://schemas.openxmlformats.org/drawingml/2006/main">
              <a:ext uri="{FF2B5EF4-FFF2-40B4-BE49-F238E27FC236}">
                <a16:creationId xmlns:a16="http://schemas.microsoft.com/office/drawing/2014/main" id="{DD69074A-CC68-4095-8C80-8BB6E95FAB78}"/>
              </a:ext>
            </a:extLst>
          </p:cNvPr>
          <p:cNvSpPr>
            <a:spLocks xmlns:a="http://schemas.openxmlformats.org/drawingml/2006/main" noGrp="1"/>
          </p:cNvSpPr>
          <p:nvPr/>
        </p:nvSpPr>
        <p:spPr>
          <a:xfrm xmlns:a="http://schemas.openxmlformats.org/drawingml/2006/main">
            <a:off x="190500"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87521B"/>
                </a:solidFill>
                <a:latin typeface="DejaVu Sans"/>
                <a:ea typeface="DejaVu Sans"/>
                <a:cs typeface="DejaVu Sans"/>
              </a:defRPr>
            </a:defPPr>
          </a:lstStyle>
          <a:p xmlns:a="http://schemas.openxmlformats.org/drawingml/2006/main">
            <a:pPr algn="l">
              <a:defRPr sz="2100" b="1">
                <a:solidFill>
                  <a:srgbClr val="87521B"/>
                </a:solidFill>
                <a:latin typeface="DejaVu Sans"/>
                <a:ea typeface="DejaVu Sans"/>
                <a:cs typeface="DejaVu Sans"/>
              </a:defRPr>
            </a:pPr>
            <a:r>
              <a:rPr sz="2100" b="1">
                <a:solidFill>
                  <a:srgbClr val="87521B"/>
                </a:solidFill>
                <a:latin typeface="DejaVu Sans"/>
                <a:ea typeface="DejaVu Sans"/>
                <a:cs typeface="DejaVu Sans"/>
              </a:rPr>
              <a:t>6</a:t>
            </a:r>
          </a:p>
        </p:txBody>
      </p:sp>
      <p:sp>
        <p:nvSpPr>
          <p:cNvPr id="13" name="Funding award unit">
            <a:extLst xmlns:a="http://schemas.openxmlformats.org/drawingml/2006/main">
              <a:ext uri="{FF2B5EF4-FFF2-40B4-BE49-F238E27FC236}">
                <a16:creationId xmlns:a16="http://schemas.microsoft.com/office/drawing/2014/main" id="{153AE506-5573-4727-8C4B-63FDB9870CD6}"/>
              </a:ext>
            </a:extLst>
          </p:cNvPr>
          <p:cNvSpPr>
            <a:spLocks xmlns:a="http://schemas.openxmlformats.org/drawingml/2006/main" noGrp="1"/>
          </p:cNvSpPr>
          <p:nvPr/>
        </p:nvSpPr>
        <p:spPr>
          <a:xfrm xmlns:a="http://schemas.openxmlformats.org/drawingml/2006/main">
            <a:off x="600075" y="2543175"/>
            <a:ext cx="904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192936"/>
                </a:solidFill>
                <a:latin typeface="DejaVu Sans"/>
                <a:ea typeface="DejaVu Sans"/>
                <a:cs typeface="DejaVu Sans"/>
              </a:defRPr>
            </a:defPPr>
          </a:lstStyle>
          <a:p xmlns:a="http://schemas.openxmlformats.org/drawingml/2006/main">
            <a:pPr algn="l">
              <a:defRPr sz="900" b="1">
                <a:solidFill>
                  <a:srgbClr val="192936"/>
                </a:solidFill>
                <a:latin typeface="DejaVu Sans"/>
                <a:ea typeface="DejaVu Sans"/>
                <a:cs typeface="DejaVu Sans"/>
              </a:defRPr>
            </a:pPr>
            <a:r>
              <a:rPr sz="900" b="1">
                <a:solidFill>
                  <a:srgbClr val="192936"/>
                </a:solidFill>
                <a:latin typeface="DejaVu Sans"/>
                <a:ea typeface="DejaVu Sans"/>
                <a:cs typeface="DejaVu Sans"/>
              </a:rPr>
              <a:t>Funding</a:t>
            </a:r>
          </a:p>
        </p:txBody>
      </p:sp>
      <p:sp>
        <p:nvSpPr>
          <p:cNvPr id="14" name="Gray cube value">
            <a:extLst xmlns:a="http://schemas.openxmlformats.org/drawingml/2006/main">
              <a:ext uri="{FF2B5EF4-FFF2-40B4-BE49-F238E27FC236}">
                <a16:creationId xmlns:a16="http://schemas.microsoft.com/office/drawing/2014/main" id="{EDA5FEC2-C3C7-406D-AD71-88AD768668D9}"/>
              </a:ext>
            </a:extLst>
          </p:cNvPr>
          <p:cNvSpPr>
            <a:spLocks xmlns:a="http://schemas.openxmlformats.org/drawingml/2006/main" noGrp="1"/>
          </p:cNvSpPr>
          <p:nvPr/>
        </p:nvSpPr>
        <p:spPr>
          <a:xfrm xmlns:a="http://schemas.openxmlformats.org/drawingml/2006/main">
            <a:off x="1685925"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2616A"/>
                </a:solidFill>
                <a:latin typeface="DejaVu Sans"/>
                <a:ea typeface="DejaVu Sans"/>
                <a:cs typeface="DejaVu Sans"/>
              </a:defRPr>
            </a:defPPr>
          </a:lstStyle>
          <a:p xmlns:a="http://schemas.openxmlformats.org/drawingml/2006/main">
            <a:pPr algn="l">
              <a:defRPr sz="2100" b="1">
                <a:solidFill>
                  <a:srgbClr val="52616A"/>
                </a:solidFill>
                <a:latin typeface="DejaVu Sans"/>
                <a:ea typeface="DejaVu Sans"/>
                <a:cs typeface="DejaVu Sans"/>
              </a:defRPr>
            </a:pPr>
            <a:r>
              <a:rPr sz="2100" b="1">
                <a:solidFill>
                  <a:srgbClr val="52616A"/>
                </a:solidFill>
                <a:latin typeface="DejaVu Sans"/>
                <a:ea typeface="DejaVu Sans"/>
                <a:cs typeface="DejaVu Sans"/>
              </a:rPr>
              <a:t>5</a:t>
            </a:r>
          </a:p>
        </p:txBody>
      </p:sp>
      <p:sp>
        <p:nvSpPr>
          <p:cNvPr id="15" name="Gray cube unit">
            <a:extLst xmlns:a="http://schemas.openxmlformats.org/drawingml/2006/main">
              <a:ext uri="{FF2B5EF4-FFF2-40B4-BE49-F238E27FC236}">
                <a16:creationId xmlns:a16="http://schemas.microsoft.com/office/drawing/2014/main" id="{29711031-CAFD-439E-AB73-4CF460A2C99D}"/>
              </a:ext>
            </a:extLst>
          </p:cNvPr>
          <p:cNvSpPr>
            <a:spLocks xmlns:a="http://schemas.openxmlformats.org/drawingml/2006/main" noGrp="1"/>
          </p:cNvSpPr>
          <p:nvPr/>
        </p:nvSpPr>
        <p:spPr>
          <a:xfrm xmlns:a="http://schemas.openxmlformats.org/drawingml/2006/main">
            <a:off x="2095500" y="2543175"/>
            <a:ext cx="914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1">
                <a:solidFill>
                  <a:srgbClr val="52616A"/>
                </a:solidFill>
                <a:latin typeface="DejaVu Sans"/>
                <a:ea typeface="DejaVu Sans"/>
                <a:cs typeface="DejaVu Sans"/>
              </a:defRPr>
            </a:defPPr>
          </a:lstStyle>
          <a:p xmlns:a="http://schemas.openxmlformats.org/drawingml/2006/main">
            <a:pPr algn="l">
              <a:defRPr sz="863" b="1">
                <a:solidFill>
                  <a:srgbClr val="52616A"/>
                </a:solidFill>
                <a:latin typeface="DejaVu Sans"/>
                <a:ea typeface="DejaVu Sans"/>
                <a:cs typeface="DejaVu Sans"/>
              </a:defRPr>
            </a:pPr>
            <a:r>
              <a:rPr sz="863" b="1">
                <a:solidFill>
                  <a:srgbClr val="52616A"/>
                </a:solidFill>
                <a:latin typeface="DejaVu Sans"/>
                <a:ea typeface="DejaVu Sans"/>
                <a:cs typeface="DejaVu Sans"/>
              </a:rPr>
              <a:t>gray cubes</a:t>
            </a:r>
          </a:p>
        </p:txBody>
      </p:sp>
      <p:sp>
        <p:nvSpPr>
          <p:cNvPr id="16" name="Eligibility divider">
            <a:extLst xmlns:a="http://schemas.openxmlformats.org/drawingml/2006/main">
              <a:ext uri="{FF2B5EF4-FFF2-40B4-BE49-F238E27FC236}">
                <a16:creationId xmlns:a16="http://schemas.microsoft.com/office/drawing/2014/main" id="{FC4BEC36-850E-478E-8232-9701405C199E}"/>
              </a:ext>
            </a:extLst>
          </p:cNvPr>
          <p:cNvSpPr>
            <a:spLocks xmlns:a="http://schemas.openxmlformats.org/drawingml/2006/main" noGrp="1"/>
          </p:cNvSpPr>
          <p:nvPr/>
        </p:nvSpPr>
        <p:spPr>
          <a:xfrm xmlns:a="http://schemas.openxmlformats.org/drawingml/2006/main">
            <a:off x="190500" y="282892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7" name="Without certification heading">
            <a:extLst xmlns:a="http://schemas.openxmlformats.org/drawingml/2006/main">
              <a:ext uri="{FF2B5EF4-FFF2-40B4-BE49-F238E27FC236}">
                <a16:creationId xmlns:a16="http://schemas.microsoft.com/office/drawing/2014/main" id="{0493C9FD-4A27-492B-825C-1513CC263BB6}"/>
              </a:ext>
            </a:extLst>
          </p:cNvPr>
          <p:cNvSpPr>
            <a:spLocks xmlns:a="http://schemas.openxmlformats.org/drawingml/2006/main" noGrp="1"/>
          </p:cNvSpPr>
          <p:nvPr/>
        </p:nvSpPr>
        <p:spPr>
          <a:xfrm xmlns:a="http://schemas.openxmlformats.org/drawingml/2006/main">
            <a:off x="190500" y="2943225"/>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1">
                <a:solidFill>
                  <a:srgbClr val="87521B"/>
                </a:solidFill>
                <a:latin typeface="DejaVu Sans"/>
                <a:ea typeface="DejaVu Sans"/>
                <a:cs typeface="DejaVu Sans"/>
              </a:defRPr>
            </a:defPPr>
          </a:lstStyle>
          <a:p xmlns:a="http://schemas.openxmlformats.org/drawingml/2006/main">
            <a:pPr algn="l">
              <a:defRPr sz="825" b="1">
                <a:solidFill>
                  <a:srgbClr val="87521B"/>
                </a:solidFill>
                <a:latin typeface="DejaVu Sans"/>
                <a:ea typeface="DejaVu Sans"/>
                <a:cs typeface="DejaVu Sans"/>
              </a:defRPr>
            </a:pPr>
            <a:r>
              <a:rPr sz="825" b="1">
                <a:solidFill>
                  <a:srgbClr val="87521B"/>
                </a:solidFill>
                <a:latin typeface="DejaVu Sans"/>
                <a:ea typeface="DejaVu Sans"/>
                <a:cs typeface="DejaVu Sans"/>
              </a:rPr>
              <a:t>No Certified Expertise in Stability</a:t>
            </a:r>
          </a:p>
        </p:txBody>
      </p:sp>
      <p:sp>
        <p:nvSpPr>
          <p:cNvPr id="18" name="Without certification rule">
            <a:extLst xmlns:a="http://schemas.openxmlformats.org/drawingml/2006/main">
              <a:ext uri="{FF2B5EF4-FFF2-40B4-BE49-F238E27FC236}">
                <a16:creationId xmlns:a16="http://schemas.microsoft.com/office/drawing/2014/main" id="{97F9B2CA-683F-48AC-BD8E-A109BC90D9C6}"/>
              </a:ext>
            </a:extLst>
          </p:cNvPr>
          <p:cNvSpPr>
            <a:spLocks xmlns:a="http://schemas.openxmlformats.org/drawingml/2006/main" noGrp="1"/>
          </p:cNvSpPr>
          <p:nvPr/>
        </p:nvSpPr>
        <p:spPr>
          <a:xfrm xmlns:a="http://schemas.openxmlformats.org/drawingml/2006/main">
            <a:off x="190500" y="3152775"/>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need at least 1 Stability Recent Work token to apply. Only Stability tokens count.</a:t>
            </a:r>
          </a:p>
        </p:txBody>
      </p:sp>
      <p:sp>
        <p:nvSpPr>
          <p:cNvPr id="19" name="With certification heading">
            <a:extLst xmlns:a="http://schemas.openxmlformats.org/drawingml/2006/main">
              <a:ext uri="{FF2B5EF4-FFF2-40B4-BE49-F238E27FC236}">
                <a16:creationId xmlns:a16="http://schemas.microsoft.com/office/drawing/2014/main" id="{E36F5FC0-6DDB-4138-99AC-C994EFED8AA6}"/>
              </a:ext>
            </a:extLst>
          </p:cNvPr>
          <p:cNvSpPr>
            <a:spLocks xmlns:a="http://schemas.openxmlformats.org/drawingml/2006/main" noGrp="1"/>
          </p:cNvSpPr>
          <p:nvPr/>
        </p:nvSpPr>
        <p:spPr>
          <a:xfrm xmlns:a="http://schemas.openxmlformats.org/drawingml/2006/main">
            <a:off x="190500" y="3619500"/>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87521B"/>
                </a:solidFill>
                <a:latin typeface="DejaVu Sans"/>
                <a:ea typeface="DejaVu Sans"/>
                <a:cs typeface="DejaVu Sans"/>
              </a:defRPr>
            </a:defPPr>
          </a:lstStyle>
          <a:p xmlns:a="http://schemas.openxmlformats.org/drawingml/2006/main">
            <a:pPr algn="l">
              <a:defRPr sz="788" b="1">
                <a:solidFill>
                  <a:srgbClr val="87521B"/>
                </a:solidFill>
                <a:latin typeface="DejaVu Sans"/>
                <a:ea typeface="DejaVu Sans"/>
                <a:cs typeface="DejaVu Sans"/>
              </a:defRPr>
            </a:pPr>
            <a:r>
              <a:rPr sz="788" b="1">
                <a:solidFill>
                  <a:srgbClr val="87521B"/>
                </a:solidFill>
                <a:latin typeface="DejaVu Sans"/>
                <a:ea typeface="DejaVu Sans"/>
                <a:cs typeface="DejaVu Sans"/>
              </a:rPr>
              <a:t>With Certified Expertise in Stability</a:t>
            </a:r>
          </a:p>
        </p:txBody>
      </p:sp>
      <p:sp>
        <p:nvSpPr>
          <p:cNvPr id="20" name="With certification rule">
            <a:extLst xmlns:a="http://schemas.openxmlformats.org/drawingml/2006/main">
              <a:ext uri="{FF2B5EF4-FFF2-40B4-BE49-F238E27FC236}">
                <a16:creationId xmlns:a16="http://schemas.microsoft.com/office/drawing/2014/main" id="{5EB69DB8-9FDC-41DA-875F-54D9392471ED}"/>
              </a:ext>
            </a:extLst>
          </p:cNvPr>
          <p:cNvSpPr>
            <a:spLocks xmlns:a="http://schemas.openxmlformats.org/drawingml/2006/main" noGrp="1"/>
          </p:cNvSpPr>
          <p:nvPr/>
        </p:nvSpPr>
        <p:spPr>
          <a:xfrm xmlns:a="http://schemas.openxmlformats.org/drawingml/2006/main">
            <a:off x="190500" y="3829050"/>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may apply without Recent Work. Recent Work from ANY topic can count. Your expertise badge is permanent.</a:t>
            </a:r>
          </a:p>
        </p:txBody>
      </p:sp>
      <p:sp>
        <p:nvSpPr>
          <p:cNvPr id="21" name="Footer divider">
            <a:extLst xmlns:a="http://schemas.openxmlformats.org/drawingml/2006/main">
              <a:ext uri="{FF2B5EF4-FFF2-40B4-BE49-F238E27FC236}">
                <a16:creationId xmlns:a16="http://schemas.microsoft.com/office/drawing/2014/main" id="{C7D94166-8C84-4E1D-90C5-B9A5E72E6B87}"/>
              </a:ext>
            </a:extLst>
          </p:cNvPr>
          <p:cNvSpPr>
            <a:spLocks xmlns:a="http://schemas.openxmlformats.org/drawingml/2006/main" noGrp="1"/>
          </p:cNvSpPr>
          <p:nvPr/>
        </p:nvSpPr>
        <p:spPr>
          <a:xfrm xmlns:a="http://schemas.openxmlformats.org/drawingml/2006/main">
            <a:off x="190500" y="4286250"/>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22" name="Recent Work cap">
            <a:extLst xmlns:a="http://schemas.openxmlformats.org/drawingml/2006/main">
              <a:ext uri="{FF2B5EF4-FFF2-40B4-BE49-F238E27FC236}">
                <a16:creationId xmlns:a16="http://schemas.microsoft.com/office/drawing/2014/main" id="{44D41836-8D72-49ED-AC6A-F15AEE57A84D}"/>
              </a:ext>
            </a:extLst>
          </p:cNvPr>
          <p:cNvSpPr>
            <a:spLocks xmlns:a="http://schemas.openxmlformats.org/drawingml/2006/main" noGrp="1"/>
          </p:cNvSpPr>
          <p:nvPr/>
        </p:nvSpPr>
        <p:spPr>
          <a:xfrm xmlns:a="http://schemas.openxmlformats.org/drawingml/2006/main">
            <a:off x="190500" y="4371975"/>
            <a:ext cx="28194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192936"/>
                </a:solidFill>
                <a:latin typeface="DejaVu Sans"/>
                <a:ea typeface="DejaVu Sans"/>
                <a:cs typeface="DejaVu Sans"/>
              </a:defRPr>
            </a:defPPr>
          </a:lstStyle>
          <a:p xmlns:a="http://schemas.openxmlformats.org/drawingml/2006/main">
            <a:pPr algn="l">
              <a:defRPr sz="788" b="1">
                <a:solidFill>
                  <a:srgbClr val="192936"/>
                </a:solidFill>
                <a:latin typeface="DejaVu Sans"/>
                <a:ea typeface="DejaVu Sans"/>
                <a:cs typeface="DejaVu Sans"/>
              </a:defRPr>
            </a:pPr>
            <a:r>
              <a:rPr sz="788" b="1">
                <a:solidFill>
                  <a:srgbClr val="192936"/>
                </a:solidFill>
                <a:latin typeface="DejaVu Sans"/>
                <a:ea typeface="DejaVu Sans"/>
                <a:cs typeface="DejaVu Sans"/>
              </a:rPr>
              <a:t>Count at most 3 Recent Work tokens.</a:t>
            </a:r>
          </a:p>
        </p:txBody>
      </p:sp>
    </p:spTree>
    <p:extLst>
      <p:ext uri="{BB962C8B-B14F-4D97-AF65-F5344CB8AC3E}">
        <p14:creationId xmlns:p14="http://schemas.microsoft.com/office/powerpoint/2010/main" val="26535585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Card border">
            <a:extLst xmlns:a="http://schemas.openxmlformats.org/drawingml/2006/main">
              <a:ext uri="{FF2B5EF4-FFF2-40B4-BE49-F238E27FC236}">
                <a16:creationId xmlns:a16="http://schemas.microsoft.com/office/drawing/2014/main" id="{EA9A090F-ADE5-410E-A2F6-638B633B6A13}"/>
              </a:ext>
            </a:extLst>
          </p:cNvPr>
          <p:cNvSpPr>
            <a:spLocks xmlns:a="http://schemas.openxmlformats.org/drawingml/2006/main" noGrp="1"/>
          </p:cNvSpPr>
          <p:nvPr/>
        </p:nvSpPr>
        <p:spPr>
          <a:xfrm xmlns:a="http://schemas.openxmlformats.org/drawingml/2006/main">
            <a:off x="9525" y="9525"/>
            <a:ext cx="3181350" cy="4552950"/>
          </a:xfrm>
          <a:prstGeom xmlns:a="http://schemas.openxmlformats.org/drawingml/2006/main" prst="rect">
            <a:avLst/>
          </a:prstGeom>
          <a:noFill xmlns:a="http://schemas.openxmlformats.org/drawingml/2006/main"/>
          <a:ln xmlns:a="http://schemas.openxmlformats.org/drawingml/2006/main" w="9525">
            <a:solidFill>
              <a:srgbClr val="D0D5D8"/>
            </a:solidFill>
          </a:ln>
        </p:spPr>
      </p:sp>
      <p:sp>
        <p:nvSpPr>
          <p:cNvPr id="2" name="Topic color band">
            <a:extLst xmlns:a="http://schemas.openxmlformats.org/drawingml/2006/main">
              <a:ext uri="{FF2B5EF4-FFF2-40B4-BE49-F238E27FC236}">
                <a16:creationId xmlns:a16="http://schemas.microsoft.com/office/drawing/2014/main" id="{85562DB5-6D4A-4F19-B7D8-1EF80A571E9B}"/>
              </a:ext>
            </a:extLst>
          </p:cNvPr>
          <p:cNvSpPr>
            <a:spLocks xmlns:a="http://schemas.openxmlformats.org/drawingml/2006/main" noGrp="1"/>
          </p:cNvSpPr>
          <p:nvPr/>
        </p:nvSpPr>
        <p:spPr>
          <a:xfrm xmlns:a="http://schemas.openxmlformats.org/drawingml/2006/main">
            <a:off x="9525" y="9525"/>
            <a:ext cx="3181350" cy="400050"/>
          </a:xfrm>
          <a:prstGeom xmlns:a="http://schemas.openxmlformats.org/drawingml/2006/main" prst="rect">
            <a:avLst/>
          </a:prstGeom>
          <a:solidFill xmlns:a="http://schemas.openxmlformats.org/drawingml/2006/main">
            <a:srgbClr val="395FA0"/>
          </a:solidFill>
          <a:ln xmlns:a="http://schemas.openxmlformats.org/drawingml/2006/main" w="0">
            <a:noFill/>
          </a:ln>
        </p:spPr>
      </p:sp>
      <p:sp>
        <p:nvSpPr>
          <p:cNvPr id="3" name="Game name">
            <a:extLst xmlns:a="http://schemas.openxmlformats.org/drawingml/2006/main">
              <a:ext uri="{FF2B5EF4-FFF2-40B4-BE49-F238E27FC236}">
                <a16:creationId xmlns:a16="http://schemas.microsoft.com/office/drawing/2014/main" id="{B97DD925-F143-41F4-8239-0171A714B24A}"/>
              </a:ext>
            </a:extLst>
          </p:cNvPr>
          <p:cNvSpPr>
            <a:spLocks xmlns:a="http://schemas.openxmlformats.org/drawingml/2006/main" noGrp="1"/>
          </p:cNvSpPr>
          <p:nvPr/>
        </p:nvSpPr>
        <p:spPr>
          <a:xfrm xmlns:a="http://schemas.openxmlformats.org/drawingml/2006/main">
            <a:off x="190500" y="133350"/>
            <a:ext cx="1943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FFFFFF"/>
                </a:solidFill>
                <a:latin typeface="DejaVu Sans"/>
                <a:ea typeface="DejaVu Sans"/>
                <a:cs typeface="DejaVu Sans"/>
              </a:defRPr>
            </a:defPPr>
          </a:lstStyle>
          <a:p xmlns:a="http://schemas.openxmlformats.org/drawingml/2006/main">
            <a:pPr algn="l">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GRANT CONTROL</a:t>
            </a:r>
          </a:p>
        </p:txBody>
      </p:sp>
      <p:sp>
        <p:nvSpPr>
          <p:cNvPr id="4" name="Card identifier">
            <a:extLst xmlns:a="http://schemas.openxmlformats.org/drawingml/2006/main">
              <a:ext uri="{FF2B5EF4-FFF2-40B4-BE49-F238E27FC236}">
                <a16:creationId xmlns:a16="http://schemas.microsoft.com/office/drawing/2014/main" id="{07D44D4F-6F7D-4C88-ABD4-80F44623B12E}"/>
              </a:ext>
            </a:extLst>
          </p:cNvPr>
          <p:cNvSpPr>
            <a:spLocks xmlns:a="http://schemas.openxmlformats.org/drawingml/2006/main" noGrp="1"/>
          </p:cNvSpPr>
          <p:nvPr/>
        </p:nvSpPr>
        <p:spPr>
          <a:xfrm xmlns:a="http://schemas.openxmlformats.org/drawingml/2006/main">
            <a:off x="2371725" y="142875"/>
            <a:ext cx="6381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788" b="1">
                <a:solidFill>
                  <a:srgbClr val="FFFFFF"/>
                </a:solidFill>
                <a:latin typeface="DejaVu Sans"/>
                <a:ea typeface="DejaVu Sans"/>
                <a:cs typeface="DejaVu Sans"/>
              </a:defRPr>
            </a:defPPr>
          </a:lstStyle>
          <a:p xmlns:a="http://schemas.openxmlformats.org/drawingml/2006/main">
            <a:pPr algn="r">
              <a:defRPr sz="788" b="1">
                <a:solidFill>
                  <a:srgbClr val="FFFFFF"/>
                </a:solidFill>
                <a:latin typeface="DejaVu Sans"/>
                <a:ea typeface="DejaVu Sans"/>
                <a:cs typeface="DejaVu Sans"/>
              </a:defRPr>
            </a:pPr>
            <a:r>
              <a:rPr sz="788" b="1">
                <a:solidFill>
                  <a:srgbClr val="FFFFFF"/>
                </a:solidFill>
                <a:latin typeface="DejaVu Sans"/>
                <a:ea typeface="DejaVu Sans"/>
                <a:cs typeface="DejaVu Sans"/>
              </a:rPr>
              <a:t>LIN-01</a:t>
            </a:r>
          </a:p>
        </p:txBody>
      </p:sp>
      <p:sp>
        <p:nvSpPr>
          <p:cNvPr id="5" name="Card category">
            <a:extLst xmlns:a="http://schemas.openxmlformats.org/drawingml/2006/main">
              <a:ext uri="{FF2B5EF4-FFF2-40B4-BE49-F238E27FC236}">
                <a16:creationId xmlns:a16="http://schemas.microsoft.com/office/drawing/2014/main" id="{20D9520F-59D2-4FA9-BE29-0CF0D0567B00}"/>
              </a:ext>
            </a:extLst>
          </p:cNvPr>
          <p:cNvSpPr>
            <a:spLocks xmlns:a="http://schemas.openxmlformats.org/drawingml/2006/main" noGrp="1"/>
          </p:cNvSpPr>
          <p:nvPr/>
        </p:nvSpPr>
        <p:spPr>
          <a:xfrm xmlns:a="http://schemas.openxmlformats.org/drawingml/2006/main">
            <a:off x="190500" y="523875"/>
            <a:ext cx="2800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395FA0"/>
                </a:solidFill>
                <a:latin typeface="DejaVu Sans"/>
                <a:ea typeface="DejaVu Sans"/>
                <a:cs typeface="DejaVu Sans"/>
              </a:defRPr>
            </a:defPPr>
          </a:lstStyle>
          <a:p xmlns:a="http://schemas.openxmlformats.org/drawingml/2006/main">
            <a:pPr algn="l">
              <a:defRPr sz="788" b="1">
                <a:solidFill>
                  <a:srgbClr val="395FA0"/>
                </a:solidFill>
                <a:latin typeface="DejaVu Sans"/>
                <a:ea typeface="DejaVu Sans"/>
                <a:cs typeface="DejaVu Sans"/>
              </a:defRPr>
            </a:pPr>
            <a:r>
              <a:rPr sz="788" b="1">
                <a:solidFill>
                  <a:srgbClr val="395FA0"/>
                </a:solidFill>
                <a:latin typeface="DejaVu Sans"/>
                <a:ea typeface="DejaVu Sans"/>
                <a:cs typeface="DejaVu Sans"/>
              </a:rPr>
              <a:t>FUNDING CALL</a:t>
            </a:r>
          </a:p>
        </p:txBody>
      </p:sp>
      <p:sp>
        <p:nvSpPr>
          <p:cNvPr id="6" name="Primary topic">
            <a:extLst xmlns:a="http://schemas.openxmlformats.org/drawingml/2006/main">
              <a:ext uri="{FF2B5EF4-FFF2-40B4-BE49-F238E27FC236}">
                <a16:creationId xmlns:a16="http://schemas.microsoft.com/office/drawing/2014/main" id="{ECEDF0CF-DC77-4833-B0D0-FB2AB2A94D9D}"/>
              </a:ext>
            </a:extLst>
          </p:cNvPr>
          <p:cNvSpPr>
            <a:spLocks xmlns:a="http://schemas.openxmlformats.org/drawingml/2006/main" noGrp="1"/>
          </p:cNvSpPr>
          <p:nvPr/>
        </p:nvSpPr>
        <p:spPr>
          <a:xfrm xmlns:a="http://schemas.openxmlformats.org/drawingml/2006/main">
            <a:off x="190500" y="733425"/>
            <a:ext cx="2819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395FA0"/>
                </a:solidFill>
                <a:latin typeface="DejaVu Sans"/>
                <a:ea typeface="DejaVu Sans"/>
                <a:cs typeface="DejaVu Sans"/>
              </a:defRPr>
            </a:defPPr>
          </a:lstStyle>
          <a:p xmlns:a="http://schemas.openxmlformats.org/drawingml/2006/main">
            <a:pPr algn="l">
              <a:defRPr sz="975" b="1">
                <a:solidFill>
                  <a:srgbClr val="395FA0"/>
                </a:solidFill>
                <a:latin typeface="DejaVu Sans"/>
                <a:ea typeface="DejaVu Sans"/>
                <a:cs typeface="DejaVu Sans"/>
              </a:defRPr>
            </a:pPr>
            <a:r>
              <a:rPr sz="975" b="1">
                <a:solidFill>
                  <a:srgbClr val="395FA0"/>
                </a:solidFill>
                <a:latin typeface="DejaVu Sans"/>
                <a:ea typeface="DejaVu Sans"/>
                <a:cs typeface="DejaVu Sans"/>
              </a:rPr>
              <a:t>Linear Systems</a:t>
            </a:r>
          </a:p>
        </p:txBody>
      </p:sp>
      <p:sp>
        <p:nvSpPr>
          <p:cNvPr id="7" name="Call title">
            <a:extLst xmlns:a="http://schemas.openxmlformats.org/drawingml/2006/main">
              <a:ext uri="{FF2B5EF4-FFF2-40B4-BE49-F238E27FC236}">
                <a16:creationId xmlns:a16="http://schemas.microsoft.com/office/drawing/2014/main" id="{6B5DFA09-43EC-4F60-AABD-C691F7F021D6}"/>
              </a:ext>
            </a:extLst>
          </p:cNvPr>
          <p:cNvSpPr>
            <a:spLocks xmlns:a="http://schemas.openxmlformats.org/drawingml/2006/main" noGrp="1"/>
          </p:cNvSpPr>
          <p:nvPr/>
        </p:nvSpPr>
        <p:spPr>
          <a:xfrm xmlns:a="http://schemas.openxmlformats.org/drawingml/2006/main">
            <a:off x="190500" y="1028700"/>
            <a:ext cx="281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92936"/>
                </a:solidFill>
                <a:latin typeface="DejaVu Sans"/>
                <a:ea typeface="DejaVu Sans"/>
                <a:cs typeface="DejaVu Sans"/>
              </a:defRPr>
            </a:defPPr>
          </a:lstStyle>
          <a:p xmlns:a="http://schemas.openxmlformats.org/drawingml/2006/main">
            <a:pPr algn="l">
              <a:defRPr sz="1500" b="1">
                <a:solidFill>
                  <a:srgbClr val="192936"/>
                </a:solidFill>
                <a:latin typeface="DejaVu Sans"/>
                <a:ea typeface="DejaVu Sans"/>
                <a:cs typeface="DejaVu Sans"/>
              </a:defRPr>
            </a:pPr>
            <a:r>
              <a:rPr sz="1500" b="1">
                <a:solidFill>
                  <a:srgbClr val="192936"/>
                </a:solidFill>
                <a:latin typeface="DejaVu Sans"/>
                <a:ea typeface="DejaVu Sans"/>
                <a:cs typeface="DejaVu Sans"/>
              </a:rPr>
              <a:t>Control With Limited Actuation</a:t>
            </a:r>
          </a:p>
        </p:txBody>
      </p:sp>
      <p:sp>
        <p:nvSpPr>
          <p:cNvPr id="8" name="Research scope">
            <a:extLst xmlns:a="http://schemas.openxmlformats.org/drawingml/2006/main">
              <a:ext uri="{FF2B5EF4-FFF2-40B4-BE49-F238E27FC236}">
                <a16:creationId xmlns:a16="http://schemas.microsoft.com/office/drawing/2014/main" id="{6688EAB0-367B-40F0-AF5B-142BC82866E7}"/>
              </a:ext>
            </a:extLst>
          </p:cNvPr>
          <p:cNvSpPr>
            <a:spLocks xmlns:a="http://schemas.openxmlformats.org/drawingml/2006/main" noGrp="1"/>
          </p:cNvSpPr>
          <p:nvPr/>
        </p:nvSpPr>
        <p:spPr>
          <a:xfrm xmlns:a="http://schemas.openxmlformats.org/drawingml/2006/main">
            <a:off x="190500" y="1628775"/>
            <a:ext cx="2819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0">
                <a:solidFill>
                  <a:srgbClr val="52616A"/>
                </a:solidFill>
                <a:latin typeface="DejaVu Sans"/>
                <a:ea typeface="DejaVu Sans"/>
                <a:cs typeface="DejaVu Sans"/>
              </a:defRPr>
            </a:defPPr>
          </a:lstStyle>
          <a:p xmlns:a="http://schemas.openxmlformats.org/drawingml/2006/main">
            <a:pPr algn="l">
              <a:defRPr sz="825" b="0">
                <a:solidFill>
                  <a:srgbClr val="52616A"/>
                </a:solidFill>
                <a:latin typeface="DejaVu Sans"/>
                <a:ea typeface="DejaVu Sans"/>
                <a:cs typeface="DejaVu Sans"/>
              </a:defRPr>
            </a:pPr>
            <a:r>
              <a:rPr sz="825" b="0">
                <a:solidFill>
                  <a:srgbClr val="52616A"/>
                </a:solidFill>
                <a:latin typeface="DejaVu Sans"/>
                <a:ea typeface="DejaVu Sans"/>
                <a:cs typeface="DejaVu Sans"/>
              </a:rPr>
              <a:t>Study a linear system with a restricted set of actuators. Determine which states can be controlled and design suitable state feedback.</a:t>
            </a:r>
          </a:p>
        </p:txBody>
      </p:sp>
      <p:sp>
        <p:nvSpPr>
          <p:cNvPr id="9" name="Statistics divider">
            <a:extLst xmlns:a="http://schemas.openxmlformats.org/drawingml/2006/main">
              <a:ext uri="{FF2B5EF4-FFF2-40B4-BE49-F238E27FC236}">
                <a16:creationId xmlns:a16="http://schemas.microsoft.com/office/drawing/2014/main" id="{2F182E43-D178-4509-98F9-D32A8C901A33}"/>
              </a:ext>
            </a:extLst>
          </p:cNvPr>
          <p:cNvSpPr>
            <a:spLocks xmlns:a="http://schemas.openxmlformats.org/drawingml/2006/main" noGrp="1"/>
          </p:cNvSpPr>
          <p:nvPr/>
        </p:nvSpPr>
        <p:spPr>
          <a:xfrm xmlns:a="http://schemas.openxmlformats.org/drawingml/2006/main">
            <a:off x="190500" y="216217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0" name="Funding award label">
            <a:extLst xmlns:a="http://schemas.openxmlformats.org/drawingml/2006/main">
              <a:ext uri="{FF2B5EF4-FFF2-40B4-BE49-F238E27FC236}">
                <a16:creationId xmlns:a16="http://schemas.microsoft.com/office/drawing/2014/main" id="{05C711AE-6D59-49DD-9C54-0C299028BF1E}"/>
              </a:ext>
            </a:extLst>
          </p:cNvPr>
          <p:cNvSpPr>
            <a:spLocks xmlns:a="http://schemas.openxmlformats.org/drawingml/2006/main" noGrp="1"/>
          </p:cNvSpPr>
          <p:nvPr/>
        </p:nvSpPr>
        <p:spPr>
          <a:xfrm xmlns:a="http://schemas.openxmlformats.org/drawingml/2006/main">
            <a:off x="190500"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FUNDING AWARD</a:t>
            </a:r>
          </a:p>
        </p:txBody>
      </p:sp>
      <p:sp>
        <p:nvSpPr>
          <p:cNvPr id="11" name="Gray cube label">
            <a:extLst xmlns:a="http://schemas.openxmlformats.org/drawingml/2006/main">
              <a:ext uri="{FF2B5EF4-FFF2-40B4-BE49-F238E27FC236}">
                <a16:creationId xmlns:a16="http://schemas.microsoft.com/office/drawing/2014/main" id="{065E91FE-A64A-4750-AB57-A1FC6E331CB3}"/>
              </a:ext>
            </a:extLst>
          </p:cNvPr>
          <p:cNvSpPr>
            <a:spLocks xmlns:a="http://schemas.openxmlformats.org/drawingml/2006/main" noGrp="1"/>
          </p:cNvSpPr>
          <p:nvPr/>
        </p:nvSpPr>
        <p:spPr>
          <a:xfrm xmlns:a="http://schemas.openxmlformats.org/drawingml/2006/main">
            <a:off x="1685925"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OUTSIDE / NO-AWARD</a:t>
            </a:r>
          </a:p>
        </p:txBody>
      </p:sp>
      <p:sp>
        <p:nvSpPr>
          <p:cNvPr id="12" name="Funding award value">
            <a:extLst xmlns:a="http://schemas.openxmlformats.org/drawingml/2006/main">
              <a:ext uri="{FF2B5EF4-FFF2-40B4-BE49-F238E27FC236}">
                <a16:creationId xmlns:a16="http://schemas.microsoft.com/office/drawing/2014/main" id="{0C1A1AE4-F9C2-4AA4-BB60-5376C17C2F3F}"/>
              </a:ext>
            </a:extLst>
          </p:cNvPr>
          <p:cNvSpPr>
            <a:spLocks xmlns:a="http://schemas.openxmlformats.org/drawingml/2006/main" noGrp="1"/>
          </p:cNvSpPr>
          <p:nvPr/>
        </p:nvSpPr>
        <p:spPr>
          <a:xfrm xmlns:a="http://schemas.openxmlformats.org/drawingml/2006/main">
            <a:off x="190500"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395FA0"/>
                </a:solidFill>
                <a:latin typeface="DejaVu Sans"/>
                <a:ea typeface="DejaVu Sans"/>
                <a:cs typeface="DejaVu Sans"/>
              </a:defRPr>
            </a:defPPr>
          </a:lstStyle>
          <a:p xmlns:a="http://schemas.openxmlformats.org/drawingml/2006/main">
            <a:pPr algn="l">
              <a:defRPr sz="2100" b="1">
                <a:solidFill>
                  <a:srgbClr val="395FA0"/>
                </a:solidFill>
                <a:latin typeface="DejaVu Sans"/>
                <a:ea typeface="DejaVu Sans"/>
                <a:cs typeface="DejaVu Sans"/>
              </a:defRPr>
            </a:pPr>
            <a:r>
              <a:rPr sz="2100" b="1">
                <a:solidFill>
                  <a:srgbClr val="395FA0"/>
                </a:solidFill>
                <a:latin typeface="DejaVu Sans"/>
                <a:ea typeface="DejaVu Sans"/>
                <a:cs typeface="DejaVu Sans"/>
              </a:rPr>
              <a:t>4</a:t>
            </a:r>
          </a:p>
        </p:txBody>
      </p:sp>
      <p:sp>
        <p:nvSpPr>
          <p:cNvPr id="13" name="Funding award unit">
            <a:extLst xmlns:a="http://schemas.openxmlformats.org/drawingml/2006/main">
              <a:ext uri="{FF2B5EF4-FFF2-40B4-BE49-F238E27FC236}">
                <a16:creationId xmlns:a16="http://schemas.microsoft.com/office/drawing/2014/main" id="{6157462E-8729-4E65-9BCB-AB073F6C7728}"/>
              </a:ext>
            </a:extLst>
          </p:cNvPr>
          <p:cNvSpPr>
            <a:spLocks xmlns:a="http://schemas.openxmlformats.org/drawingml/2006/main" noGrp="1"/>
          </p:cNvSpPr>
          <p:nvPr/>
        </p:nvSpPr>
        <p:spPr>
          <a:xfrm xmlns:a="http://schemas.openxmlformats.org/drawingml/2006/main">
            <a:off x="600075" y="2543175"/>
            <a:ext cx="904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192936"/>
                </a:solidFill>
                <a:latin typeface="DejaVu Sans"/>
                <a:ea typeface="DejaVu Sans"/>
                <a:cs typeface="DejaVu Sans"/>
              </a:defRPr>
            </a:defPPr>
          </a:lstStyle>
          <a:p xmlns:a="http://schemas.openxmlformats.org/drawingml/2006/main">
            <a:pPr algn="l">
              <a:defRPr sz="900" b="1">
                <a:solidFill>
                  <a:srgbClr val="192936"/>
                </a:solidFill>
                <a:latin typeface="DejaVu Sans"/>
                <a:ea typeface="DejaVu Sans"/>
                <a:cs typeface="DejaVu Sans"/>
              </a:defRPr>
            </a:pPr>
            <a:r>
              <a:rPr sz="900" b="1">
                <a:solidFill>
                  <a:srgbClr val="192936"/>
                </a:solidFill>
                <a:latin typeface="DejaVu Sans"/>
                <a:ea typeface="DejaVu Sans"/>
                <a:cs typeface="DejaVu Sans"/>
              </a:rPr>
              <a:t>Funding</a:t>
            </a:r>
          </a:p>
        </p:txBody>
      </p:sp>
      <p:sp>
        <p:nvSpPr>
          <p:cNvPr id="14" name="Gray cube value">
            <a:extLst xmlns:a="http://schemas.openxmlformats.org/drawingml/2006/main">
              <a:ext uri="{FF2B5EF4-FFF2-40B4-BE49-F238E27FC236}">
                <a16:creationId xmlns:a16="http://schemas.microsoft.com/office/drawing/2014/main" id="{2E3F509D-AC37-4DA8-8E71-05C82914D248}"/>
              </a:ext>
            </a:extLst>
          </p:cNvPr>
          <p:cNvSpPr>
            <a:spLocks xmlns:a="http://schemas.openxmlformats.org/drawingml/2006/main" noGrp="1"/>
          </p:cNvSpPr>
          <p:nvPr/>
        </p:nvSpPr>
        <p:spPr>
          <a:xfrm xmlns:a="http://schemas.openxmlformats.org/drawingml/2006/main">
            <a:off x="1685925"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2616A"/>
                </a:solidFill>
                <a:latin typeface="DejaVu Sans"/>
                <a:ea typeface="DejaVu Sans"/>
                <a:cs typeface="DejaVu Sans"/>
              </a:defRPr>
            </a:defPPr>
          </a:lstStyle>
          <a:p xmlns:a="http://schemas.openxmlformats.org/drawingml/2006/main">
            <a:pPr algn="l">
              <a:defRPr sz="2100" b="1">
                <a:solidFill>
                  <a:srgbClr val="52616A"/>
                </a:solidFill>
                <a:latin typeface="DejaVu Sans"/>
                <a:ea typeface="DejaVu Sans"/>
                <a:cs typeface="DejaVu Sans"/>
              </a:defRPr>
            </a:pPr>
            <a:r>
              <a:rPr sz="2100" b="1">
                <a:solidFill>
                  <a:srgbClr val="52616A"/>
                </a:solidFill>
                <a:latin typeface="DejaVu Sans"/>
                <a:ea typeface="DejaVu Sans"/>
                <a:cs typeface="DejaVu Sans"/>
              </a:rPr>
              <a:t>3</a:t>
            </a:r>
          </a:p>
        </p:txBody>
      </p:sp>
      <p:sp>
        <p:nvSpPr>
          <p:cNvPr id="15" name="Gray cube unit">
            <a:extLst xmlns:a="http://schemas.openxmlformats.org/drawingml/2006/main">
              <a:ext uri="{FF2B5EF4-FFF2-40B4-BE49-F238E27FC236}">
                <a16:creationId xmlns:a16="http://schemas.microsoft.com/office/drawing/2014/main" id="{0332C684-F8C6-4B11-B2DD-74DE14909FD5}"/>
              </a:ext>
            </a:extLst>
          </p:cNvPr>
          <p:cNvSpPr>
            <a:spLocks xmlns:a="http://schemas.openxmlformats.org/drawingml/2006/main" noGrp="1"/>
          </p:cNvSpPr>
          <p:nvPr/>
        </p:nvSpPr>
        <p:spPr>
          <a:xfrm xmlns:a="http://schemas.openxmlformats.org/drawingml/2006/main">
            <a:off x="2095500" y="2543175"/>
            <a:ext cx="914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1">
                <a:solidFill>
                  <a:srgbClr val="52616A"/>
                </a:solidFill>
                <a:latin typeface="DejaVu Sans"/>
                <a:ea typeface="DejaVu Sans"/>
                <a:cs typeface="DejaVu Sans"/>
              </a:defRPr>
            </a:defPPr>
          </a:lstStyle>
          <a:p xmlns:a="http://schemas.openxmlformats.org/drawingml/2006/main">
            <a:pPr algn="l">
              <a:defRPr sz="863" b="1">
                <a:solidFill>
                  <a:srgbClr val="52616A"/>
                </a:solidFill>
                <a:latin typeface="DejaVu Sans"/>
                <a:ea typeface="DejaVu Sans"/>
                <a:cs typeface="DejaVu Sans"/>
              </a:defRPr>
            </a:pPr>
            <a:r>
              <a:rPr sz="863" b="1">
                <a:solidFill>
                  <a:srgbClr val="52616A"/>
                </a:solidFill>
                <a:latin typeface="DejaVu Sans"/>
                <a:ea typeface="DejaVu Sans"/>
                <a:cs typeface="DejaVu Sans"/>
              </a:rPr>
              <a:t>gray cubes</a:t>
            </a:r>
          </a:p>
        </p:txBody>
      </p:sp>
      <p:sp>
        <p:nvSpPr>
          <p:cNvPr id="16" name="Eligibility divider">
            <a:extLst xmlns:a="http://schemas.openxmlformats.org/drawingml/2006/main">
              <a:ext uri="{FF2B5EF4-FFF2-40B4-BE49-F238E27FC236}">
                <a16:creationId xmlns:a16="http://schemas.microsoft.com/office/drawing/2014/main" id="{1D91FFCA-72A3-41A4-89C8-C136158A86C5}"/>
              </a:ext>
            </a:extLst>
          </p:cNvPr>
          <p:cNvSpPr>
            <a:spLocks xmlns:a="http://schemas.openxmlformats.org/drawingml/2006/main" noGrp="1"/>
          </p:cNvSpPr>
          <p:nvPr/>
        </p:nvSpPr>
        <p:spPr>
          <a:xfrm xmlns:a="http://schemas.openxmlformats.org/drawingml/2006/main">
            <a:off x="190500" y="282892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7" name="Without certification heading">
            <a:extLst xmlns:a="http://schemas.openxmlformats.org/drawingml/2006/main">
              <a:ext uri="{FF2B5EF4-FFF2-40B4-BE49-F238E27FC236}">
                <a16:creationId xmlns:a16="http://schemas.microsoft.com/office/drawing/2014/main" id="{FC168D46-745E-4987-9FB6-29A21E01C054}"/>
              </a:ext>
            </a:extLst>
          </p:cNvPr>
          <p:cNvSpPr>
            <a:spLocks xmlns:a="http://schemas.openxmlformats.org/drawingml/2006/main" noGrp="1"/>
          </p:cNvSpPr>
          <p:nvPr/>
        </p:nvSpPr>
        <p:spPr>
          <a:xfrm xmlns:a="http://schemas.openxmlformats.org/drawingml/2006/main">
            <a:off x="190500" y="2943225"/>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1">
                <a:solidFill>
                  <a:srgbClr val="395FA0"/>
                </a:solidFill>
                <a:latin typeface="DejaVu Sans"/>
                <a:ea typeface="DejaVu Sans"/>
                <a:cs typeface="DejaVu Sans"/>
              </a:defRPr>
            </a:defPPr>
          </a:lstStyle>
          <a:p xmlns:a="http://schemas.openxmlformats.org/drawingml/2006/main">
            <a:pPr algn="l">
              <a:defRPr sz="825" b="1">
                <a:solidFill>
                  <a:srgbClr val="395FA0"/>
                </a:solidFill>
                <a:latin typeface="DejaVu Sans"/>
                <a:ea typeface="DejaVu Sans"/>
                <a:cs typeface="DejaVu Sans"/>
              </a:defRPr>
            </a:pPr>
            <a:r>
              <a:rPr sz="825" b="1">
                <a:solidFill>
                  <a:srgbClr val="395FA0"/>
                </a:solidFill>
                <a:latin typeface="DejaVu Sans"/>
                <a:ea typeface="DejaVu Sans"/>
                <a:cs typeface="DejaVu Sans"/>
              </a:rPr>
              <a:t>No Certified Expertise in Linear Systems</a:t>
            </a:r>
          </a:p>
        </p:txBody>
      </p:sp>
      <p:sp>
        <p:nvSpPr>
          <p:cNvPr id="18" name="Without certification rule">
            <a:extLst xmlns:a="http://schemas.openxmlformats.org/drawingml/2006/main">
              <a:ext uri="{FF2B5EF4-FFF2-40B4-BE49-F238E27FC236}">
                <a16:creationId xmlns:a16="http://schemas.microsoft.com/office/drawing/2014/main" id="{4A74FA25-7498-4602-8B8F-41EC48D0FFD9}"/>
              </a:ext>
            </a:extLst>
          </p:cNvPr>
          <p:cNvSpPr>
            <a:spLocks xmlns:a="http://schemas.openxmlformats.org/drawingml/2006/main" noGrp="1"/>
          </p:cNvSpPr>
          <p:nvPr/>
        </p:nvSpPr>
        <p:spPr>
          <a:xfrm xmlns:a="http://schemas.openxmlformats.org/drawingml/2006/main">
            <a:off x="190500" y="3152775"/>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need at least 1 Linear Systems Recent Work token to apply. Only Linear Systems tokens count.</a:t>
            </a:r>
          </a:p>
        </p:txBody>
      </p:sp>
      <p:sp>
        <p:nvSpPr>
          <p:cNvPr id="19" name="With certification heading">
            <a:extLst xmlns:a="http://schemas.openxmlformats.org/drawingml/2006/main">
              <a:ext uri="{FF2B5EF4-FFF2-40B4-BE49-F238E27FC236}">
                <a16:creationId xmlns:a16="http://schemas.microsoft.com/office/drawing/2014/main" id="{B238E3FF-21F9-48B1-A8C6-9C227E76C3E2}"/>
              </a:ext>
            </a:extLst>
          </p:cNvPr>
          <p:cNvSpPr>
            <a:spLocks xmlns:a="http://schemas.openxmlformats.org/drawingml/2006/main" noGrp="1"/>
          </p:cNvSpPr>
          <p:nvPr/>
        </p:nvSpPr>
        <p:spPr>
          <a:xfrm xmlns:a="http://schemas.openxmlformats.org/drawingml/2006/main">
            <a:off x="190500" y="3619500"/>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395FA0"/>
                </a:solidFill>
                <a:latin typeface="DejaVu Sans"/>
                <a:ea typeface="DejaVu Sans"/>
                <a:cs typeface="DejaVu Sans"/>
              </a:defRPr>
            </a:defPPr>
          </a:lstStyle>
          <a:p xmlns:a="http://schemas.openxmlformats.org/drawingml/2006/main">
            <a:pPr algn="l">
              <a:defRPr sz="788" b="1">
                <a:solidFill>
                  <a:srgbClr val="395FA0"/>
                </a:solidFill>
                <a:latin typeface="DejaVu Sans"/>
                <a:ea typeface="DejaVu Sans"/>
                <a:cs typeface="DejaVu Sans"/>
              </a:defRPr>
            </a:pPr>
            <a:r>
              <a:rPr sz="788" b="1">
                <a:solidFill>
                  <a:srgbClr val="395FA0"/>
                </a:solidFill>
                <a:latin typeface="DejaVu Sans"/>
                <a:ea typeface="DejaVu Sans"/>
                <a:cs typeface="DejaVu Sans"/>
              </a:rPr>
              <a:t>With Certified Expertise in Linear Systems</a:t>
            </a:r>
          </a:p>
        </p:txBody>
      </p:sp>
      <p:sp>
        <p:nvSpPr>
          <p:cNvPr id="20" name="With certification rule">
            <a:extLst xmlns:a="http://schemas.openxmlformats.org/drawingml/2006/main">
              <a:ext uri="{FF2B5EF4-FFF2-40B4-BE49-F238E27FC236}">
                <a16:creationId xmlns:a16="http://schemas.microsoft.com/office/drawing/2014/main" id="{E0B0D5DB-460B-44E7-BEBC-AE623E80F305}"/>
              </a:ext>
            </a:extLst>
          </p:cNvPr>
          <p:cNvSpPr>
            <a:spLocks xmlns:a="http://schemas.openxmlformats.org/drawingml/2006/main" noGrp="1"/>
          </p:cNvSpPr>
          <p:nvPr/>
        </p:nvSpPr>
        <p:spPr>
          <a:xfrm xmlns:a="http://schemas.openxmlformats.org/drawingml/2006/main">
            <a:off x="190500" y="3829050"/>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may apply without Recent Work. Recent Work from ANY topic can count. Your expertise badge is permanent.</a:t>
            </a:r>
          </a:p>
        </p:txBody>
      </p:sp>
      <p:sp>
        <p:nvSpPr>
          <p:cNvPr id="21" name="Footer divider">
            <a:extLst xmlns:a="http://schemas.openxmlformats.org/drawingml/2006/main">
              <a:ext uri="{FF2B5EF4-FFF2-40B4-BE49-F238E27FC236}">
                <a16:creationId xmlns:a16="http://schemas.microsoft.com/office/drawing/2014/main" id="{AE17485D-8CD2-4597-ADA1-AC916A5E21A6}"/>
              </a:ext>
            </a:extLst>
          </p:cNvPr>
          <p:cNvSpPr>
            <a:spLocks xmlns:a="http://schemas.openxmlformats.org/drawingml/2006/main" noGrp="1"/>
          </p:cNvSpPr>
          <p:nvPr/>
        </p:nvSpPr>
        <p:spPr>
          <a:xfrm xmlns:a="http://schemas.openxmlformats.org/drawingml/2006/main">
            <a:off x="190500" y="4286250"/>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22" name="Recent Work cap">
            <a:extLst xmlns:a="http://schemas.openxmlformats.org/drawingml/2006/main">
              <a:ext uri="{FF2B5EF4-FFF2-40B4-BE49-F238E27FC236}">
                <a16:creationId xmlns:a16="http://schemas.microsoft.com/office/drawing/2014/main" id="{31AB1C03-E819-40CB-BC16-A4A4F000936C}"/>
              </a:ext>
            </a:extLst>
          </p:cNvPr>
          <p:cNvSpPr>
            <a:spLocks xmlns:a="http://schemas.openxmlformats.org/drawingml/2006/main" noGrp="1"/>
          </p:cNvSpPr>
          <p:nvPr/>
        </p:nvSpPr>
        <p:spPr>
          <a:xfrm xmlns:a="http://schemas.openxmlformats.org/drawingml/2006/main">
            <a:off x="190500" y="4371975"/>
            <a:ext cx="28194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192936"/>
                </a:solidFill>
                <a:latin typeface="DejaVu Sans"/>
                <a:ea typeface="DejaVu Sans"/>
                <a:cs typeface="DejaVu Sans"/>
              </a:defRPr>
            </a:defPPr>
          </a:lstStyle>
          <a:p xmlns:a="http://schemas.openxmlformats.org/drawingml/2006/main">
            <a:pPr algn="l">
              <a:defRPr sz="788" b="1">
                <a:solidFill>
                  <a:srgbClr val="192936"/>
                </a:solidFill>
                <a:latin typeface="DejaVu Sans"/>
                <a:ea typeface="DejaVu Sans"/>
                <a:cs typeface="DejaVu Sans"/>
              </a:defRPr>
            </a:pPr>
            <a:r>
              <a:rPr sz="788" b="1">
                <a:solidFill>
                  <a:srgbClr val="192936"/>
                </a:solidFill>
                <a:latin typeface="DejaVu Sans"/>
                <a:ea typeface="DejaVu Sans"/>
                <a:cs typeface="DejaVu Sans"/>
              </a:rPr>
              <a:t>Count at most 3 Recent Work tokens.</a:t>
            </a:r>
          </a:p>
        </p:txBody>
      </p:sp>
    </p:spTree>
    <p:extLst>
      <p:ext uri="{BB962C8B-B14F-4D97-AF65-F5344CB8AC3E}">
        <p14:creationId xmlns:p14="http://schemas.microsoft.com/office/powerpoint/2010/main" val="27478499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Card border">
            <a:extLst xmlns:a="http://schemas.openxmlformats.org/drawingml/2006/main">
              <a:ext uri="{FF2B5EF4-FFF2-40B4-BE49-F238E27FC236}">
                <a16:creationId xmlns:a16="http://schemas.microsoft.com/office/drawing/2014/main" id="{41F5F325-CE64-442F-9130-D71ED48B2DFB}"/>
              </a:ext>
            </a:extLst>
          </p:cNvPr>
          <p:cNvSpPr>
            <a:spLocks xmlns:a="http://schemas.openxmlformats.org/drawingml/2006/main" noGrp="1"/>
          </p:cNvSpPr>
          <p:nvPr/>
        </p:nvSpPr>
        <p:spPr>
          <a:xfrm xmlns:a="http://schemas.openxmlformats.org/drawingml/2006/main">
            <a:off x="9525" y="9525"/>
            <a:ext cx="3181350" cy="4552950"/>
          </a:xfrm>
          <a:prstGeom xmlns:a="http://schemas.openxmlformats.org/drawingml/2006/main" prst="rect">
            <a:avLst/>
          </a:prstGeom>
          <a:noFill xmlns:a="http://schemas.openxmlformats.org/drawingml/2006/main"/>
          <a:ln xmlns:a="http://schemas.openxmlformats.org/drawingml/2006/main" w="9525">
            <a:solidFill>
              <a:srgbClr val="D0D5D8"/>
            </a:solidFill>
          </a:ln>
        </p:spPr>
      </p:sp>
      <p:sp>
        <p:nvSpPr>
          <p:cNvPr id="2" name="Topic color band">
            <a:extLst xmlns:a="http://schemas.openxmlformats.org/drawingml/2006/main">
              <a:ext uri="{FF2B5EF4-FFF2-40B4-BE49-F238E27FC236}">
                <a16:creationId xmlns:a16="http://schemas.microsoft.com/office/drawing/2014/main" id="{85B0A51B-F0B2-4718-9E1B-0110C8A3CDA9}"/>
              </a:ext>
            </a:extLst>
          </p:cNvPr>
          <p:cNvSpPr>
            <a:spLocks xmlns:a="http://schemas.openxmlformats.org/drawingml/2006/main" noGrp="1"/>
          </p:cNvSpPr>
          <p:nvPr/>
        </p:nvSpPr>
        <p:spPr>
          <a:xfrm xmlns:a="http://schemas.openxmlformats.org/drawingml/2006/main">
            <a:off x="9525" y="9525"/>
            <a:ext cx="3181350" cy="400050"/>
          </a:xfrm>
          <a:prstGeom xmlns:a="http://schemas.openxmlformats.org/drawingml/2006/main" prst="rect">
            <a:avLst/>
          </a:prstGeom>
          <a:solidFill xmlns:a="http://schemas.openxmlformats.org/drawingml/2006/main">
            <a:srgbClr val="395FA0"/>
          </a:solidFill>
          <a:ln xmlns:a="http://schemas.openxmlformats.org/drawingml/2006/main" w="0">
            <a:noFill/>
          </a:ln>
        </p:spPr>
      </p:sp>
      <p:sp>
        <p:nvSpPr>
          <p:cNvPr id="3" name="Game name">
            <a:extLst xmlns:a="http://schemas.openxmlformats.org/drawingml/2006/main">
              <a:ext uri="{FF2B5EF4-FFF2-40B4-BE49-F238E27FC236}">
                <a16:creationId xmlns:a16="http://schemas.microsoft.com/office/drawing/2014/main" id="{B4A14BB7-7C59-484A-ACC1-C7FD73E87B51}"/>
              </a:ext>
            </a:extLst>
          </p:cNvPr>
          <p:cNvSpPr>
            <a:spLocks xmlns:a="http://schemas.openxmlformats.org/drawingml/2006/main" noGrp="1"/>
          </p:cNvSpPr>
          <p:nvPr/>
        </p:nvSpPr>
        <p:spPr>
          <a:xfrm xmlns:a="http://schemas.openxmlformats.org/drawingml/2006/main">
            <a:off x="190500" y="133350"/>
            <a:ext cx="1943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FFFFFF"/>
                </a:solidFill>
                <a:latin typeface="DejaVu Sans"/>
                <a:ea typeface="DejaVu Sans"/>
                <a:cs typeface="DejaVu Sans"/>
              </a:defRPr>
            </a:defPPr>
          </a:lstStyle>
          <a:p xmlns:a="http://schemas.openxmlformats.org/drawingml/2006/main">
            <a:pPr algn="l">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GRANT CONTROL</a:t>
            </a:r>
          </a:p>
        </p:txBody>
      </p:sp>
      <p:sp>
        <p:nvSpPr>
          <p:cNvPr id="4" name="Card identifier">
            <a:extLst xmlns:a="http://schemas.openxmlformats.org/drawingml/2006/main">
              <a:ext uri="{FF2B5EF4-FFF2-40B4-BE49-F238E27FC236}">
                <a16:creationId xmlns:a16="http://schemas.microsoft.com/office/drawing/2014/main" id="{28BE0CA2-9CD8-42F3-BD0B-CF9B6377BBAF}"/>
              </a:ext>
            </a:extLst>
          </p:cNvPr>
          <p:cNvSpPr>
            <a:spLocks xmlns:a="http://schemas.openxmlformats.org/drawingml/2006/main" noGrp="1"/>
          </p:cNvSpPr>
          <p:nvPr/>
        </p:nvSpPr>
        <p:spPr>
          <a:xfrm xmlns:a="http://schemas.openxmlformats.org/drawingml/2006/main">
            <a:off x="2371725" y="142875"/>
            <a:ext cx="6381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788" b="1">
                <a:solidFill>
                  <a:srgbClr val="FFFFFF"/>
                </a:solidFill>
                <a:latin typeface="DejaVu Sans"/>
                <a:ea typeface="DejaVu Sans"/>
                <a:cs typeface="DejaVu Sans"/>
              </a:defRPr>
            </a:defPPr>
          </a:lstStyle>
          <a:p xmlns:a="http://schemas.openxmlformats.org/drawingml/2006/main">
            <a:pPr algn="r">
              <a:defRPr sz="788" b="1">
                <a:solidFill>
                  <a:srgbClr val="FFFFFF"/>
                </a:solidFill>
                <a:latin typeface="DejaVu Sans"/>
                <a:ea typeface="DejaVu Sans"/>
                <a:cs typeface="DejaVu Sans"/>
              </a:defRPr>
            </a:pPr>
            <a:r>
              <a:rPr sz="788" b="1">
                <a:solidFill>
                  <a:srgbClr val="FFFFFF"/>
                </a:solidFill>
                <a:latin typeface="DejaVu Sans"/>
                <a:ea typeface="DejaVu Sans"/>
                <a:cs typeface="DejaVu Sans"/>
              </a:rPr>
              <a:t>LIN-02</a:t>
            </a:r>
          </a:p>
        </p:txBody>
      </p:sp>
      <p:sp>
        <p:nvSpPr>
          <p:cNvPr id="5" name="Card category">
            <a:extLst xmlns:a="http://schemas.openxmlformats.org/drawingml/2006/main">
              <a:ext uri="{FF2B5EF4-FFF2-40B4-BE49-F238E27FC236}">
                <a16:creationId xmlns:a16="http://schemas.microsoft.com/office/drawing/2014/main" id="{A7A6A285-2DC7-4175-ABD6-6F1FA16FAA20}"/>
              </a:ext>
            </a:extLst>
          </p:cNvPr>
          <p:cNvSpPr>
            <a:spLocks xmlns:a="http://schemas.openxmlformats.org/drawingml/2006/main" noGrp="1"/>
          </p:cNvSpPr>
          <p:nvPr/>
        </p:nvSpPr>
        <p:spPr>
          <a:xfrm xmlns:a="http://schemas.openxmlformats.org/drawingml/2006/main">
            <a:off x="190500" y="523875"/>
            <a:ext cx="2800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395FA0"/>
                </a:solidFill>
                <a:latin typeface="DejaVu Sans"/>
                <a:ea typeface="DejaVu Sans"/>
                <a:cs typeface="DejaVu Sans"/>
              </a:defRPr>
            </a:defPPr>
          </a:lstStyle>
          <a:p xmlns:a="http://schemas.openxmlformats.org/drawingml/2006/main">
            <a:pPr algn="l">
              <a:defRPr sz="788" b="1">
                <a:solidFill>
                  <a:srgbClr val="395FA0"/>
                </a:solidFill>
                <a:latin typeface="DejaVu Sans"/>
                <a:ea typeface="DejaVu Sans"/>
                <a:cs typeface="DejaVu Sans"/>
              </a:defRPr>
            </a:pPr>
            <a:r>
              <a:rPr sz="788" b="1">
                <a:solidFill>
                  <a:srgbClr val="395FA0"/>
                </a:solidFill>
                <a:latin typeface="DejaVu Sans"/>
                <a:ea typeface="DejaVu Sans"/>
                <a:cs typeface="DejaVu Sans"/>
              </a:rPr>
              <a:t>FUNDING CALL</a:t>
            </a:r>
          </a:p>
        </p:txBody>
      </p:sp>
      <p:sp>
        <p:nvSpPr>
          <p:cNvPr id="6" name="Primary topic">
            <a:extLst xmlns:a="http://schemas.openxmlformats.org/drawingml/2006/main">
              <a:ext uri="{FF2B5EF4-FFF2-40B4-BE49-F238E27FC236}">
                <a16:creationId xmlns:a16="http://schemas.microsoft.com/office/drawing/2014/main" id="{F44C565E-9EE2-4E1E-883E-4B28480DA23F}"/>
              </a:ext>
            </a:extLst>
          </p:cNvPr>
          <p:cNvSpPr>
            <a:spLocks xmlns:a="http://schemas.openxmlformats.org/drawingml/2006/main" noGrp="1"/>
          </p:cNvSpPr>
          <p:nvPr/>
        </p:nvSpPr>
        <p:spPr>
          <a:xfrm xmlns:a="http://schemas.openxmlformats.org/drawingml/2006/main">
            <a:off x="190500" y="733425"/>
            <a:ext cx="2819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395FA0"/>
                </a:solidFill>
                <a:latin typeface="DejaVu Sans"/>
                <a:ea typeface="DejaVu Sans"/>
                <a:cs typeface="DejaVu Sans"/>
              </a:defRPr>
            </a:defPPr>
          </a:lstStyle>
          <a:p xmlns:a="http://schemas.openxmlformats.org/drawingml/2006/main">
            <a:pPr algn="l">
              <a:defRPr sz="975" b="1">
                <a:solidFill>
                  <a:srgbClr val="395FA0"/>
                </a:solidFill>
                <a:latin typeface="DejaVu Sans"/>
                <a:ea typeface="DejaVu Sans"/>
                <a:cs typeface="DejaVu Sans"/>
              </a:defRPr>
            </a:pPr>
            <a:r>
              <a:rPr sz="975" b="1">
                <a:solidFill>
                  <a:srgbClr val="395FA0"/>
                </a:solidFill>
                <a:latin typeface="DejaVu Sans"/>
                <a:ea typeface="DejaVu Sans"/>
                <a:cs typeface="DejaVu Sans"/>
              </a:rPr>
              <a:t>Linear Systems</a:t>
            </a:r>
          </a:p>
        </p:txBody>
      </p:sp>
      <p:sp>
        <p:nvSpPr>
          <p:cNvPr id="7" name="Call title">
            <a:extLst xmlns:a="http://schemas.openxmlformats.org/drawingml/2006/main">
              <a:ext uri="{FF2B5EF4-FFF2-40B4-BE49-F238E27FC236}">
                <a16:creationId xmlns:a16="http://schemas.microsoft.com/office/drawing/2014/main" id="{143F046B-F690-4D7F-8804-9719AF0E8344}"/>
              </a:ext>
            </a:extLst>
          </p:cNvPr>
          <p:cNvSpPr>
            <a:spLocks xmlns:a="http://schemas.openxmlformats.org/drawingml/2006/main" noGrp="1"/>
          </p:cNvSpPr>
          <p:nvPr/>
        </p:nvSpPr>
        <p:spPr>
          <a:xfrm xmlns:a="http://schemas.openxmlformats.org/drawingml/2006/main">
            <a:off x="190500" y="1028700"/>
            <a:ext cx="281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92936"/>
                </a:solidFill>
                <a:latin typeface="DejaVu Sans"/>
                <a:ea typeface="DejaVu Sans"/>
                <a:cs typeface="DejaVu Sans"/>
              </a:defRPr>
            </a:defPPr>
          </a:lstStyle>
          <a:p xmlns:a="http://schemas.openxmlformats.org/drawingml/2006/main">
            <a:pPr algn="l">
              <a:defRPr sz="1500" b="1">
                <a:solidFill>
                  <a:srgbClr val="192936"/>
                </a:solidFill>
                <a:latin typeface="DejaVu Sans"/>
                <a:ea typeface="DejaVu Sans"/>
                <a:cs typeface="DejaVu Sans"/>
              </a:defRPr>
            </a:pPr>
            <a:r>
              <a:rPr sz="1500" b="1">
                <a:solidFill>
                  <a:srgbClr val="192936"/>
                </a:solidFill>
                <a:latin typeface="DejaVu Sans"/>
                <a:ea typeface="DejaVu Sans"/>
                <a:cs typeface="DejaVu Sans"/>
              </a:rPr>
              <a:t>Observers With Limited Sensing</a:t>
            </a:r>
          </a:p>
        </p:txBody>
      </p:sp>
      <p:sp>
        <p:nvSpPr>
          <p:cNvPr id="8" name="Research scope">
            <a:extLst xmlns:a="http://schemas.openxmlformats.org/drawingml/2006/main">
              <a:ext uri="{FF2B5EF4-FFF2-40B4-BE49-F238E27FC236}">
                <a16:creationId xmlns:a16="http://schemas.microsoft.com/office/drawing/2014/main" id="{1C6E53D7-586A-478D-BEA6-C1ADD65DBB16}"/>
              </a:ext>
            </a:extLst>
          </p:cNvPr>
          <p:cNvSpPr>
            <a:spLocks xmlns:a="http://schemas.openxmlformats.org/drawingml/2006/main" noGrp="1"/>
          </p:cNvSpPr>
          <p:nvPr/>
        </p:nvSpPr>
        <p:spPr>
          <a:xfrm xmlns:a="http://schemas.openxmlformats.org/drawingml/2006/main">
            <a:off x="190500" y="1628775"/>
            <a:ext cx="2819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0">
                <a:solidFill>
                  <a:srgbClr val="52616A"/>
                </a:solidFill>
                <a:latin typeface="DejaVu Sans"/>
                <a:ea typeface="DejaVu Sans"/>
                <a:cs typeface="DejaVu Sans"/>
              </a:defRPr>
            </a:defPPr>
          </a:lstStyle>
          <a:p xmlns:a="http://schemas.openxmlformats.org/drawingml/2006/main">
            <a:pPr algn="l">
              <a:defRPr sz="825" b="0">
                <a:solidFill>
                  <a:srgbClr val="52616A"/>
                </a:solidFill>
                <a:latin typeface="DejaVu Sans"/>
                <a:ea typeface="DejaVu Sans"/>
                <a:cs typeface="DejaVu Sans"/>
              </a:defRPr>
            </a:pPr>
            <a:r>
              <a:rPr sz="825" b="0">
                <a:solidFill>
                  <a:srgbClr val="52616A"/>
                </a:solidFill>
                <a:latin typeface="DejaVu Sans"/>
                <a:ea typeface="DejaVu Sans"/>
                <a:cs typeface="DejaVu Sans"/>
              </a:rPr>
              <a:t>Design a state observer for a linear system with few measurements. Establish when the available sensors allow state reconstruction.</a:t>
            </a:r>
          </a:p>
        </p:txBody>
      </p:sp>
      <p:sp>
        <p:nvSpPr>
          <p:cNvPr id="9" name="Statistics divider">
            <a:extLst xmlns:a="http://schemas.openxmlformats.org/drawingml/2006/main">
              <a:ext uri="{FF2B5EF4-FFF2-40B4-BE49-F238E27FC236}">
                <a16:creationId xmlns:a16="http://schemas.microsoft.com/office/drawing/2014/main" id="{D4ACDA02-3F8B-4590-9C9A-CDAE357E4B14}"/>
              </a:ext>
            </a:extLst>
          </p:cNvPr>
          <p:cNvSpPr>
            <a:spLocks xmlns:a="http://schemas.openxmlformats.org/drawingml/2006/main" noGrp="1"/>
          </p:cNvSpPr>
          <p:nvPr/>
        </p:nvSpPr>
        <p:spPr>
          <a:xfrm xmlns:a="http://schemas.openxmlformats.org/drawingml/2006/main">
            <a:off x="190500" y="216217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0" name="Funding award label">
            <a:extLst xmlns:a="http://schemas.openxmlformats.org/drawingml/2006/main">
              <a:ext uri="{FF2B5EF4-FFF2-40B4-BE49-F238E27FC236}">
                <a16:creationId xmlns:a16="http://schemas.microsoft.com/office/drawing/2014/main" id="{0ED7FA31-25AE-4AD3-A6FF-7C139C55E196}"/>
              </a:ext>
            </a:extLst>
          </p:cNvPr>
          <p:cNvSpPr>
            <a:spLocks xmlns:a="http://schemas.openxmlformats.org/drawingml/2006/main" noGrp="1"/>
          </p:cNvSpPr>
          <p:nvPr/>
        </p:nvSpPr>
        <p:spPr>
          <a:xfrm xmlns:a="http://schemas.openxmlformats.org/drawingml/2006/main">
            <a:off x="190500"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FUNDING AWARD</a:t>
            </a:r>
          </a:p>
        </p:txBody>
      </p:sp>
      <p:sp>
        <p:nvSpPr>
          <p:cNvPr id="11" name="Gray cube label">
            <a:extLst xmlns:a="http://schemas.openxmlformats.org/drawingml/2006/main">
              <a:ext uri="{FF2B5EF4-FFF2-40B4-BE49-F238E27FC236}">
                <a16:creationId xmlns:a16="http://schemas.microsoft.com/office/drawing/2014/main" id="{30DE3D76-3EB2-43EE-8CCD-E2FD2F397DFA}"/>
              </a:ext>
            </a:extLst>
          </p:cNvPr>
          <p:cNvSpPr>
            <a:spLocks xmlns:a="http://schemas.openxmlformats.org/drawingml/2006/main" noGrp="1"/>
          </p:cNvSpPr>
          <p:nvPr/>
        </p:nvSpPr>
        <p:spPr>
          <a:xfrm xmlns:a="http://schemas.openxmlformats.org/drawingml/2006/main">
            <a:off x="1685925"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OUTSIDE / NO-AWARD</a:t>
            </a:r>
          </a:p>
        </p:txBody>
      </p:sp>
      <p:sp>
        <p:nvSpPr>
          <p:cNvPr id="12" name="Funding award value">
            <a:extLst xmlns:a="http://schemas.openxmlformats.org/drawingml/2006/main">
              <a:ext uri="{FF2B5EF4-FFF2-40B4-BE49-F238E27FC236}">
                <a16:creationId xmlns:a16="http://schemas.microsoft.com/office/drawing/2014/main" id="{CFC47E6D-851F-443D-B7BA-7F8CF7CE2EC6}"/>
              </a:ext>
            </a:extLst>
          </p:cNvPr>
          <p:cNvSpPr>
            <a:spLocks xmlns:a="http://schemas.openxmlformats.org/drawingml/2006/main" noGrp="1"/>
          </p:cNvSpPr>
          <p:nvPr/>
        </p:nvSpPr>
        <p:spPr>
          <a:xfrm xmlns:a="http://schemas.openxmlformats.org/drawingml/2006/main">
            <a:off x="190500"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395FA0"/>
                </a:solidFill>
                <a:latin typeface="DejaVu Sans"/>
                <a:ea typeface="DejaVu Sans"/>
                <a:cs typeface="DejaVu Sans"/>
              </a:defRPr>
            </a:defPPr>
          </a:lstStyle>
          <a:p xmlns:a="http://schemas.openxmlformats.org/drawingml/2006/main">
            <a:pPr algn="l">
              <a:defRPr sz="2100" b="1">
                <a:solidFill>
                  <a:srgbClr val="395FA0"/>
                </a:solidFill>
                <a:latin typeface="DejaVu Sans"/>
                <a:ea typeface="DejaVu Sans"/>
                <a:cs typeface="DejaVu Sans"/>
              </a:defRPr>
            </a:pPr>
            <a:r>
              <a:rPr sz="2100" b="1">
                <a:solidFill>
                  <a:srgbClr val="395FA0"/>
                </a:solidFill>
                <a:latin typeface="DejaVu Sans"/>
                <a:ea typeface="DejaVu Sans"/>
                <a:cs typeface="DejaVu Sans"/>
              </a:rPr>
              <a:t>5</a:t>
            </a:r>
          </a:p>
        </p:txBody>
      </p:sp>
      <p:sp>
        <p:nvSpPr>
          <p:cNvPr id="13" name="Funding award unit">
            <a:extLst xmlns:a="http://schemas.openxmlformats.org/drawingml/2006/main">
              <a:ext uri="{FF2B5EF4-FFF2-40B4-BE49-F238E27FC236}">
                <a16:creationId xmlns:a16="http://schemas.microsoft.com/office/drawing/2014/main" id="{AC1727E5-909F-4731-A420-7BD0F4136328}"/>
              </a:ext>
            </a:extLst>
          </p:cNvPr>
          <p:cNvSpPr>
            <a:spLocks xmlns:a="http://schemas.openxmlformats.org/drawingml/2006/main" noGrp="1"/>
          </p:cNvSpPr>
          <p:nvPr/>
        </p:nvSpPr>
        <p:spPr>
          <a:xfrm xmlns:a="http://schemas.openxmlformats.org/drawingml/2006/main">
            <a:off x="600075" y="2543175"/>
            <a:ext cx="904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192936"/>
                </a:solidFill>
                <a:latin typeface="DejaVu Sans"/>
                <a:ea typeface="DejaVu Sans"/>
                <a:cs typeface="DejaVu Sans"/>
              </a:defRPr>
            </a:defPPr>
          </a:lstStyle>
          <a:p xmlns:a="http://schemas.openxmlformats.org/drawingml/2006/main">
            <a:pPr algn="l">
              <a:defRPr sz="900" b="1">
                <a:solidFill>
                  <a:srgbClr val="192936"/>
                </a:solidFill>
                <a:latin typeface="DejaVu Sans"/>
                <a:ea typeface="DejaVu Sans"/>
                <a:cs typeface="DejaVu Sans"/>
              </a:defRPr>
            </a:pPr>
            <a:r>
              <a:rPr sz="900" b="1">
                <a:solidFill>
                  <a:srgbClr val="192936"/>
                </a:solidFill>
                <a:latin typeface="DejaVu Sans"/>
                <a:ea typeface="DejaVu Sans"/>
                <a:cs typeface="DejaVu Sans"/>
              </a:rPr>
              <a:t>Funding</a:t>
            </a:r>
          </a:p>
        </p:txBody>
      </p:sp>
      <p:sp>
        <p:nvSpPr>
          <p:cNvPr id="14" name="Gray cube value">
            <a:extLst xmlns:a="http://schemas.openxmlformats.org/drawingml/2006/main">
              <a:ext uri="{FF2B5EF4-FFF2-40B4-BE49-F238E27FC236}">
                <a16:creationId xmlns:a16="http://schemas.microsoft.com/office/drawing/2014/main" id="{2A08FE97-D2E1-4ACB-994C-586834D106D0}"/>
              </a:ext>
            </a:extLst>
          </p:cNvPr>
          <p:cNvSpPr>
            <a:spLocks xmlns:a="http://schemas.openxmlformats.org/drawingml/2006/main" noGrp="1"/>
          </p:cNvSpPr>
          <p:nvPr/>
        </p:nvSpPr>
        <p:spPr>
          <a:xfrm xmlns:a="http://schemas.openxmlformats.org/drawingml/2006/main">
            <a:off x="1685925"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2616A"/>
                </a:solidFill>
                <a:latin typeface="DejaVu Sans"/>
                <a:ea typeface="DejaVu Sans"/>
                <a:cs typeface="DejaVu Sans"/>
              </a:defRPr>
            </a:defPPr>
          </a:lstStyle>
          <a:p xmlns:a="http://schemas.openxmlformats.org/drawingml/2006/main">
            <a:pPr algn="l">
              <a:defRPr sz="2100" b="1">
                <a:solidFill>
                  <a:srgbClr val="52616A"/>
                </a:solidFill>
                <a:latin typeface="DejaVu Sans"/>
                <a:ea typeface="DejaVu Sans"/>
                <a:cs typeface="DejaVu Sans"/>
              </a:defRPr>
            </a:pPr>
            <a:r>
              <a:rPr sz="2100" b="1">
                <a:solidFill>
                  <a:srgbClr val="52616A"/>
                </a:solidFill>
                <a:latin typeface="DejaVu Sans"/>
                <a:ea typeface="DejaVu Sans"/>
                <a:cs typeface="DejaVu Sans"/>
              </a:rPr>
              <a:t>4</a:t>
            </a:r>
          </a:p>
        </p:txBody>
      </p:sp>
      <p:sp>
        <p:nvSpPr>
          <p:cNvPr id="15" name="Gray cube unit">
            <a:extLst xmlns:a="http://schemas.openxmlformats.org/drawingml/2006/main">
              <a:ext uri="{FF2B5EF4-FFF2-40B4-BE49-F238E27FC236}">
                <a16:creationId xmlns:a16="http://schemas.microsoft.com/office/drawing/2014/main" id="{5BD60AC8-EADF-4E89-A580-D93B14F13100}"/>
              </a:ext>
            </a:extLst>
          </p:cNvPr>
          <p:cNvSpPr>
            <a:spLocks xmlns:a="http://schemas.openxmlformats.org/drawingml/2006/main" noGrp="1"/>
          </p:cNvSpPr>
          <p:nvPr/>
        </p:nvSpPr>
        <p:spPr>
          <a:xfrm xmlns:a="http://schemas.openxmlformats.org/drawingml/2006/main">
            <a:off x="2095500" y="2543175"/>
            <a:ext cx="914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1">
                <a:solidFill>
                  <a:srgbClr val="52616A"/>
                </a:solidFill>
                <a:latin typeface="DejaVu Sans"/>
                <a:ea typeface="DejaVu Sans"/>
                <a:cs typeface="DejaVu Sans"/>
              </a:defRPr>
            </a:defPPr>
          </a:lstStyle>
          <a:p xmlns:a="http://schemas.openxmlformats.org/drawingml/2006/main">
            <a:pPr algn="l">
              <a:defRPr sz="863" b="1">
                <a:solidFill>
                  <a:srgbClr val="52616A"/>
                </a:solidFill>
                <a:latin typeface="DejaVu Sans"/>
                <a:ea typeface="DejaVu Sans"/>
                <a:cs typeface="DejaVu Sans"/>
              </a:defRPr>
            </a:pPr>
            <a:r>
              <a:rPr sz="863" b="1">
                <a:solidFill>
                  <a:srgbClr val="52616A"/>
                </a:solidFill>
                <a:latin typeface="DejaVu Sans"/>
                <a:ea typeface="DejaVu Sans"/>
                <a:cs typeface="DejaVu Sans"/>
              </a:rPr>
              <a:t>gray cubes</a:t>
            </a:r>
          </a:p>
        </p:txBody>
      </p:sp>
      <p:sp>
        <p:nvSpPr>
          <p:cNvPr id="16" name="Eligibility divider">
            <a:extLst xmlns:a="http://schemas.openxmlformats.org/drawingml/2006/main">
              <a:ext uri="{FF2B5EF4-FFF2-40B4-BE49-F238E27FC236}">
                <a16:creationId xmlns:a16="http://schemas.microsoft.com/office/drawing/2014/main" id="{D40F5FB9-01C8-4B14-947E-1454E96BCCA9}"/>
              </a:ext>
            </a:extLst>
          </p:cNvPr>
          <p:cNvSpPr>
            <a:spLocks xmlns:a="http://schemas.openxmlformats.org/drawingml/2006/main" noGrp="1"/>
          </p:cNvSpPr>
          <p:nvPr/>
        </p:nvSpPr>
        <p:spPr>
          <a:xfrm xmlns:a="http://schemas.openxmlformats.org/drawingml/2006/main">
            <a:off x="190500" y="282892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7" name="Without certification heading">
            <a:extLst xmlns:a="http://schemas.openxmlformats.org/drawingml/2006/main">
              <a:ext uri="{FF2B5EF4-FFF2-40B4-BE49-F238E27FC236}">
                <a16:creationId xmlns:a16="http://schemas.microsoft.com/office/drawing/2014/main" id="{D8378531-7754-4725-9189-AE31D6255213}"/>
              </a:ext>
            </a:extLst>
          </p:cNvPr>
          <p:cNvSpPr>
            <a:spLocks xmlns:a="http://schemas.openxmlformats.org/drawingml/2006/main" noGrp="1"/>
          </p:cNvSpPr>
          <p:nvPr/>
        </p:nvSpPr>
        <p:spPr>
          <a:xfrm xmlns:a="http://schemas.openxmlformats.org/drawingml/2006/main">
            <a:off x="190500" y="2943225"/>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1">
                <a:solidFill>
                  <a:srgbClr val="395FA0"/>
                </a:solidFill>
                <a:latin typeface="DejaVu Sans"/>
                <a:ea typeface="DejaVu Sans"/>
                <a:cs typeface="DejaVu Sans"/>
              </a:defRPr>
            </a:defPPr>
          </a:lstStyle>
          <a:p xmlns:a="http://schemas.openxmlformats.org/drawingml/2006/main">
            <a:pPr algn="l">
              <a:defRPr sz="825" b="1">
                <a:solidFill>
                  <a:srgbClr val="395FA0"/>
                </a:solidFill>
                <a:latin typeface="DejaVu Sans"/>
                <a:ea typeface="DejaVu Sans"/>
                <a:cs typeface="DejaVu Sans"/>
              </a:defRPr>
            </a:pPr>
            <a:r>
              <a:rPr sz="825" b="1">
                <a:solidFill>
                  <a:srgbClr val="395FA0"/>
                </a:solidFill>
                <a:latin typeface="DejaVu Sans"/>
                <a:ea typeface="DejaVu Sans"/>
                <a:cs typeface="DejaVu Sans"/>
              </a:rPr>
              <a:t>No Certified Expertise in Linear Systems</a:t>
            </a:r>
          </a:p>
        </p:txBody>
      </p:sp>
      <p:sp>
        <p:nvSpPr>
          <p:cNvPr id="18" name="Without certification rule">
            <a:extLst xmlns:a="http://schemas.openxmlformats.org/drawingml/2006/main">
              <a:ext uri="{FF2B5EF4-FFF2-40B4-BE49-F238E27FC236}">
                <a16:creationId xmlns:a16="http://schemas.microsoft.com/office/drawing/2014/main" id="{A90EBC10-246B-447D-A233-A9288B502CA5}"/>
              </a:ext>
            </a:extLst>
          </p:cNvPr>
          <p:cNvSpPr>
            <a:spLocks xmlns:a="http://schemas.openxmlformats.org/drawingml/2006/main" noGrp="1"/>
          </p:cNvSpPr>
          <p:nvPr/>
        </p:nvSpPr>
        <p:spPr>
          <a:xfrm xmlns:a="http://schemas.openxmlformats.org/drawingml/2006/main">
            <a:off x="190500" y="3152775"/>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need at least 1 Linear Systems Recent Work token to apply. Only Linear Systems tokens count.</a:t>
            </a:r>
          </a:p>
        </p:txBody>
      </p:sp>
      <p:sp>
        <p:nvSpPr>
          <p:cNvPr id="19" name="With certification heading">
            <a:extLst xmlns:a="http://schemas.openxmlformats.org/drawingml/2006/main">
              <a:ext uri="{FF2B5EF4-FFF2-40B4-BE49-F238E27FC236}">
                <a16:creationId xmlns:a16="http://schemas.microsoft.com/office/drawing/2014/main" id="{2FB9A562-DAFD-49F7-BA79-B683B3C51C77}"/>
              </a:ext>
            </a:extLst>
          </p:cNvPr>
          <p:cNvSpPr>
            <a:spLocks xmlns:a="http://schemas.openxmlformats.org/drawingml/2006/main" noGrp="1"/>
          </p:cNvSpPr>
          <p:nvPr/>
        </p:nvSpPr>
        <p:spPr>
          <a:xfrm xmlns:a="http://schemas.openxmlformats.org/drawingml/2006/main">
            <a:off x="190500" y="3619500"/>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395FA0"/>
                </a:solidFill>
                <a:latin typeface="DejaVu Sans"/>
                <a:ea typeface="DejaVu Sans"/>
                <a:cs typeface="DejaVu Sans"/>
              </a:defRPr>
            </a:defPPr>
          </a:lstStyle>
          <a:p xmlns:a="http://schemas.openxmlformats.org/drawingml/2006/main">
            <a:pPr algn="l">
              <a:defRPr sz="788" b="1">
                <a:solidFill>
                  <a:srgbClr val="395FA0"/>
                </a:solidFill>
                <a:latin typeface="DejaVu Sans"/>
                <a:ea typeface="DejaVu Sans"/>
                <a:cs typeface="DejaVu Sans"/>
              </a:defRPr>
            </a:pPr>
            <a:r>
              <a:rPr sz="788" b="1">
                <a:solidFill>
                  <a:srgbClr val="395FA0"/>
                </a:solidFill>
                <a:latin typeface="DejaVu Sans"/>
                <a:ea typeface="DejaVu Sans"/>
                <a:cs typeface="DejaVu Sans"/>
              </a:rPr>
              <a:t>With Certified Expertise in Linear Systems</a:t>
            </a:r>
          </a:p>
        </p:txBody>
      </p:sp>
      <p:sp>
        <p:nvSpPr>
          <p:cNvPr id="20" name="With certification rule">
            <a:extLst xmlns:a="http://schemas.openxmlformats.org/drawingml/2006/main">
              <a:ext uri="{FF2B5EF4-FFF2-40B4-BE49-F238E27FC236}">
                <a16:creationId xmlns:a16="http://schemas.microsoft.com/office/drawing/2014/main" id="{376AFD08-0256-4DF4-B2A2-3EADE7C2DF20}"/>
              </a:ext>
            </a:extLst>
          </p:cNvPr>
          <p:cNvSpPr>
            <a:spLocks xmlns:a="http://schemas.openxmlformats.org/drawingml/2006/main" noGrp="1"/>
          </p:cNvSpPr>
          <p:nvPr/>
        </p:nvSpPr>
        <p:spPr>
          <a:xfrm xmlns:a="http://schemas.openxmlformats.org/drawingml/2006/main">
            <a:off x="190500" y="3829050"/>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may apply without Recent Work. Recent Work from ANY topic can count. Your expertise badge is permanent.</a:t>
            </a:r>
          </a:p>
        </p:txBody>
      </p:sp>
      <p:sp>
        <p:nvSpPr>
          <p:cNvPr id="21" name="Footer divider">
            <a:extLst xmlns:a="http://schemas.openxmlformats.org/drawingml/2006/main">
              <a:ext uri="{FF2B5EF4-FFF2-40B4-BE49-F238E27FC236}">
                <a16:creationId xmlns:a16="http://schemas.microsoft.com/office/drawing/2014/main" id="{AF913355-235E-46C2-B345-08F62C165549}"/>
              </a:ext>
            </a:extLst>
          </p:cNvPr>
          <p:cNvSpPr>
            <a:spLocks xmlns:a="http://schemas.openxmlformats.org/drawingml/2006/main" noGrp="1"/>
          </p:cNvSpPr>
          <p:nvPr/>
        </p:nvSpPr>
        <p:spPr>
          <a:xfrm xmlns:a="http://schemas.openxmlformats.org/drawingml/2006/main">
            <a:off x="190500" y="4286250"/>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22" name="Recent Work cap">
            <a:extLst xmlns:a="http://schemas.openxmlformats.org/drawingml/2006/main">
              <a:ext uri="{FF2B5EF4-FFF2-40B4-BE49-F238E27FC236}">
                <a16:creationId xmlns:a16="http://schemas.microsoft.com/office/drawing/2014/main" id="{9C424F72-6745-4CA7-9245-A73A75357459}"/>
              </a:ext>
            </a:extLst>
          </p:cNvPr>
          <p:cNvSpPr>
            <a:spLocks xmlns:a="http://schemas.openxmlformats.org/drawingml/2006/main" noGrp="1"/>
          </p:cNvSpPr>
          <p:nvPr/>
        </p:nvSpPr>
        <p:spPr>
          <a:xfrm xmlns:a="http://schemas.openxmlformats.org/drawingml/2006/main">
            <a:off x="190500" y="4371975"/>
            <a:ext cx="28194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192936"/>
                </a:solidFill>
                <a:latin typeface="DejaVu Sans"/>
                <a:ea typeface="DejaVu Sans"/>
                <a:cs typeface="DejaVu Sans"/>
              </a:defRPr>
            </a:defPPr>
          </a:lstStyle>
          <a:p xmlns:a="http://schemas.openxmlformats.org/drawingml/2006/main">
            <a:pPr algn="l">
              <a:defRPr sz="788" b="1">
                <a:solidFill>
                  <a:srgbClr val="192936"/>
                </a:solidFill>
                <a:latin typeface="DejaVu Sans"/>
                <a:ea typeface="DejaVu Sans"/>
                <a:cs typeface="DejaVu Sans"/>
              </a:defRPr>
            </a:pPr>
            <a:r>
              <a:rPr sz="788" b="1">
                <a:solidFill>
                  <a:srgbClr val="192936"/>
                </a:solidFill>
                <a:latin typeface="DejaVu Sans"/>
                <a:ea typeface="DejaVu Sans"/>
                <a:cs typeface="DejaVu Sans"/>
              </a:rPr>
              <a:t>Count at most 3 Recent Work tokens.</a:t>
            </a:r>
          </a:p>
        </p:txBody>
      </p:sp>
    </p:spTree>
    <p:extLst>
      <p:ext uri="{BB962C8B-B14F-4D97-AF65-F5344CB8AC3E}">
        <p14:creationId xmlns:p14="http://schemas.microsoft.com/office/powerpoint/2010/main" val="27138409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Card border">
            <a:extLst xmlns:a="http://schemas.openxmlformats.org/drawingml/2006/main">
              <a:ext uri="{FF2B5EF4-FFF2-40B4-BE49-F238E27FC236}">
                <a16:creationId xmlns:a16="http://schemas.microsoft.com/office/drawing/2014/main" id="{F9ADC564-A61D-4D68-95C0-1D3A2CD436CE}"/>
              </a:ext>
            </a:extLst>
          </p:cNvPr>
          <p:cNvSpPr>
            <a:spLocks xmlns:a="http://schemas.openxmlformats.org/drawingml/2006/main" noGrp="1"/>
          </p:cNvSpPr>
          <p:nvPr/>
        </p:nvSpPr>
        <p:spPr>
          <a:xfrm xmlns:a="http://schemas.openxmlformats.org/drawingml/2006/main">
            <a:off x="9525" y="9525"/>
            <a:ext cx="3181350" cy="4552950"/>
          </a:xfrm>
          <a:prstGeom xmlns:a="http://schemas.openxmlformats.org/drawingml/2006/main" prst="rect">
            <a:avLst/>
          </a:prstGeom>
          <a:noFill xmlns:a="http://schemas.openxmlformats.org/drawingml/2006/main"/>
          <a:ln xmlns:a="http://schemas.openxmlformats.org/drawingml/2006/main" w="9525">
            <a:solidFill>
              <a:srgbClr val="D0D5D8"/>
            </a:solidFill>
          </a:ln>
        </p:spPr>
      </p:sp>
      <p:sp>
        <p:nvSpPr>
          <p:cNvPr id="2" name="Topic color band">
            <a:extLst xmlns:a="http://schemas.openxmlformats.org/drawingml/2006/main">
              <a:ext uri="{FF2B5EF4-FFF2-40B4-BE49-F238E27FC236}">
                <a16:creationId xmlns:a16="http://schemas.microsoft.com/office/drawing/2014/main" id="{344A2F68-882F-40F5-A793-2BDED43BD11D}"/>
              </a:ext>
            </a:extLst>
          </p:cNvPr>
          <p:cNvSpPr>
            <a:spLocks xmlns:a="http://schemas.openxmlformats.org/drawingml/2006/main" noGrp="1"/>
          </p:cNvSpPr>
          <p:nvPr/>
        </p:nvSpPr>
        <p:spPr>
          <a:xfrm xmlns:a="http://schemas.openxmlformats.org/drawingml/2006/main">
            <a:off x="9525" y="9525"/>
            <a:ext cx="3181350" cy="400050"/>
          </a:xfrm>
          <a:prstGeom xmlns:a="http://schemas.openxmlformats.org/drawingml/2006/main" prst="rect">
            <a:avLst/>
          </a:prstGeom>
          <a:solidFill xmlns:a="http://schemas.openxmlformats.org/drawingml/2006/main">
            <a:srgbClr val="395FA0"/>
          </a:solidFill>
          <a:ln xmlns:a="http://schemas.openxmlformats.org/drawingml/2006/main" w="0">
            <a:noFill/>
          </a:ln>
        </p:spPr>
      </p:sp>
      <p:sp>
        <p:nvSpPr>
          <p:cNvPr id="3" name="Game name">
            <a:extLst xmlns:a="http://schemas.openxmlformats.org/drawingml/2006/main">
              <a:ext uri="{FF2B5EF4-FFF2-40B4-BE49-F238E27FC236}">
                <a16:creationId xmlns:a16="http://schemas.microsoft.com/office/drawing/2014/main" id="{14B2C444-E96E-49C5-BDC7-9D7C75C06E61}"/>
              </a:ext>
            </a:extLst>
          </p:cNvPr>
          <p:cNvSpPr>
            <a:spLocks xmlns:a="http://schemas.openxmlformats.org/drawingml/2006/main" noGrp="1"/>
          </p:cNvSpPr>
          <p:nvPr/>
        </p:nvSpPr>
        <p:spPr>
          <a:xfrm xmlns:a="http://schemas.openxmlformats.org/drawingml/2006/main">
            <a:off x="190500" y="133350"/>
            <a:ext cx="1943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FFFFFF"/>
                </a:solidFill>
                <a:latin typeface="DejaVu Sans"/>
                <a:ea typeface="DejaVu Sans"/>
                <a:cs typeface="DejaVu Sans"/>
              </a:defRPr>
            </a:defPPr>
          </a:lstStyle>
          <a:p xmlns:a="http://schemas.openxmlformats.org/drawingml/2006/main">
            <a:pPr algn="l">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GRANT CONTROL</a:t>
            </a:r>
          </a:p>
        </p:txBody>
      </p:sp>
      <p:sp>
        <p:nvSpPr>
          <p:cNvPr id="4" name="Card identifier">
            <a:extLst xmlns:a="http://schemas.openxmlformats.org/drawingml/2006/main">
              <a:ext uri="{FF2B5EF4-FFF2-40B4-BE49-F238E27FC236}">
                <a16:creationId xmlns:a16="http://schemas.microsoft.com/office/drawing/2014/main" id="{B626716F-6E9B-4C2B-A461-E82C7957B8A3}"/>
              </a:ext>
            </a:extLst>
          </p:cNvPr>
          <p:cNvSpPr>
            <a:spLocks xmlns:a="http://schemas.openxmlformats.org/drawingml/2006/main" noGrp="1"/>
          </p:cNvSpPr>
          <p:nvPr/>
        </p:nvSpPr>
        <p:spPr>
          <a:xfrm xmlns:a="http://schemas.openxmlformats.org/drawingml/2006/main">
            <a:off x="2371725" y="142875"/>
            <a:ext cx="6381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788" b="1">
                <a:solidFill>
                  <a:srgbClr val="FFFFFF"/>
                </a:solidFill>
                <a:latin typeface="DejaVu Sans"/>
                <a:ea typeface="DejaVu Sans"/>
                <a:cs typeface="DejaVu Sans"/>
              </a:defRPr>
            </a:defPPr>
          </a:lstStyle>
          <a:p xmlns:a="http://schemas.openxmlformats.org/drawingml/2006/main">
            <a:pPr algn="r">
              <a:defRPr sz="788" b="1">
                <a:solidFill>
                  <a:srgbClr val="FFFFFF"/>
                </a:solidFill>
                <a:latin typeface="DejaVu Sans"/>
                <a:ea typeface="DejaVu Sans"/>
                <a:cs typeface="DejaVu Sans"/>
              </a:defRPr>
            </a:pPr>
            <a:r>
              <a:rPr sz="788" b="1">
                <a:solidFill>
                  <a:srgbClr val="FFFFFF"/>
                </a:solidFill>
                <a:latin typeface="DejaVu Sans"/>
                <a:ea typeface="DejaVu Sans"/>
                <a:cs typeface="DejaVu Sans"/>
              </a:rPr>
              <a:t>LIN-03</a:t>
            </a:r>
          </a:p>
        </p:txBody>
      </p:sp>
      <p:sp>
        <p:nvSpPr>
          <p:cNvPr id="5" name="Card category">
            <a:extLst xmlns:a="http://schemas.openxmlformats.org/drawingml/2006/main">
              <a:ext uri="{FF2B5EF4-FFF2-40B4-BE49-F238E27FC236}">
                <a16:creationId xmlns:a16="http://schemas.microsoft.com/office/drawing/2014/main" id="{B0D19698-085F-443F-B468-745ACA9B2564}"/>
              </a:ext>
            </a:extLst>
          </p:cNvPr>
          <p:cNvSpPr>
            <a:spLocks xmlns:a="http://schemas.openxmlformats.org/drawingml/2006/main" noGrp="1"/>
          </p:cNvSpPr>
          <p:nvPr/>
        </p:nvSpPr>
        <p:spPr>
          <a:xfrm xmlns:a="http://schemas.openxmlformats.org/drawingml/2006/main">
            <a:off x="190500" y="523875"/>
            <a:ext cx="2800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395FA0"/>
                </a:solidFill>
                <a:latin typeface="DejaVu Sans"/>
                <a:ea typeface="DejaVu Sans"/>
                <a:cs typeface="DejaVu Sans"/>
              </a:defRPr>
            </a:defPPr>
          </a:lstStyle>
          <a:p xmlns:a="http://schemas.openxmlformats.org/drawingml/2006/main">
            <a:pPr algn="l">
              <a:defRPr sz="788" b="1">
                <a:solidFill>
                  <a:srgbClr val="395FA0"/>
                </a:solidFill>
                <a:latin typeface="DejaVu Sans"/>
                <a:ea typeface="DejaVu Sans"/>
                <a:cs typeface="DejaVu Sans"/>
              </a:defRPr>
            </a:pPr>
            <a:r>
              <a:rPr sz="788" b="1">
                <a:solidFill>
                  <a:srgbClr val="395FA0"/>
                </a:solidFill>
                <a:latin typeface="DejaVu Sans"/>
                <a:ea typeface="DejaVu Sans"/>
                <a:cs typeface="DejaVu Sans"/>
              </a:rPr>
              <a:t>FUNDING CALL</a:t>
            </a:r>
          </a:p>
        </p:txBody>
      </p:sp>
      <p:sp>
        <p:nvSpPr>
          <p:cNvPr id="6" name="Primary topic">
            <a:extLst xmlns:a="http://schemas.openxmlformats.org/drawingml/2006/main">
              <a:ext uri="{FF2B5EF4-FFF2-40B4-BE49-F238E27FC236}">
                <a16:creationId xmlns:a16="http://schemas.microsoft.com/office/drawing/2014/main" id="{4047F62E-DD02-4ACA-8E01-7CA14374C418}"/>
              </a:ext>
            </a:extLst>
          </p:cNvPr>
          <p:cNvSpPr>
            <a:spLocks xmlns:a="http://schemas.openxmlformats.org/drawingml/2006/main" noGrp="1"/>
          </p:cNvSpPr>
          <p:nvPr/>
        </p:nvSpPr>
        <p:spPr>
          <a:xfrm xmlns:a="http://schemas.openxmlformats.org/drawingml/2006/main">
            <a:off x="190500" y="733425"/>
            <a:ext cx="2819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395FA0"/>
                </a:solidFill>
                <a:latin typeface="DejaVu Sans"/>
                <a:ea typeface="DejaVu Sans"/>
                <a:cs typeface="DejaVu Sans"/>
              </a:defRPr>
            </a:defPPr>
          </a:lstStyle>
          <a:p xmlns:a="http://schemas.openxmlformats.org/drawingml/2006/main">
            <a:pPr algn="l">
              <a:defRPr sz="975" b="1">
                <a:solidFill>
                  <a:srgbClr val="395FA0"/>
                </a:solidFill>
                <a:latin typeface="DejaVu Sans"/>
                <a:ea typeface="DejaVu Sans"/>
                <a:cs typeface="DejaVu Sans"/>
              </a:defRPr>
            </a:pPr>
            <a:r>
              <a:rPr sz="975" b="1">
                <a:solidFill>
                  <a:srgbClr val="395FA0"/>
                </a:solidFill>
                <a:latin typeface="DejaVu Sans"/>
                <a:ea typeface="DejaVu Sans"/>
                <a:cs typeface="DejaVu Sans"/>
              </a:rPr>
              <a:t>Linear Systems</a:t>
            </a:r>
          </a:p>
        </p:txBody>
      </p:sp>
      <p:sp>
        <p:nvSpPr>
          <p:cNvPr id="7" name="Call title">
            <a:extLst xmlns:a="http://schemas.openxmlformats.org/drawingml/2006/main">
              <a:ext uri="{FF2B5EF4-FFF2-40B4-BE49-F238E27FC236}">
                <a16:creationId xmlns:a16="http://schemas.microsoft.com/office/drawing/2014/main" id="{46F6DCBE-376A-4999-95C2-8749594768A5}"/>
              </a:ext>
            </a:extLst>
          </p:cNvPr>
          <p:cNvSpPr>
            <a:spLocks xmlns:a="http://schemas.openxmlformats.org/drawingml/2006/main" noGrp="1"/>
          </p:cNvSpPr>
          <p:nvPr/>
        </p:nvSpPr>
        <p:spPr>
          <a:xfrm xmlns:a="http://schemas.openxmlformats.org/drawingml/2006/main">
            <a:off x="190500" y="1028700"/>
            <a:ext cx="281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92936"/>
                </a:solidFill>
                <a:latin typeface="DejaVu Sans"/>
                <a:ea typeface="DejaVu Sans"/>
                <a:cs typeface="DejaVu Sans"/>
              </a:defRPr>
            </a:defPPr>
          </a:lstStyle>
          <a:p xmlns:a="http://schemas.openxmlformats.org/drawingml/2006/main">
            <a:pPr algn="l">
              <a:defRPr sz="1500" b="1">
                <a:solidFill>
                  <a:srgbClr val="192936"/>
                </a:solidFill>
                <a:latin typeface="DejaVu Sans"/>
                <a:ea typeface="DejaVu Sans"/>
                <a:cs typeface="DejaVu Sans"/>
              </a:defRPr>
            </a:pPr>
            <a:r>
              <a:rPr sz="1500" b="1">
                <a:solidFill>
                  <a:srgbClr val="192936"/>
                </a:solidFill>
                <a:latin typeface="DejaVu Sans"/>
                <a:ea typeface="DejaVu Sans"/>
                <a:cs typeface="DejaVu Sans"/>
              </a:rPr>
              <a:t>Reliable Multivariable Control</a:t>
            </a:r>
          </a:p>
        </p:txBody>
      </p:sp>
      <p:sp>
        <p:nvSpPr>
          <p:cNvPr id="8" name="Research scope">
            <a:extLst xmlns:a="http://schemas.openxmlformats.org/drawingml/2006/main">
              <a:ext uri="{FF2B5EF4-FFF2-40B4-BE49-F238E27FC236}">
                <a16:creationId xmlns:a16="http://schemas.microsoft.com/office/drawing/2014/main" id="{FB54C05A-9051-4788-B723-9F7C93CFBD5C}"/>
              </a:ext>
            </a:extLst>
          </p:cNvPr>
          <p:cNvSpPr>
            <a:spLocks xmlns:a="http://schemas.openxmlformats.org/drawingml/2006/main" noGrp="1"/>
          </p:cNvSpPr>
          <p:nvPr/>
        </p:nvSpPr>
        <p:spPr>
          <a:xfrm xmlns:a="http://schemas.openxmlformats.org/drawingml/2006/main">
            <a:off x="190500" y="1628775"/>
            <a:ext cx="2819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0">
                <a:solidFill>
                  <a:srgbClr val="52616A"/>
                </a:solidFill>
                <a:latin typeface="DejaVu Sans"/>
                <a:ea typeface="DejaVu Sans"/>
                <a:cs typeface="DejaVu Sans"/>
              </a:defRPr>
            </a:defPPr>
          </a:lstStyle>
          <a:p xmlns:a="http://schemas.openxmlformats.org/drawingml/2006/main">
            <a:pPr algn="l">
              <a:defRPr sz="825" b="0">
                <a:solidFill>
                  <a:srgbClr val="52616A"/>
                </a:solidFill>
                <a:latin typeface="DejaVu Sans"/>
                <a:ea typeface="DejaVu Sans"/>
                <a:cs typeface="DejaVu Sans"/>
              </a:defRPr>
            </a:pPr>
            <a:r>
              <a:rPr sz="825" b="0">
                <a:solidFill>
                  <a:srgbClr val="52616A"/>
                </a:solidFill>
                <a:latin typeface="DejaVu Sans"/>
                <a:ea typeface="DejaVu Sans"/>
                <a:cs typeface="DejaVu Sans"/>
              </a:rPr>
              <a:t>Develop a controller for a coupled linear system. Study how model uncertainty affects closed-loop poles and system response.</a:t>
            </a:r>
          </a:p>
        </p:txBody>
      </p:sp>
      <p:sp>
        <p:nvSpPr>
          <p:cNvPr id="9" name="Statistics divider">
            <a:extLst xmlns:a="http://schemas.openxmlformats.org/drawingml/2006/main">
              <a:ext uri="{FF2B5EF4-FFF2-40B4-BE49-F238E27FC236}">
                <a16:creationId xmlns:a16="http://schemas.microsoft.com/office/drawing/2014/main" id="{B157EADA-B164-4EA6-9BA1-56F5F605ED94}"/>
              </a:ext>
            </a:extLst>
          </p:cNvPr>
          <p:cNvSpPr>
            <a:spLocks xmlns:a="http://schemas.openxmlformats.org/drawingml/2006/main" noGrp="1"/>
          </p:cNvSpPr>
          <p:nvPr/>
        </p:nvSpPr>
        <p:spPr>
          <a:xfrm xmlns:a="http://schemas.openxmlformats.org/drawingml/2006/main">
            <a:off x="190500" y="216217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0" name="Funding award label">
            <a:extLst xmlns:a="http://schemas.openxmlformats.org/drawingml/2006/main">
              <a:ext uri="{FF2B5EF4-FFF2-40B4-BE49-F238E27FC236}">
                <a16:creationId xmlns:a16="http://schemas.microsoft.com/office/drawing/2014/main" id="{F8871ABE-3319-4FF3-8249-DBC9D1C2AF00}"/>
              </a:ext>
            </a:extLst>
          </p:cNvPr>
          <p:cNvSpPr>
            <a:spLocks xmlns:a="http://schemas.openxmlformats.org/drawingml/2006/main" noGrp="1"/>
          </p:cNvSpPr>
          <p:nvPr/>
        </p:nvSpPr>
        <p:spPr>
          <a:xfrm xmlns:a="http://schemas.openxmlformats.org/drawingml/2006/main">
            <a:off x="190500"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FUNDING AWARD</a:t>
            </a:r>
          </a:p>
        </p:txBody>
      </p:sp>
      <p:sp>
        <p:nvSpPr>
          <p:cNvPr id="11" name="Gray cube label">
            <a:extLst xmlns:a="http://schemas.openxmlformats.org/drawingml/2006/main">
              <a:ext uri="{FF2B5EF4-FFF2-40B4-BE49-F238E27FC236}">
                <a16:creationId xmlns:a16="http://schemas.microsoft.com/office/drawing/2014/main" id="{F907E0B0-C77E-47E4-96D8-2800C92AC842}"/>
              </a:ext>
            </a:extLst>
          </p:cNvPr>
          <p:cNvSpPr>
            <a:spLocks xmlns:a="http://schemas.openxmlformats.org/drawingml/2006/main" noGrp="1"/>
          </p:cNvSpPr>
          <p:nvPr/>
        </p:nvSpPr>
        <p:spPr>
          <a:xfrm xmlns:a="http://schemas.openxmlformats.org/drawingml/2006/main">
            <a:off x="1685925"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OUTSIDE / NO-AWARD</a:t>
            </a:r>
          </a:p>
        </p:txBody>
      </p:sp>
      <p:sp>
        <p:nvSpPr>
          <p:cNvPr id="12" name="Funding award value">
            <a:extLst xmlns:a="http://schemas.openxmlformats.org/drawingml/2006/main">
              <a:ext uri="{FF2B5EF4-FFF2-40B4-BE49-F238E27FC236}">
                <a16:creationId xmlns:a16="http://schemas.microsoft.com/office/drawing/2014/main" id="{DDEBD37C-C25A-4593-A5B6-E4BCEA001CF2}"/>
              </a:ext>
            </a:extLst>
          </p:cNvPr>
          <p:cNvSpPr>
            <a:spLocks xmlns:a="http://schemas.openxmlformats.org/drawingml/2006/main" noGrp="1"/>
          </p:cNvSpPr>
          <p:nvPr/>
        </p:nvSpPr>
        <p:spPr>
          <a:xfrm xmlns:a="http://schemas.openxmlformats.org/drawingml/2006/main">
            <a:off x="190500"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395FA0"/>
                </a:solidFill>
                <a:latin typeface="DejaVu Sans"/>
                <a:ea typeface="DejaVu Sans"/>
                <a:cs typeface="DejaVu Sans"/>
              </a:defRPr>
            </a:defPPr>
          </a:lstStyle>
          <a:p xmlns:a="http://schemas.openxmlformats.org/drawingml/2006/main">
            <a:pPr algn="l">
              <a:defRPr sz="2100" b="1">
                <a:solidFill>
                  <a:srgbClr val="395FA0"/>
                </a:solidFill>
                <a:latin typeface="DejaVu Sans"/>
                <a:ea typeface="DejaVu Sans"/>
                <a:cs typeface="DejaVu Sans"/>
              </a:defRPr>
            </a:pPr>
            <a:r>
              <a:rPr sz="2100" b="1">
                <a:solidFill>
                  <a:srgbClr val="395FA0"/>
                </a:solidFill>
                <a:latin typeface="DejaVu Sans"/>
                <a:ea typeface="DejaVu Sans"/>
                <a:cs typeface="DejaVu Sans"/>
              </a:rPr>
              <a:t>6</a:t>
            </a:r>
          </a:p>
        </p:txBody>
      </p:sp>
      <p:sp>
        <p:nvSpPr>
          <p:cNvPr id="13" name="Funding award unit">
            <a:extLst xmlns:a="http://schemas.openxmlformats.org/drawingml/2006/main">
              <a:ext uri="{FF2B5EF4-FFF2-40B4-BE49-F238E27FC236}">
                <a16:creationId xmlns:a16="http://schemas.microsoft.com/office/drawing/2014/main" id="{1B3AAD42-D63D-476C-ADE1-366BF316D728}"/>
              </a:ext>
            </a:extLst>
          </p:cNvPr>
          <p:cNvSpPr>
            <a:spLocks xmlns:a="http://schemas.openxmlformats.org/drawingml/2006/main" noGrp="1"/>
          </p:cNvSpPr>
          <p:nvPr/>
        </p:nvSpPr>
        <p:spPr>
          <a:xfrm xmlns:a="http://schemas.openxmlformats.org/drawingml/2006/main">
            <a:off x="600075" y="2543175"/>
            <a:ext cx="904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192936"/>
                </a:solidFill>
                <a:latin typeface="DejaVu Sans"/>
                <a:ea typeface="DejaVu Sans"/>
                <a:cs typeface="DejaVu Sans"/>
              </a:defRPr>
            </a:defPPr>
          </a:lstStyle>
          <a:p xmlns:a="http://schemas.openxmlformats.org/drawingml/2006/main">
            <a:pPr algn="l">
              <a:defRPr sz="900" b="1">
                <a:solidFill>
                  <a:srgbClr val="192936"/>
                </a:solidFill>
                <a:latin typeface="DejaVu Sans"/>
                <a:ea typeface="DejaVu Sans"/>
                <a:cs typeface="DejaVu Sans"/>
              </a:defRPr>
            </a:pPr>
            <a:r>
              <a:rPr sz="900" b="1">
                <a:solidFill>
                  <a:srgbClr val="192936"/>
                </a:solidFill>
                <a:latin typeface="DejaVu Sans"/>
                <a:ea typeface="DejaVu Sans"/>
                <a:cs typeface="DejaVu Sans"/>
              </a:rPr>
              <a:t>Funding</a:t>
            </a:r>
          </a:p>
        </p:txBody>
      </p:sp>
      <p:sp>
        <p:nvSpPr>
          <p:cNvPr id="14" name="Gray cube value">
            <a:extLst xmlns:a="http://schemas.openxmlformats.org/drawingml/2006/main">
              <a:ext uri="{FF2B5EF4-FFF2-40B4-BE49-F238E27FC236}">
                <a16:creationId xmlns:a16="http://schemas.microsoft.com/office/drawing/2014/main" id="{B6A11099-4220-4CA6-B676-334079018BE6}"/>
              </a:ext>
            </a:extLst>
          </p:cNvPr>
          <p:cNvSpPr>
            <a:spLocks xmlns:a="http://schemas.openxmlformats.org/drawingml/2006/main" noGrp="1"/>
          </p:cNvSpPr>
          <p:nvPr/>
        </p:nvSpPr>
        <p:spPr>
          <a:xfrm xmlns:a="http://schemas.openxmlformats.org/drawingml/2006/main">
            <a:off x="1685925"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2616A"/>
                </a:solidFill>
                <a:latin typeface="DejaVu Sans"/>
                <a:ea typeface="DejaVu Sans"/>
                <a:cs typeface="DejaVu Sans"/>
              </a:defRPr>
            </a:defPPr>
          </a:lstStyle>
          <a:p xmlns:a="http://schemas.openxmlformats.org/drawingml/2006/main">
            <a:pPr algn="l">
              <a:defRPr sz="2100" b="1">
                <a:solidFill>
                  <a:srgbClr val="52616A"/>
                </a:solidFill>
                <a:latin typeface="DejaVu Sans"/>
                <a:ea typeface="DejaVu Sans"/>
                <a:cs typeface="DejaVu Sans"/>
              </a:defRPr>
            </a:pPr>
            <a:r>
              <a:rPr sz="2100" b="1">
                <a:solidFill>
                  <a:srgbClr val="52616A"/>
                </a:solidFill>
                <a:latin typeface="DejaVu Sans"/>
                <a:ea typeface="DejaVu Sans"/>
                <a:cs typeface="DejaVu Sans"/>
              </a:rPr>
              <a:t>5</a:t>
            </a:r>
          </a:p>
        </p:txBody>
      </p:sp>
      <p:sp>
        <p:nvSpPr>
          <p:cNvPr id="15" name="Gray cube unit">
            <a:extLst xmlns:a="http://schemas.openxmlformats.org/drawingml/2006/main">
              <a:ext uri="{FF2B5EF4-FFF2-40B4-BE49-F238E27FC236}">
                <a16:creationId xmlns:a16="http://schemas.microsoft.com/office/drawing/2014/main" id="{26DC04C6-ED00-4A8D-8ADB-B80687EE1041}"/>
              </a:ext>
            </a:extLst>
          </p:cNvPr>
          <p:cNvSpPr>
            <a:spLocks xmlns:a="http://schemas.openxmlformats.org/drawingml/2006/main" noGrp="1"/>
          </p:cNvSpPr>
          <p:nvPr/>
        </p:nvSpPr>
        <p:spPr>
          <a:xfrm xmlns:a="http://schemas.openxmlformats.org/drawingml/2006/main">
            <a:off x="2095500" y="2543175"/>
            <a:ext cx="914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1">
                <a:solidFill>
                  <a:srgbClr val="52616A"/>
                </a:solidFill>
                <a:latin typeface="DejaVu Sans"/>
                <a:ea typeface="DejaVu Sans"/>
                <a:cs typeface="DejaVu Sans"/>
              </a:defRPr>
            </a:defPPr>
          </a:lstStyle>
          <a:p xmlns:a="http://schemas.openxmlformats.org/drawingml/2006/main">
            <a:pPr algn="l">
              <a:defRPr sz="863" b="1">
                <a:solidFill>
                  <a:srgbClr val="52616A"/>
                </a:solidFill>
                <a:latin typeface="DejaVu Sans"/>
                <a:ea typeface="DejaVu Sans"/>
                <a:cs typeface="DejaVu Sans"/>
              </a:defRPr>
            </a:pPr>
            <a:r>
              <a:rPr sz="863" b="1">
                <a:solidFill>
                  <a:srgbClr val="52616A"/>
                </a:solidFill>
                <a:latin typeface="DejaVu Sans"/>
                <a:ea typeface="DejaVu Sans"/>
                <a:cs typeface="DejaVu Sans"/>
              </a:rPr>
              <a:t>gray cubes</a:t>
            </a:r>
          </a:p>
        </p:txBody>
      </p:sp>
      <p:sp>
        <p:nvSpPr>
          <p:cNvPr id="16" name="Eligibility divider">
            <a:extLst xmlns:a="http://schemas.openxmlformats.org/drawingml/2006/main">
              <a:ext uri="{FF2B5EF4-FFF2-40B4-BE49-F238E27FC236}">
                <a16:creationId xmlns:a16="http://schemas.microsoft.com/office/drawing/2014/main" id="{3EC67124-34C1-4187-902E-575F25A25CCE}"/>
              </a:ext>
            </a:extLst>
          </p:cNvPr>
          <p:cNvSpPr>
            <a:spLocks xmlns:a="http://schemas.openxmlformats.org/drawingml/2006/main" noGrp="1"/>
          </p:cNvSpPr>
          <p:nvPr/>
        </p:nvSpPr>
        <p:spPr>
          <a:xfrm xmlns:a="http://schemas.openxmlformats.org/drawingml/2006/main">
            <a:off x="190500" y="282892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7" name="Without certification heading">
            <a:extLst xmlns:a="http://schemas.openxmlformats.org/drawingml/2006/main">
              <a:ext uri="{FF2B5EF4-FFF2-40B4-BE49-F238E27FC236}">
                <a16:creationId xmlns:a16="http://schemas.microsoft.com/office/drawing/2014/main" id="{074B5428-E33A-4447-8FBA-86AB23C9BD62}"/>
              </a:ext>
            </a:extLst>
          </p:cNvPr>
          <p:cNvSpPr>
            <a:spLocks xmlns:a="http://schemas.openxmlformats.org/drawingml/2006/main" noGrp="1"/>
          </p:cNvSpPr>
          <p:nvPr/>
        </p:nvSpPr>
        <p:spPr>
          <a:xfrm xmlns:a="http://schemas.openxmlformats.org/drawingml/2006/main">
            <a:off x="190500" y="2943225"/>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1">
                <a:solidFill>
                  <a:srgbClr val="395FA0"/>
                </a:solidFill>
                <a:latin typeface="DejaVu Sans"/>
                <a:ea typeface="DejaVu Sans"/>
                <a:cs typeface="DejaVu Sans"/>
              </a:defRPr>
            </a:defPPr>
          </a:lstStyle>
          <a:p xmlns:a="http://schemas.openxmlformats.org/drawingml/2006/main">
            <a:pPr algn="l">
              <a:defRPr sz="825" b="1">
                <a:solidFill>
                  <a:srgbClr val="395FA0"/>
                </a:solidFill>
                <a:latin typeface="DejaVu Sans"/>
                <a:ea typeface="DejaVu Sans"/>
                <a:cs typeface="DejaVu Sans"/>
              </a:defRPr>
            </a:pPr>
            <a:r>
              <a:rPr sz="825" b="1">
                <a:solidFill>
                  <a:srgbClr val="395FA0"/>
                </a:solidFill>
                <a:latin typeface="DejaVu Sans"/>
                <a:ea typeface="DejaVu Sans"/>
                <a:cs typeface="DejaVu Sans"/>
              </a:rPr>
              <a:t>No Certified Expertise in Linear Systems</a:t>
            </a:r>
          </a:p>
        </p:txBody>
      </p:sp>
      <p:sp>
        <p:nvSpPr>
          <p:cNvPr id="18" name="Without certification rule">
            <a:extLst xmlns:a="http://schemas.openxmlformats.org/drawingml/2006/main">
              <a:ext uri="{FF2B5EF4-FFF2-40B4-BE49-F238E27FC236}">
                <a16:creationId xmlns:a16="http://schemas.microsoft.com/office/drawing/2014/main" id="{E356B396-F4D9-4FE2-A797-614FFF34C397}"/>
              </a:ext>
            </a:extLst>
          </p:cNvPr>
          <p:cNvSpPr>
            <a:spLocks xmlns:a="http://schemas.openxmlformats.org/drawingml/2006/main" noGrp="1"/>
          </p:cNvSpPr>
          <p:nvPr/>
        </p:nvSpPr>
        <p:spPr>
          <a:xfrm xmlns:a="http://schemas.openxmlformats.org/drawingml/2006/main">
            <a:off x="190500" y="3152775"/>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need at least 1 Linear Systems Recent Work token to apply. Only Linear Systems tokens count.</a:t>
            </a:r>
          </a:p>
        </p:txBody>
      </p:sp>
      <p:sp>
        <p:nvSpPr>
          <p:cNvPr id="19" name="With certification heading">
            <a:extLst xmlns:a="http://schemas.openxmlformats.org/drawingml/2006/main">
              <a:ext uri="{FF2B5EF4-FFF2-40B4-BE49-F238E27FC236}">
                <a16:creationId xmlns:a16="http://schemas.microsoft.com/office/drawing/2014/main" id="{5073AE83-4652-4E5E-914D-2876EA02968E}"/>
              </a:ext>
            </a:extLst>
          </p:cNvPr>
          <p:cNvSpPr>
            <a:spLocks xmlns:a="http://schemas.openxmlformats.org/drawingml/2006/main" noGrp="1"/>
          </p:cNvSpPr>
          <p:nvPr/>
        </p:nvSpPr>
        <p:spPr>
          <a:xfrm xmlns:a="http://schemas.openxmlformats.org/drawingml/2006/main">
            <a:off x="190500" y="3619500"/>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395FA0"/>
                </a:solidFill>
                <a:latin typeface="DejaVu Sans"/>
                <a:ea typeface="DejaVu Sans"/>
                <a:cs typeface="DejaVu Sans"/>
              </a:defRPr>
            </a:defPPr>
          </a:lstStyle>
          <a:p xmlns:a="http://schemas.openxmlformats.org/drawingml/2006/main">
            <a:pPr algn="l">
              <a:defRPr sz="788" b="1">
                <a:solidFill>
                  <a:srgbClr val="395FA0"/>
                </a:solidFill>
                <a:latin typeface="DejaVu Sans"/>
                <a:ea typeface="DejaVu Sans"/>
                <a:cs typeface="DejaVu Sans"/>
              </a:defRPr>
            </a:pPr>
            <a:r>
              <a:rPr sz="788" b="1">
                <a:solidFill>
                  <a:srgbClr val="395FA0"/>
                </a:solidFill>
                <a:latin typeface="DejaVu Sans"/>
                <a:ea typeface="DejaVu Sans"/>
                <a:cs typeface="DejaVu Sans"/>
              </a:rPr>
              <a:t>With Certified Expertise in Linear Systems</a:t>
            </a:r>
          </a:p>
        </p:txBody>
      </p:sp>
      <p:sp>
        <p:nvSpPr>
          <p:cNvPr id="20" name="With certification rule">
            <a:extLst xmlns:a="http://schemas.openxmlformats.org/drawingml/2006/main">
              <a:ext uri="{FF2B5EF4-FFF2-40B4-BE49-F238E27FC236}">
                <a16:creationId xmlns:a16="http://schemas.microsoft.com/office/drawing/2014/main" id="{33A44297-FCEC-4756-A457-FA8D1E864B87}"/>
              </a:ext>
            </a:extLst>
          </p:cNvPr>
          <p:cNvSpPr>
            <a:spLocks xmlns:a="http://schemas.openxmlformats.org/drawingml/2006/main" noGrp="1"/>
          </p:cNvSpPr>
          <p:nvPr/>
        </p:nvSpPr>
        <p:spPr>
          <a:xfrm xmlns:a="http://schemas.openxmlformats.org/drawingml/2006/main">
            <a:off x="190500" y="3829050"/>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may apply without Recent Work. Recent Work from ANY topic can count. Your expertise badge is permanent.</a:t>
            </a:r>
          </a:p>
        </p:txBody>
      </p:sp>
      <p:sp>
        <p:nvSpPr>
          <p:cNvPr id="21" name="Footer divider">
            <a:extLst xmlns:a="http://schemas.openxmlformats.org/drawingml/2006/main">
              <a:ext uri="{FF2B5EF4-FFF2-40B4-BE49-F238E27FC236}">
                <a16:creationId xmlns:a16="http://schemas.microsoft.com/office/drawing/2014/main" id="{529FF900-D7DF-4001-B556-EF4E8E994831}"/>
              </a:ext>
            </a:extLst>
          </p:cNvPr>
          <p:cNvSpPr>
            <a:spLocks xmlns:a="http://schemas.openxmlformats.org/drawingml/2006/main" noGrp="1"/>
          </p:cNvSpPr>
          <p:nvPr/>
        </p:nvSpPr>
        <p:spPr>
          <a:xfrm xmlns:a="http://schemas.openxmlformats.org/drawingml/2006/main">
            <a:off x="190500" y="4286250"/>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22" name="Recent Work cap">
            <a:extLst xmlns:a="http://schemas.openxmlformats.org/drawingml/2006/main">
              <a:ext uri="{FF2B5EF4-FFF2-40B4-BE49-F238E27FC236}">
                <a16:creationId xmlns:a16="http://schemas.microsoft.com/office/drawing/2014/main" id="{8DBDD1FB-5458-4778-9B45-A29EFAA52DB3}"/>
              </a:ext>
            </a:extLst>
          </p:cNvPr>
          <p:cNvSpPr>
            <a:spLocks xmlns:a="http://schemas.openxmlformats.org/drawingml/2006/main" noGrp="1"/>
          </p:cNvSpPr>
          <p:nvPr/>
        </p:nvSpPr>
        <p:spPr>
          <a:xfrm xmlns:a="http://schemas.openxmlformats.org/drawingml/2006/main">
            <a:off x="190500" y="4371975"/>
            <a:ext cx="28194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192936"/>
                </a:solidFill>
                <a:latin typeface="DejaVu Sans"/>
                <a:ea typeface="DejaVu Sans"/>
                <a:cs typeface="DejaVu Sans"/>
              </a:defRPr>
            </a:defPPr>
          </a:lstStyle>
          <a:p xmlns:a="http://schemas.openxmlformats.org/drawingml/2006/main">
            <a:pPr algn="l">
              <a:defRPr sz="788" b="1">
                <a:solidFill>
                  <a:srgbClr val="192936"/>
                </a:solidFill>
                <a:latin typeface="DejaVu Sans"/>
                <a:ea typeface="DejaVu Sans"/>
                <a:cs typeface="DejaVu Sans"/>
              </a:defRPr>
            </a:pPr>
            <a:r>
              <a:rPr sz="788" b="1">
                <a:solidFill>
                  <a:srgbClr val="192936"/>
                </a:solidFill>
                <a:latin typeface="DejaVu Sans"/>
                <a:ea typeface="DejaVu Sans"/>
                <a:cs typeface="DejaVu Sans"/>
              </a:rPr>
              <a:t>Count at most 3 Recent Work tokens.</a:t>
            </a:r>
          </a:p>
        </p:txBody>
      </p:sp>
    </p:spTree>
    <p:extLst>
      <p:ext uri="{BB962C8B-B14F-4D97-AF65-F5344CB8AC3E}">
        <p14:creationId xmlns:p14="http://schemas.microsoft.com/office/powerpoint/2010/main" val="183163106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Card border">
            <a:extLst xmlns:a="http://schemas.openxmlformats.org/drawingml/2006/main">
              <a:ext uri="{FF2B5EF4-FFF2-40B4-BE49-F238E27FC236}">
                <a16:creationId xmlns:a16="http://schemas.microsoft.com/office/drawing/2014/main" id="{F0249350-E50A-4053-8C1C-990BFD4C5D07}"/>
              </a:ext>
            </a:extLst>
          </p:cNvPr>
          <p:cNvSpPr>
            <a:spLocks xmlns:a="http://schemas.openxmlformats.org/drawingml/2006/main" noGrp="1"/>
          </p:cNvSpPr>
          <p:nvPr/>
        </p:nvSpPr>
        <p:spPr>
          <a:xfrm xmlns:a="http://schemas.openxmlformats.org/drawingml/2006/main">
            <a:off x="9525" y="9525"/>
            <a:ext cx="3181350" cy="4552950"/>
          </a:xfrm>
          <a:prstGeom xmlns:a="http://schemas.openxmlformats.org/drawingml/2006/main" prst="rect">
            <a:avLst/>
          </a:prstGeom>
          <a:noFill xmlns:a="http://schemas.openxmlformats.org/drawingml/2006/main"/>
          <a:ln xmlns:a="http://schemas.openxmlformats.org/drawingml/2006/main" w="9525">
            <a:solidFill>
              <a:srgbClr val="D0D5D8"/>
            </a:solidFill>
          </a:ln>
        </p:spPr>
      </p:sp>
      <p:sp>
        <p:nvSpPr>
          <p:cNvPr id="2" name="Topic color band">
            <a:extLst xmlns:a="http://schemas.openxmlformats.org/drawingml/2006/main">
              <a:ext uri="{FF2B5EF4-FFF2-40B4-BE49-F238E27FC236}">
                <a16:creationId xmlns:a16="http://schemas.microsoft.com/office/drawing/2014/main" id="{CC69638F-8C5D-4BAD-8A42-E274992CF954}"/>
              </a:ext>
            </a:extLst>
          </p:cNvPr>
          <p:cNvSpPr>
            <a:spLocks xmlns:a="http://schemas.openxmlformats.org/drawingml/2006/main" noGrp="1"/>
          </p:cNvSpPr>
          <p:nvPr/>
        </p:nvSpPr>
        <p:spPr>
          <a:xfrm xmlns:a="http://schemas.openxmlformats.org/drawingml/2006/main">
            <a:off x="9525" y="9525"/>
            <a:ext cx="3181350" cy="400050"/>
          </a:xfrm>
          <a:prstGeom xmlns:a="http://schemas.openxmlformats.org/drawingml/2006/main" prst="rect">
            <a:avLst/>
          </a:prstGeom>
          <a:solidFill xmlns:a="http://schemas.openxmlformats.org/drawingml/2006/main">
            <a:srgbClr val="765490"/>
          </a:solidFill>
          <a:ln xmlns:a="http://schemas.openxmlformats.org/drawingml/2006/main" w="0">
            <a:noFill/>
          </a:ln>
        </p:spPr>
      </p:sp>
      <p:sp>
        <p:nvSpPr>
          <p:cNvPr id="3" name="Game name">
            <a:extLst xmlns:a="http://schemas.openxmlformats.org/drawingml/2006/main">
              <a:ext uri="{FF2B5EF4-FFF2-40B4-BE49-F238E27FC236}">
                <a16:creationId xmlns:a16="http://schemas.microsoft.com/office/drawing/2014/main" id="{C6AED254-60AB-4D32-9B3C-AA76DA6D818E}"/>
              </a:ext>
            </a:extLst>
          </p:cNvPr>
          <p:cNvSpPr>
            <a:spLocks xmlns:a="http://schemas.openxmlformats.org/drawingml/2006/main" noGrp="1"/>
          </p:cNvSpPr>
          <p:nvPr/>
        </p:nvSpPr>
        <p:spPr>
          <a:xfrm xmlns:a="http://schemas.openxmlformats.org/drawingml/2006/main">
            <a:off x="190500" y="133350"/>
            <a:ext cx="1943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FFFFFF"/>
                </a:solidFill>
                <a:latin typeface="DejaVu Sans"/>
                <a:ea typeface="DejaVu Sans"/>
                <a:cs typeface="DejaVu Sans"/>
              </a:defRPr>
            </a:defPPr>
          </a:lstStyle>
          <a:p xmlns:a="http://schemas.openxmlformats.org/drawingml/2006/main">
            <a:pPr algn="l">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GRANT CONTROL</a:t>
            </a:r>
          </a:p>
        </p:txBody>
      </p:sp>
      <p:sp>
        <p:nvSpPr>
          <p:cNvPr id="4" name="Card identifier">
            <a:extLst xmlns:a="http://schemas.openxmlformats.org/drawingml/2006/main">
              <a:ext uri="{FF2B5EF4-FFF2-40B4-BE49-F238E27FC236}">
                <a16:creationId xmlns:a16="http://schemas.microsoft.com/office/drawing/2014/main" id="{79976A6C-63A6-4860-9E4E-82787E8F3EFA}"/>
              </a:ext>
            </a:extLst>
          </p:cNvPr>
          <p:cNvSpPr>
            <a:spLocks xmlns:a="http://schemas.openxmlformats.org/drawingml/2006/main" noGrp="1"/>
          </p:cNvSpPr>
          <p:nvPr/>
        </p:nvSpPr>
        <p:spPr>
          <a:xfrm xmlns:a="http://schemas.openxmlformats.org/drawingml/2006/main">
            <a:off x="2371725" y="142875"/>
            <a:ext cx="6381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788" b="1">
                <a:solidFill>
                  <a:srgbClr val="FFFFFF"/>
                </a:solidFill>
                <a:latin typeface="DejaVu Sans"/>
                <a:ea typeface="DejaVu Sans"/>
                <a:cs typeface="DejaVu Sans"/>
              </a:defRPr>
            </a:defPPr>
          </a:lstStyle>
          <a:p xmlns:a="http://schemas.openxmlformats.org/drawingml/2006/main">
            <a:pPr algn="r">
              <a:defRPr sz="788" b="1">
                <a:solidFill>
                  <a:srgbClr val="FFFFFF"/>
                </a:solidFill>
                <a:latin typeface="DejaVu Sans"/>
                <a:ea typeface="DejaVu Sans"/>
                <a:cs typeface="DejaVu Sans"/>
              </a:defRPr>
            </a:pPr>
            <a:r>
              <a:rPr sz="788" b="1">
                <a:solidFill>
                  <a:srgbClr val="FFFFFF"/>
                </a:solidFill>
                <a:latin typeface="DejaVu Sans"/>
                <a:ea typeface="DejaVu Sans"/>
                <a:cs typeface="DejaVu Sans"/>
              </a:rPr>
              <a:t>EST-01</a:t>
            </a:r>
          </a:p>
        </p:txBody>
      </p:sp>
      <p:sp>
        <p:nvSpPr>
          <p:cNvPr id="5" name="Card category">
            <a:extLst xmlns:a="http://schemas.openxmlformats.org/drawingml/2006/main">
              <a:ext uri="{FF2B5EF4-FFF2-40B4-BE49-F238E27FC236}">
                <a16:creationId xmlns:a16="http://schemas.microsoft.com/office/drawing/2014/main" id="{5E18FF16-AE10-4C64-904F-E308B87FC468}"/>
              </a:ext>
            </a:extLst>
          </p:cNvPr>
          <p:cNvSpPr>
            <a:spLocks xmlns:a="http://schemas.openxmlformats.org/drawingml/2006/main" noGrp="1"/>
          </p:cNvSpPr>
          <p:nvPr/>
        </p:nvSpPr>
        <p:spPr>
          <a:xfrm xmlns:a="http://schemas.openxmlformats.org/drawingml/2006/main">
            <a:off x="190500" y="523875"/>
            <a:ext cx="2800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765490"/>
                </a:solidFill>
                <a:latin typeface="DejaVu Sans"/>
                <a:ea typeface="DejaVu Sans"/>
                <a:cs typeface="DejaVu Sans"/>
              </a:defRPr>
            </a:defPPr>
          </a:lstStyle>
          <a:p xmlns:a="http://schemas.openxmlformats.org/drawingml/2006/main">
            <a:pPr algn="l">
              <a:defRPr sz="788" b="1">
                <a:solidFill>
                  <a:srgbClr val="765490"/>
                </a:solidFill>
                <a:latin typeface="DejaVu Sans"/>
                <a:ea typeface="DejaVu Sans"/>
                <a:cs typeface="DejaVu Sans"/>
              </a:defRPr>
            </a:pPr>
            <a:r>
              <a:rPr sz="788" b="1">
                <a:solidFill>
                  <a:srgbClr val="765490"/>
                </a:solidFill>
                <a:latin typeface="DejaVu Sans"/>
                <a:ea typeface="DejaVu Sans"/>
                <a:cs typeface="DejaVu Sans"/>
              </a:rPr>
              <a:t>FUNDING CALL</a:t>
            </a:r>
          </a:p>
        </p:txBody>
      </p:sp>
      <p:sp>
        <p:nvSpPr>
          <p:cNvPr id="6" name="Primary topic">
            <a:extLst xmlns:a="http://schemas.openxmlformats.org/drawingml/2006/main">
              <a:ext uri="{FF2B5EF4-FFF2-40B4-BE49-F238E27FC236}">
                <a16:creationId xmlns:a16="http://schemas.microsoft.com/office/drawing/2014/main" id="{F23328B1-A334-427C-91AA-D834E7CA6ADE}"/>
              </a:ext>
            </a:extLst>
          </p:cNvPr>
          <p:cNvSpPr>
            <a:spLocks xmlns:a="http://schemas.openxmlformats.org/drawingml/2006/main" noGrp="1"/>
          </p:cNvSpPr>
          <p:nvPr/>
        </p:nvSpPr>
        <p:spPr>
          <a:xfrm xmlns:a="http://schemas.openxmlformats.org/drawingml/2006/main">
            <a:off x="190500" y="733425"/>
            <a:ext cx="2819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765490"/>
                </a:solidFill>
                <a:latin typeface="DejaVu Sans"/>
                <a:ea typeface="DejaVu Sans"/>
                <a:cs typeface="DejaVu Sans"/>
              </a:defRPr>
            </a:defPPr>
          </a:lstStyle>
          <a:p xmlns:a="http://schemas.openxmlformats.org/drawingml/2006/main">
            <a:pPr algn="l">
              <a:defRPr sz="975" b="1">
                <a:solidFill>
                  <a:srgbClr val="765490"/>
                </a:solidFill>
                <a:latin typeface="DejaVu Sans"/>
                <a:ea typeface="DejaVu Sans"/>
                <a:cs typeface="DejaVu Sans"/>
              </a:defRPr>
            </a:pPr>
            <a:r>
              <a:rPr sz="975" b="1">
                <a:solidFill>
                  <a:srgbClr val="765490"/>
                </a:solidFill>
                <a:latin typeface="DejaVu Sans"/>
                <a:ea typeface="DejaVu Sans"/>
                <a:cs typeface="DejaVu Sans"/>
              </a:rPr>
              <a:t>Estimation</a:t>
            </a:r>
          </a:p>
        </p:txBody>
      </p:sp>
      <p:sp>
        <p:nvSpPr>
          <p:cNvPr id="7" name="Call title">
            <a:extLst xmlns:a="http://schemas.openxmlformats.org/drawingml/2006/main">
              <a:ext uri="{FF2B5EF4-FFF2-40B4-BE49-F238E27FC236}">
                <a16:creationId xmlns:a16="http://schemas.microsoft.com/office/drawing/2014/main" id="{D9748FD5-D99A-4609-BCC9-B12FC5410D46}"/>
              </a:ext>
            </a:extLst>
          </p:cNvPr>
          <p:cNvSpPr>
            <a:spLocks xmlns:a="http://schemas.openxmlformats.org/drawingml/2006/main" noGrp="1"/>
          </p:cNvSpPr>
          <p:nvPr/>
        </p:nvSpPr>
        <p:spPr>
          <a:xfrm xmlns:a="http://schemas.openxmlformats.org/drawingml/2006/main">
            <a:off x="190500" y="1028700"/>
            <a:ext cx="281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92936"/>
                </a:solidFill>
                <a:latin typeface="DejaVu Sans"/>
                <a:ea typeface="DejaVu Sans"/>
                <a:cs typeface="DejaVu Sans"/>
              </a:defRPr>
            </a:defPPr>
          </a:lstStyle>
          <a:p xmlns:a="http://schemas.openxmlformats.org/drawingml/2006/main">
            <a:pPr algn="l">
              <a:defRPr sz="1500" b="1">
                <a:solidFill>
                  <a:srgbClr val="192936"/>
                </a:solidFill>
                <a:latin typeface="DejaVu Sans"/>
                <a:ea typeface="DejaVu Sans"/>
                <a:cs typeface="DejaVu Sans"/>
              </a:defRPr>
            </a:pPr>
            <a:r>
              <a:rPr sz="1500" b="1">
                <a:solidFill>
                  <a:srgbClr val="192936"/>
                </a:solidFill>
                <a:latin typeface="DejaVu Sans"/>
                <a:ea typeface="DejaVu Sans"/>
                <a:cs typeface="DejaVu Sans"/>
              </a:rPr>
              <a:t>State Estimation From Noisy Sensors</a:t>
            </a:r>
          </a:p>
        </p:txBody>
      </p:sp>
      <p:sp>
        <p:nvSpPr>
          <p:cNvPr id="8" name="Research scope">
            <a:extLst xmlns:a="http://schemas.openxmlformats.org/drawingml/2006/main">
              <a:ext uri="{FF2B5EF4-FFF2-40B4-BE49-F238E27FC236}">
                <a16:creationId xmlns:a16="http://schemas.microsoft.com/office/drawing/2014/main" id="{C5B20F3D-B51C-4E12-9E92-CAFA474D2306}"/>
              </a:ext>
            </a:extLst>
          </p:cNvPr>
          <p:cNvSpPr>
            <a:spLocks xmlns:a="http://schemas.openxmlformats.org/drawingml/2006/main" noGrp="1"/>
          </p:cNvSpPr>
          <p:nvPr/>
        </p:nvSpPr>
        <p:spPr>
          <a:xfrm xmlns:a="http://schemas.openxmlformats.org/drawingml/2006/main">
            <a:off x="190500" y="1628775"/>
            <a:ext cx="2819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0">
                <a:solidFill>
                  <a:srgbClr val="52616A"/>
                </a:solidFill>
                <a:latin typeface="DejaVu Sans"/>
                <a:ea typeface="DejaVu Sans"/>
                <a:cs typeface="DejaVu Sans"/>
              </a:defRPr>
            </a:defPPr>
          </a:lstStyle>
          <a:p xmlns:a="http://schemas.openxmlformats.org/drawingml/2006/main">
            <a:pPr algn="l">
              <a:defRPr sz="825" b="0">
                <a:solidFill>
                  <a:srgbClr val="52616A"/>
                </a:solidFill>
                <a:latin typeface="DejaVu Sans"/>
                <a:ea typeface="DejaVu Sans"/>
                <a:cs typeface="DejaVu Sans"/>
              </a:defRPr>
            </a:pPr>
            <a:r>
              <a:rPr sz="825" b="0">
                <a:solidFill>
                  <a:srgbClr val="52616A"/>
                </a:solidFill>
                <a:latin typeface="DejaVu Sans"/>
                <a:ea typeface="DejaVu Sans"/>
                <a:cs typeface="DejaVu Sans"/>
              </a:rPr>
              <a:t>Estimate the state of a moving platform from noisy measurements. The call supports principled models of process and measurement uncertainty.</a:t>
            </a:r>
          </a:p>
        </p:txBody>
      </p:sp>
      <p:sp>
        <p:nvSpPr>
          <p:cNvPr id="9" name="Statistics divider">
            <a:extLst xmlns:a="http://schemas.openxmlformats.org/drawingml/2006/main">
              <a:ext uri="{FF2B5EF4-FFF2-40B4-BE49-F238E27FC236}">
                <a16:creationId xmlns:a16="http://schemas.microsoft.com/office/drawing/2014/main" id="{8BFA03CA-16D9-4755-AF4E-F1D3B80FA879}"/>
              </a:ext>
            </a:extLst>
          </p:cNvPr>
          <p:cNvSpPr>
            <a:spLocks xmlns:a="http://schemas.openxmlformats.org/drawingml/2006/main" noGrp="1"/>
          </p:cNvSpPr>
          <p:nvPr/>
        </p:nvSpPr>
        <p:spPr>
          <a:xfrm xmlns:a="http://schemas.openxmlformats.org/drawingml/2006/main">
            <a:off x="190500" y="216217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0" name="Funding award label">
            <a:extLst xmlns:a="http://schemas.openxmlformats.org/drawingml/2006/main">
              <a:ext uri="{FF2B5EF4-FFF2-40B4-BE49-F238E27FC236}">
                <a16:creationId xmlns:a16="http://schemas.microsoft.com/office/drawing/2014/main" id="{2CDBC913-C823-43A5-B355-682E695267E1}"/>
              </a:ext>
            </a:extLst>
          </p:cNvPr>
          <p:cNvSpPr>
            <a:spLocks xmlns:a="http://schemas.openxmlformats.org/drawingml/2006/main" noGrp="1"/>
          </p:cNvSpPr>
          <p:nvPr/>
        </p:nvSpPr>
        <p:spPr>
          <a:xfrm xmlns:a="http://schemas.openxmlformats.org/drawingml/2006/main">
            <a:off x="190500"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FUNDING AWARD</a:t>
            </a:r>
          </a:p>
        </p:txBody>
      </p:sp>
      <p:sp>
        <p:nvSpPr>
          <p:cNvPr id="11" name="Gray cube label">
            <a:extLst xmlns:a="http://schemas.openxmlformats.org/drawingml/2006/main">
              <a:ext uri="{FF2B5EF4-FFF2-40B4-BE49-F238E27FC236}">
                <a16:creationId xmlns:a16="http://schemas.microsoft.com/office/drawing/2014/main" id="{DF83EC58-FA5B-47D9-B0FC-BBA1B8E41073}"/>
              </a:ext>
            </a:extLst>
          </p:cNvPr>
          <p:cNvSpPr>
            <a:spLocks xmlns:a="http://schemas.openxmlformats.org/drawingml/2006/main" noGrp="1"/>
          </p:cNvSpPr>
          <p:nvPr/>
        </p:nvSpPr>
        <p:spPr>
          <a:xfrm xmlns:a="http://schemas.openxmlformats.org/drawingml/2006/main">
            <a:off x="1685925"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OUTSIDE / NO-AWARD</a:t>
            </a:r>
          </a:p>
        </p:txBody>
      </p:sp>
      <p:sp>
        <p:nvSpPr>
          <p:cNvPr id="12" name="Funding award value">
            <a:extLst xmlns:a="http://schemas.openxmlformats.org/drawingml/2006/main">
              <a:ext uri="{FF2B5EF4-FFF2-40B4-BE49-F238E27FC236}">
                <a16:creationId xmlns:a16="http://schemas.microsoft.com/office/drawing/2014/main" id="{AC404B9C-D7B2-43FE-B1A0-D01658BC8307}"/>
              </a:ext>
            </a:extLst>
          </p:cNvPr>
          <p:cNvSpPr>
            <a:spLocks xmlns:a="http://schemas.openxmlformats.org/drawingml/2006/main" noGrp="1"/>
          </p:cNvSpPr>
          <p:nvPr/>
        </p:nvSpPr>
        <p:spPr>
          <a:xfrm xmlns:a="http://schemas.openxmlformats.org/drawingml/2006/main">
            <a:off x="190500"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765490"/>
                </a:solidFill>
                <a:latin typeface="DejaVu Sans"/>
                <a:ea typeface="DejaVu Sans"/>
                <a:cs typeface="DejaVu Sans"/>
              </a:defRPr>
            </a:defPPr>
          </a:lstStyle>
          <a:p xmlns:a="http://schemas.openxmlformats.org/drawingml/2006/main">
            <a:pPr algn="l">
              <a:defRPr sz="2100" b="1">
                <a:solidFill>
                  <a:srgbClr val="765490"/>
                </a:solidFill>
                <a:latin typeface="DejaVu Sans"/>
                <a:ea typeface="DejaVu Sans"/>
                <a:cs typeface="DejaVu Sans"/>
              </a:defRPr>
            </a:pPr>
            <a:r>
              <a:rPr sz="2100" b="1">
                <a:solidFill>
                  <a:srgbClr val="765490"/>
                </a:solidFill>
                <a:latin typeface="DejaVu Sans"/>
                <a:ea typeface="DejaVu Sans"/>
                <a:cs typeface="DejaVu Sans"/>
              </a:rPr>
              <a:t>4</a:t>
            </a:r>
          </a:p>
        </p:txBody>
      </p:sp>
      <p:sp>
        <p:nvSpPr>
          <p:cNvPr id="13" name="Funding award unit">
            <a:extLst xmlns:a="http://schemas.openxmlformats.org/drawingml/2006/main">
              <a:ext uri="{FF2B5EF4-FFF2-40B4-BE49-F238E27FC236}">
                <a16:creationId xmlns:a16="http://schemas.microsoft.com/office/drawing/2014/main" id="{95181340-CA6D-402D-B2FD-8A92D6681E8D}"/>
              </a:ext>
            </a:extLst>
          </p:cNvPr>
          <p:cNvSpPr>
            <a:spLocks xmlns:a="http://schemas.openxmlformats.org/drawingml/2006/main" noGrp="1"/>
          </p:cNvSpPr>
          <p:nvPr/>
        </p:nvSpPr>
        <p:spPr>
          <a:xfrm xmlns:a="http://schemas.openxmlformats.org/drawingml/2006/main">
            <a:off x="600075" y="2543175"/>
            <a:ext cx="904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192936"/>
                </a:solidFill>
                <a:latin typeface="DejaVu Sans"/>
                <a:ea typeface="DejaVu Sans"/>
                <a:cs typeface="DejaVu Sans"/>
              </a:defRPr>
            </a:defPPr>
          </a:lstStyle>
          <a:p xmlns:a="http://schemas.openxmlformats.org/drawingml/2006/main">
            <a:pPr algn="l">
              <a:defRPr sz="900" b="1">
                <a:solidFill>
                  <a:srgbClr val="192936"/>
                </a:solidFill>
                <a:latin typeface="DejaVu Sans"/>
                <a:ea typeface="DejaVu Sans"/>
                <a:cs typeface="DejaVu Sans"/>
              </a:defRPr>
            </a:pPr>
            <a:r>
              <a:rPr sz="900" b="1">
                <a:solidFill>
                  <a:srgbClr val="192936"/>
                </a:solidFill>
                <a:latin typeface="DejaVu Sans"/>
                <a:ea typeface="DejaVu Sans"/>
                <a:cs typeface="DejaVu Sans"/>
              </a:rPr>
              <a:t>Funding</a:t>
            </a:r>
          </a:p>
        </p:txBody>
      </p:sp>
      <p:sp>
        <p:nvSpPr>
          <p:cNvPr id="14" name="Gray cube value">
            <a:extLst xmlns:a="http://schemas.openxmlformats.org/drawingml/2006/main">
              <a:ext uri="{FF2B5EF4-FFF2-40B4-BE49-F238E27FC236}">
                <a16:creationId xmlns:a16="http://schemas.microsoft.com/office/drawing/2014/main" id="{B48BDA9A-2240-4731-80DB-B07C0C88FDA6}"/>
              </a:ext>
            </a:extLst>
          </p:cNvPr>
          <p:cNvSpPr>
            <a:spLocks xmlns:a="http://schemas.openxmlformats.org/drawingml/2006/main" noGrp="1"/>
          </p:cNvSpPr>
          <p:nvPr/>
        </p:nvSpPr>
        <p:spPr>
          <a:xfrm xmlns:a="http://schemas.openxmlformats.org/drawingml/2006/main">
            <a:off x="1685925"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2616A"/>
                </a:solidFill>
                <a:latin typeface="DejaVu Sans"/>
                <a:ea typeface="DejaVu Sans"/>
                <a:cs typeface="DejaVu Sans"/>
              </a:defRPr>
            </a:defPPr>
          </a:lstStyle>
          <a:p xmlns:a="http://schemas.openxmlformats.org/drawingml/2006/main">
            <a:pPr algn="l">
              <a:defRPr sz="2100" b="1">
                <a:solidFill>
                  <a:srgbClr val="52616A"/>
                </a:solidFill>
                <a:latin typeface="DejaVu Sans"/>
                <a:ea typeface="DejaVu Sans"/>
                <a:cs typeface="DejaVu Sans"/>
              </a:defRPr>
            </a:pPr>
            <a:r>
              <a:rPr sz="2100" b="1">
                <a:solidFill>
                  <a:srgbClr val="52616A"/>
                </a:solidFill>
                <a:latin typeface="DejaVu Sans"/>
                <a:ea typeface="DejaVu Sans"/>
                <a:cs typeface="DejaVu Sans"/>
              </a:rPr>
              <a:t>3</a:t>
            </a:r>
          </a:p>
        </p:txBody>
      </p:sp>
      <p:sp>
        <p:nvSpPr>
          <p:cNvPr id="15" name="Gray cube unit">
            <a:extLst xmlns:a="http://schemas.openxmlformats.org/drawingml/2006/main">
              <a:ext uri="{FF2B5EF4-FFF2-40B4-BE49-F238E27FC236}">
                <a16:creationId xmlns:a16="http://schemas.microsoft.com/office/drawing/2014/main" id="{90A5A3B7-2CF3-4EF5-A07A-BBBCC0BFD33D}"/>
              </a:ext>
            </a:extLst>
          </p:cNvPr>
          <p:cNvSpPr>
            <a:spLocks xmlns:a="http://schemas.openxmlformats.org/drawingml/2006/main" noGrp="1"/>
          </p:cNvSpPr>
          <p:nvPr/>
        </p:nvSpPr>
        <p:spPr>
          <a:xfrm xmlns:a="http://schemas.openxmlformats.org/drawingml/2006/main">
            <a:off x="2095500" y="2543175"/>
            <a:ext cx="914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1">
                <a:solidFill>
                  <a:srgbClr val="52616A"/>
                </a:solidFill>
                <a:latin typeface="DejaVu Sans"/>
                <a:ea typeface="DejaVu Sans"/>
                <a:cs typeface="DejaVu Sans"/>
              </a:defRPr>
            </a:defPPr>
          </a:lstStyle>
          <a:p xmlns:a="http://schemas.openxmlformats.org/drawingml/2006/main">
            <a:pPr algn="l">
              <a:defRPr sz="863" b="1">
                <a:solidFill>
                  <a:srgbClr val="52616A"/>
                </a:solidFill>
                <a:latin typeface="DejaVu Sans"/>
                <a:ea typeface="DejaVu Sans"/>
                <a:cs typeface="DejaVu Sans"/>
              </a:defRPr>
            </a:pPr>
            <a:r>
              <a:rPr sz="863" b="1">
                <a:solidFill>
                  <a:srgbClr val="52616A"/>
                </a:solidFill>
                <a:latin typeface="DejaVu Sans"/>
                <a:ea typeface="DejaVu Sans"/>
                <a:cs typeface="DejaVu Sans"/>
              </a:rPr>
              <a:t>gray cubes</a:t>
            </a:r>
          </a:p>
        </p:txBody>
      </p:sp>
      <p:sp>
        <p:nvSpPr>
          <p:cNvPr id="16" name="Eligibility divider">
            <a:extLst xmlns:a="http://schemas.openxmlformats.org/drawingml/2006/main">
              <a:ext uri="{FF2B5EF4-FFF2-40B4-BE49-F238E27FC236}">
                <a16:creationId xmlns:a16="http://schemas.microsoft.com/office/drawing/2014/main" id="{368A22EB-F159-4334-AB13-7322DC4674B6}"/>
              </a:ext>
            </a:extLst>
          </p:cNvPr>
          <p:cNvSpPr>
            <a:spLocks xmlns:a="http://schemas.openxmlformats.org/drawingml/2006/main" noGrp="1"/>
          </p:cNvSpPr>
          <p:nvPr/>
        </p:nvSpPr>
        <p:spPr>
          <a:xfrm xmlns:a="http://schemas.openxmlformats.org/drawingml/2006/main">
            <a:off x="190500" y="282892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7" name="Without certification heading">
            <a:extLst xmlns:a="http://schemas.openxmlformats.org/drawingml/2006/main">
              <a:ext uri="{FF2B5EF4-FFF2-40B4-BE49-F238E27FC236}">
                <a16:creationId xmlns:a16="http://schemas.microsoft.com/office/drawing/2014/main" id="{0A299329-D4E6-4CD5-B465-B3531837AB58}"/>
              </a:ext>
            </a:extLst>
          </p:cNvPr>
          <p:cNvSpPr>
            <a:spLocks xmlns:a="http://schemas.openxmlformats.org/drawingml/2006/main" noGrp="1"/>
          </p:cNvSpPr>
          <p:nvPr/>
        </p:nvSpPr>
        <p:spPr>
          <a:xfrm xmlns:a="http://schemas.openxmlformats.org/drawingml/2006/main">
            <a:off x="190500" y="2943225"/>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1">
                <a:solidFill>
                  <a:srgbClr val="765490"/>
                </a:solidFill>
                <a:latin typeface="DejaVu Sans"/>
                <a:ea typeface="DejaVu Sans"/>
                <a:cs typeface="DejaVu Sans"/>
              </a:defRPr>
            </a:defPPr>
          </a:lstStyle>
          <a:p xmlns:a="http://schemas.openxmlformats.org/drawingml/2006/main">
            <a:pPr algn="l">
              <a:defRPr sz="825" b="1">
                <a:solidFill>
                  <a:srgbClr val="765490"/>
                </a:solidFill>
                <a:latin typeface="DejaVu Sans"/>
                <a:ea typeface="DejaVu Sans"/>
                <a:cs typeface="DejaVu Sans"/>
              </a:defRPr>
            </a:pPr>
            <a:r>
              <a:rPr sz="825" b="1">
                <a:solidFill>
                  <a:srgbClr val="765490"/>
                </a:solidFill>
                <a:latin typeface="DejaVu Sans"/>
                <a:ea typeface="DejaVu Sans"/>
                <a:cs typeface="DejaVu Sans"/>
              </a:rPr>
              <a:t>No Certified Expertise in Estimation</a:t>
            </a:r>
          </a:p>
        </p:txBody>
      </p:sp>
      <p:sp>
        <p:nvSpPr>
          <p:cNvPr id="18" name="Without certification rule">
            <a:extLst xmlns:a="http://schemas.openxmlformats.org/drawingml/2006/main">
              <a:ext uri="{FF2B5EF4-FFF2-40B4-BE49-F238E27FC236}">
                <a16:creationId xmlns:a16="http://schemas.microsoft.com/office/drawing/2014/main" id="{47A46585-C4DD-4B9B-80E6-20F358D09FC7}"/>
              </a:ext>
            </a:extLst>
          </p:cNvPr>
          <p:cNvSpPr>
            <a:spLocks xmlns:a="http://schemas.openxmlformats.org/drawingml/2006/main" noGrp="1"/>
          </p:cNvSpPr>
          <p:nvPr/>
        </p:nvSpPr>
        <p:spPr>
          <a:xfrm xmlns:a="http://schemas.openxmlformats.org/drawingml/2006/main">
            <a:off x="190500" y="3152775"/>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need at least 1 Estimation Recent Work token to apply. Only Estimation tokens count.</a:t>
            </a:r>
          </a:p>
        </p:txBody>
      </p:sp>
      <p:sp>
        <p:nvSpPr>
          <p:cNvPr id="19" name="With certification heading">
            <a:extLst xmlns:a="http://schemas.openxmlformats.org/drawingml/2006/main">
              <a:ext uri="{FF2B5EF4-FFF2-40B4-BE49-F238E27FC236}">
                <a16:creationId xmlns:a16="http://schemas.microsoft.com/office/drawing/2014/main" id="{262843AB-8AB9-4AD0-9161-FEF375215DB4}"/>
              </a:ext>
            </a:extLst>
          </p:cNvPr>
          <p:cNvSpPr>
            <a:spLocks xmlns:a="http://schemas.openxmlformats.org/drawingml/2006/main" noGrp="1"/>
          </p:cNvSpPr>
          <p:nvPr/>
        </p:nvSpPr>
        <p:spPr>
          <a:xfrm xmlns:a="http://schemas.openxmlformats.org/drawingml/2006/main">
            <a:off x="190500" y="3619500"/>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765490"/>
                </a:solidFill>
                <a:latin typeface="DejaVu Sans"/>
                <a:ea typeface="DejaVu Sans"/>
                <a:cs typeface="DejaVu Sans"/>
              </a:defRPr>
            </a:defPPr>
          </a:lstStyle>
          <a:p xmlns:a="http://schemas.openxmlformats.org/drawingml/2006/main">
            <a:pPr algn="l">
              <a:defRPr sz="788" b="1">
                <a:solidFill>
                  <a:srgbClr val="765490"/>
                </a:solidFill>
                <a:latin typeface="DejaVu Sans"/>
                <a:ea typeface="DejaVu Sans"/>
                <a:cs typeface="DejaVu Sans"/>
              </a:defRPr>
            </a:pPr>
            <a:r>
              <a:rPr sz="788" b="1">
                <a:solidFill>
                  <a:srgbClr val="765490"/>
                </a:solidFill>
                <a:latin typeface="DejaVu Sans"/>
                <a:ea typeface="DejaVu Sans"/>
                <a:cs typeface="DejaVu Sans"/>
              </a:rPr>
              <a:t>With Certified Expertise in Estimation</a:t>
            </a:r>
          </a:p>
        </p:txBody>
      </p:sp>
      <p:sp>
        <p:nvSpPr>
          <p:cNvPr id="20" name="With certification rule">
            <a:extLst xmlns:a="http://schemas.openxmlformats.org/drawingml/2006/main">
              <a:ext uri="{FF2B5EF4-FFF2-40B4-BE49-F238E27FC236}">
                <a16:creationId xmlns:a16="http://schemas.microsoft.com/office/drawing/2014/main" id="{29E8E6E5-EA48-4F46-922A-4858CC63459E}"/>
              </a:ext>
            </a:extLst>
          </p:cNvPr>
          <p:cNvSpPr>
            <a:spLocks xmlns:a="http://schemas.openxmlformats.org/drawingml/2006/main" noGrp="1"/>
          </p:cNvSpPr>
          <p:nvPr/>
        </p:nvSpPr>
        <p:spPr>
          <a:xfrm xmlns:a="http://schemas.openxmlformats.org/drawingml/2006/main">
            <a:off x="190500" y="3829050"/>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may apply without Recent Work. Recent Work from ANY topic can count. Your expertise badge is permanent.</a:t>
            </a:r>
          </a:p>
        </p:txBody>
      </p:sp>
      <p:sp>
        <p:nvSpPr>
          <p:cNvPr id="21" name="Footer divider">
            <a:extLst xmlns:a="http://schemas.openxmlformats.org/drawingml/2006/main">
              <a:ext uri="{FF2B5EF4-FFF2-40B4-BE49-F238E27FC236}">
                <a16:creationId xmlns:a16="http://schemas.microsoft.com/office/drawing/2014/main" id="{BECE69D0-EED2-4E64-941F-F47802F142F3}"/>
              </a:ext>
            </a:extLst>
          </p:cNvPr>
          <p:cNvSpPr>
            <a:spLocks xmlns:a="http://schemas.openxmlformats.org/drawingml/2006/main" noGrp="1"/>
          </p:cNvSpPr>
          <p:nvPr/>
        </p:nvSpPr>
        <p:spPr>
          <a:xfrm xmlns:a="http://schemas.openxmlformats.org/drawingml/2006/main">
            <a:off x="190500" y="4286250"/>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22" name="Recent Work cap">
            <a:extLst xmlns:a="http://schemas.openxmlformats.org/drawingml/2006/main">
              <a:ext uri="{FF2B5EF4-FFF2-40B4-BE49-F238E27FC236}">
                <a16:creationId xmlns:a16="http://schemas.microsoft.com/office/drawing/2014/main" id="{F7CEA6A1-5D99-4AFA-8EDA-D62A2B09C550}"/>
              </a:ext>
            </a:extLst>
          </p:cNvPr>
          <p:cNvSpPr>
            <a:spLocks xmlns:a="http://schemas.openxmlformats.org/drawingml/2006/main" noGrp="1"/>
          </p:cNvSpPr>
          <p:nvPr/>
        </p:nvSpPr>
        <p:spPr>
          <a:xfrm xmlns:a="http://schemas.openxmlformats.org/drawingml/2006/main">
            <a:off x="190500" y="4371975"/>
            <a:ext cx="28194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192936"/>
                </a:solidFill>
                <a:latin typeface="DejaVu Sans"/>
                <a:ea typeface="DejaVu Sans"/>
                <a:cs typeface="DejaVu Sans"/>
              </a:defRPr>
            </a:defPPr>
          </a:lstStyle>
          <a:p xmlns:a="http://schemas.openxmlformats.org/drawingml/2006/main">
            <a:pPr algn="l">
              <a:defRPr sz="788" b="1">
                <a:solidFill>
                  <a:srgbClr val="192936"/>
                </a:solidFill>
                <a:latin typeface="DejaVu Sans"/>
                <a:ea typeface="DejaVu Sans"/>
                <a:cs typeface="DejaVu Sans"/>
              </a:defRPr>
            </a:pPr>
            <a:r>
              <a:rPr sz="788" b="1">
                <a:solidFill>
                  <a:srgbClr val="192936"/>
                </a:solidFill>
                <a:latin typeface="DejaVu Sans"/>
                <a:ea typeface="DejaVu Sans"/>
                <a:cs typeface="DejaVu Sans"/>
              </a:rPr>
              <a:t>Count at most 3 Recent Work tokens.</a:t>
            </a:r>
          </a:p>
        </p:txBody>
      </p:sp>
    </p:spTree>
    <p:extLst>
      <p:ext uri="{BB962C8B-B14F-4D97-AF65-F5344CB8AC3E}">
        <p14:creationId xmlns:p14="http://schemas.microsoft.com/office/powerpoint/2010/main" val="93980813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Card border">
            <a:extLst xmlns:a="http://schemas.openxmlformats.org/drawingml/2006/main">
              <a:ext uri="{FF2B5EF4-FFF2-40B4-BE49-F238E27FC236}">
                <a16:creationId xmlns:a16="http://schemas.microsoft.com/office/drawing/2014/main" id="{6E15A6EB-E645-4529-B707-66B42ABFCD36}"/>
              </a:ext>
            </a:extLst>
          </p:cNvPr>
          <p:cNvSpPr>
            <a:spLocks xmlns:a="http://schemas.openxmlformats.org/drawingml/2006/main" noGrp="1"/>
          </p:cNvSpPr>
          <p:nvPr/>
        </p:nvSpPr>
        <p:spPr>
          <a:xfrm xmlns:a="http://schemas.openxmlformats.org/drawingml/2006/main">
            <a:off x="9525" y="9525"/>
            <a:ext cx="3181350" cy="4552950"/>
          </a:xfrm>
          <a:prstGeom xmlns:a="http://schemas.openxmlformats.org/drawingml/2006/main" prst="rect">
            <a:avLst/>
          </a:prstGeom>
          <a:noFill xmlns:a="http://schemas.openxmlformats.org/drawingml/2006/main"/>
          <a:ln xmlns:a="http://schemas.openxmlformats.org/drawingml/2006/main" w="9525">
            <a:solidFill>
              <a:srgbClr val="D0D5D8"/>
            </a:solidFill>
          </a:ln>
        </p:spPr>
      </p:sp>
      <p:sp>
        <p:nvSpPr>
          <p:cNvPr id="2" name="Topic color band">
            <a:extLst xmlns:a="http://schemas.openxmlformats.org/drawingml/2006/main">
              <a:ext uri="{FF2B5EF4-FFF2-40B4-BE49-F238E27FC236}">
                <a16:creationId xmlns:a16="http://schemas.microsoft.com/office/drawing/2014/main" id="{CC3DFB0E-984F-4330-AB11-F87377E18583}"/>
              </a:ext>
            </a:extLst>
          </p:cNvPr>
          <p:cNvSpPr>
            <a:spLocks xmlns:a="http://schemas.openxmlformats.org/drawingml/2006/main" noGrp="1"/>
          </p:cNvSpPr>
          <p:nvPr/>
        </p:nvSpPr>
        <p:spPr>
          <a:xfrm xmlns:a="http://schemas.openxmlformats.org/drawingml/2006/main">
            <a:off x="9525" y="9525"/>
            <a:ext cx="3181350" cy="400050"/>
          </a:xfrm>
          <a:prstGeom xmlns:a="http://schemas.openxmlformats.org/drawingml/2006/main" prst="rect">
            <a:avLst/>
          </a:prstGeom>
          <a:solidFill xmlns:a="http://schemas.openxmlformats.org/drawingml/2006/main">
            <a:srgbClr val="765490"/>
          </a:solidFill>
          <a:ln xmlns:a="http://schemas.openxmlformats.org/drawingml/2006/main" w="0">
            <a:noFill/>
          </a:ln>
        </p:spPr>
      </p:sp>
      <p:sp>
        <p:nvSpPr>
          <p:cNvPr id="3" name="Game name">
            <a:extLst xmlns:a="http://schemas.openxmlformats.org/drawingml/2006/main">
              <a:ext uri="{FF2B5EF4-FFF2-40B4-BE49-F238E27FC236}">
                <a16:creationId xmlns:a16="http://schemas.microsoft.com/office/drawing/2014/main" id="{BFC970D7-DAE9-454F-AB90-C29975006744}"/>
              </a:ext>
            </a:extLst>
          </p:cNvPr>
          <p:cNvSpPr>
            <a:spLocks xmlns:a="http://schemas.openxmlformats.org/drawingml/2006/main" noGrp="1"/>
          </p:cNvSpPr>
          <p:nvPr/>
        </p:nvSpPr>
        <p:spPr>
          <a:xfrm xmlns:a="http://schemas.openxmlformats.org/drawingml/2006/main">
            <a:off x="190500" y="133350"/>
            <a:ext cx="1943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FFFFFF"/>
                </a:solidFill>
                <a:latin typeface="DejaVu Sans"/>
                <a:ea typeface="DejaVu Sans"/>
                <a:cs typeface="DejaVu Sans"/>
              </a:defRPr>
            </a:defPPr>
          </a:lstStyle>
          <a:p xmlns:a="http://schemas.openxmlformats.org/drawingml/2006/main">
            <a:pPr algn="l">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GRANT CONTROL</a:t>
            </a:r>
          </a:p>
        </p:txBody>
      </p:sp>
      <p:sp>
        <p:nvSpPr>
          <p:cNvPr id="4" name="Card identifier">
            <a:extLst xmlns:a="http://schemas.openxmlformats.org/drawingml/2006/main">
              <a:ext uri="{FF2B5EF4-FFF2-40B4-BE49-F238E27FC236}">
                <a16:creationId xmlns:a16="http://schemas.microsoft.com/office/drawing/2014/main" id="{614783DF-2E8F-427E-9500-411D0CE7CBFF}"/>
              </a:ext>
            </a:extLst>
          </p:cNvPr>
          <p:cNvSpPr>
            <a:spLocks xmlns:a="http://schemas.openxmlformats.org/drawingml/2006/main" noGrp="1"/>
          </p:cNvSpPr>
          <p:nvPr/>
        </p:nvSpPr>
        <p:spPr>
          <a:xfrm xmlns:a="http://schemas.openxmlformats.org/drawingml/2006/main">
            <a:off x="2371725" y="142875"/>
            <a:ext cx="6381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788" b="1">
                <a:solidFill>
                  <a:srgbClr val="FFFFFF"/>
                </a:solidFill>
                <a:latin typeface="DejaVu Sans"/>
                <a:ea typeface="DejaVu Sans"/>
                <a:cs typeface="DejaVu Sans"/>
              </a:defRPr>
            </a:defPPr>
          </a:lstStyle>
          <a:p xmlns:a="http://schemas.openxmlformats.org/drawingml/2006/main">
            <a:pPr algn="r">
              <a:defRPr sz="788" b="1">
                <a:solidFill>
                  <a:srgbClr val="FFFFFF"/>
                </a:solidFill>
                <a:latin typeface="DejaVu Sans"/>
                <a:ea typeface="DejaVu Sans"/>
                <a:cs typeface="DejaVu Sans"/>
              </a:defRPr>
            </a:pPr>
            <a:r>
              <a:rPr sz="788" b="1">
                <a:solidFill>
                  <a:srgbClr val="FFFFFF"/>
                </a:solidFill>
                <a:latin typeface="DejaVu Sans"/>
                <a:ea typeface="DejaVu Sans"/>
                <a:cs typeface="DejaVu Sans"/>
              </a:rPr>
              <a:t>EST-02</a:t>
            </a:r>
          </a:p>
        </p:txBody>
      </p:sp>
      <p:sp>
        <p:nvSpPr>
          <p:cNvPr id="5" name="Card category">
            <a:extLst xmlns:a="http://schemas.openxmlformats.org/drawingml/2006/main">
              <a:ext uri="{FF2B5EF4-FFF2-40B4-BE49-F238E27FC236}">
                <a16:creationId xmlns:a16="http://schemas.microsoft.com/office/drawing/2014/main" id="{BC5ADD11-0942-43BF-ABA0-B796FAF77EE1}"/>
              </a:ext>
            </a:extLst>
          </p:cNvPr>
          <p:cNvSpPr>
            <a:spLocks xmlns:a="http://schemas.openxmlformats.org/drawingml/2006/main" noGrp="1"/>
          </p:cNvSpPr>
          <p:nvPr/>
        </p:nvSpPr>
        <p:spPr>
          <a:xfrm xmlns:a="http://schemas.openxmlformats.org/drawingml/2006/main">
            <a:off x="190500" y="523875"/>
            <a:ext cx="2800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765490"/>
                </a:solidFill>
                <a:latin typeface="DejaVu Sans"/>
                <a:ea typeface="DejaVu Sans"/>
                <a:cs typeface="DejaVu Sans"/>
              </a:defRPr>
            </a:defPPr>
          </a:lstStyle>
          <a:p xmlns:a="http://schemas.openxmlformats.org/drawingml/2006/main">
            <a:pPr algn="l">
              <a:defRPr sz="788" b="1">
                <a:solidFill>
                  <a:srgbClr val="765490"/>
                </a:solidFill>
                <a:latin typeface="DejaVu Sans"/>
                <a:ea typeface="DejaVu Sans"/>
                <a:cs typeface="DejaVu Sans"/>
              </a:defRPr>
            </a:pPr>
            <a:r>
              <a:rPr sz="788" b="1">
                <a:solidFill>
                  <a:srgbClr val="765490"/>
                </a:solidFill>
                <a:latin typeface="DejaVu Sans"/>
                <a:ea typeface="DejaVu Sans"/>
                <a:cs typeface="DejaVu Sans"/>
              </a:rPr>
              <a:t>FUNDING CALL</a:t>
            </a:r>
          </a:p>
        </p:txBody>
      </p:sp>
      <p:sp>
        <p:nvSpPr>
          <p:cNvPr id="6" name="Primary topic">
            <a:extLst xmlns:a="http://schemas.openxmlformats.org/drawingml/2006/main">
              <a:ext uri="{FF2B5EF4-FFF2-40B4-BE49-F238E27FC236}">
                <a16:creationId xmlns:a16="http://schemas.microsoft.com/office/drawing/2014/main" id="{8D60548F-F696-4F3E-9FAD-535F078AA6CF}"/>
              </a:ext>
            </a:extLst>
          </p:cNvPr>
          <p:cNvSpPr>
            <a:spLocks xmlns:a="http://schemas.openxmlformats.org/drawingml/2006/main" noGrp="1"/>
          </p:cNvSpPr>
          <p:nvPr/>
        </p:nvSpPr>
        <p:spPr>
          <a:xfrm xmlns:a="http://schemas.openxmlformats.org/drawingml/2006/main">
            <a:off x="190500" y="733425"/>
            <a:ext cx="2819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765490"/>
                </a:solidFill>
                <a:latin typeface="DejaVu Sans"/>
                <a:ea typeface="DejaVu Sans"/>
                <a:cs typeface="DejaVu Sans"/>
              </a:defRPr>
            </a:defPPr>
          </a:lstStyle>
          <a:p xmlns:a="http://schemas.openxmlformats.org/drawingml/2006/main">
            <a:pPr algn="l">
              <a:defRPr sz="975" b="1">
                <a:solidFill>
                  <a:srgbClr val="765490"/>
                </a:solidFill>
                <a:latin typeface="DejaVu Sans"/>
                <a:ea typeface="DejaVu Sans"/>
                <a:cs typeface="DejaVu Sans"/>
              </a:defRPr>
            </a:pPr>
            <a:r>
              <a:rPr sz="975" b="1">
                <a:solidFill>
                  <a:srgbClr val="765490"/>
                </a:solidFill>
                <a:latin typeface="DejaVu Sans"/>
                <a:ea typeface="DejaVu Sans"/>
                <a:cs typeface="DejaVu Sans"/>
              </a:rPr>
              <a:t>Estimation</a:t>
            </a:r>
          </a:p>
        </p:txBody>
      </p:sp>
      <p:sp>
        <p:nvSpPr>
          <p:cNvPr id="7" name="Call title">
            <a:extLst xmlns:a="http://schemas.openxmlformats.org/drawingml/2006/main">
              <a:ext uri="{FF2B5EF4-FFF2-40B4-BE49-F238E27FC236}">
                <a16:creationId xmlns:a16="http://schemas.microsoft.com/office/drawing/2014/main" id="{20CC4BDF-EC87-4028-B0DD-7E4347EDDCB5}"/>
              </a:ext>
            </a:extLst>
          </p:cNvPr>
          <p:cNvSpPr>
            <a:spLocks xmlns:a="http://schemas.openxmlformats.org/drawingml/2006/main" noGrp="1"/>
          </p:cNvSpPr>
          <p:nvPr/>
        </p:nvSpPr>
        <p:spPr>
          <a:xfrm xmlns:a="http://schemas.openxmlformats.org/drawingml/2006/main">
            <a:off x="190500" y="1028700"/>
            <a:ext cx="281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92936"/>
                </a:solidFill>
                <a:latin typeface="DejaVu Sans"/>
                <a:ea typeface="DejaVu Sans"/>
                <a:cs typeface="DejaVu Sans"/>
              </a:defRPr>
            </a:defPPr>
          </a:lstStyle>
          <a:p xmlns:a="http://schemas.openxmlformats.org/drawingml/2006/main">
            <a:pPr algn="l">
              <a:defRPr sz="1500" b="1">
                <a:solidFill>
                  <a:srgbClr val="192936"/>
                </a:solidFill>
                <a:latin typeface="DejaVu Sans"/>
                <a:ea typeface="DejaVu Sans"/>
                <a:cs typeface="DejaVu Sans"/>
              </a:defRPr>
            </a:pPr>
            <a:r>
              <a:rPr sz="1500" b="1">
                <a:solidFill>
                  <a:srgbClr val="192936"/>
                </a:solidFill>
                <a:latin typeface="DejaVu Sans"/>
                <a:ea typeface="DejaVu Sans"/>
                <a:cs typeface="DejaVu Sans"/>
              </a:rPr>
              <a:t>Sensor Fusion With Missing Data</a:t>
            </a:r>
          </a:p>
        </p:txBody>
      </p:sp>
      <p:sp>
        <p:nvSpPr>
          <p:cNvPr id="8" name="Research scope">
            <a:extLst xmlns:a="http://schemas.openxmlformats.org/drawingml/2006/main">
              <a:ext uri="{FF2B5EF4-FFF2-40B4-BE49-F238E27FC236}">
                <a16:creationId xmlns:a16="http://schemas.microsoft.com/office/drawing/2014/main" id="{82BA249A-2054-45F4-8D6A-EC38BE17ABA9}"/>
              </a:ext>
            </a:extLst>
          </p:cNvPr>
          <p:cNvSpPr>
            <a:spLocks xmlns:a="http://schemas.openxmlformats.org/drawingml/2006/main" noGrp="1"/>
          </p:cNvSpPr>
          <p:nvPr/>
        </p:nvSpPr>
        <p:spPr>
          <a:xfrm xmlns:a="http://schemas.openxmlformats.org/drawingml/2006/main">
            <a:off x="190500" y="1628775"/>
            <a:ext cx="2819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0">
                <a:solidFill>
                  <a:srgbClr val="52616A"/>
                </a:solidFill>
                <a:latin typeface="DejaVu Sans"/>
                <a:ea typeface="DejaVu Sans"/>
                <a:cs typeface="DejaVu Sans"/>
              </a:defRPr>
            </a:defPPr>
          </a:lstStyle>
          <a:p xmlns:a="http://schemas.openxmlformats.org/drawingml/2006/main">
            <a:pPr algn="l">
              <a:defRPr sz="825" b="0">
                <a:solidFill>
                  <a:srgbClr val="52616A"/>
                </a:solidFill>
                <a:latin typeface="DejaVu Sans"/>
                <a:ea typeface="DejaVu Sans"/>
                <a:cs typeface="DejaVu Sans"/>
              </a:defRPr>
            </a:pPr>
            <a:r>
              <a:rPr sz="825" b="0">
                <a:solidFill>
                  <a:srgbClr val="52616A"/>
                </a:solidFill>
                <a:latin typeface="DejaVu Sans"/>
                <a:ea typeface="DejaVu Sans"/>
                <a:cs typeface="DejaVu Sans"/>
              </a:rPr>
              <a:t>Combine measurements from sensors with different noise levels and occasional dropouts. Study how the estimator responds when information is unavailable.</a:t>
            </a:r>
          </a:p>
        </p:txBody>
      </p:sp>
      <p:sp>
        <p:nvSpPr>
          <p:cNvPr id="9" name="Statistics divider">
            <a:extLst xmlns:a="http://schemas.openxmlformats.org/drawingml/2006/main">
              <a:ext uri="{FF2B5EF4-FFF2-40B4-BE49-F238E27FC236}">
                <a16:creationId xmlns:a16="http://schemas.microsoft.com/office/drawing/2014/main" id="{3DBA5980-1BE0-4BEC-8C3F-EB060B7EC8A0}"/>
              </a:ext>
            </a:extLst>
          </p:cNvPr>
          <p:cNvSpPr>
            <a:spLocks xmlns:a="http://schemas.openxmlformats.org/drawingml/2006/main" noGrp="1"/>
          </p:cNvSpPr>
          <p:nvPr/>
        </p:nvSpPr>
        <p:spPr>
          <a:xfrm xmlns:a="http://schemas.openxmlformats.org/drawingml/2006/main">
            <a:off x="190500" y="216217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0" name="Funding award label">
            <a:extLst xmlns:a="http://schemas.openxmlformats.org/drawingml/2006/main">
              <a:ext uri="{FF2B5EF4-FFF2-40B4-BE49-F238E27FC236}">
                <a16:creationId xmlns:a16="http://schemas.microsoft.com/office/drawing/2014/main" id="{4E77832B-FA07-40BB-A72F-D2E35064EDF6}"/>
              </a:ext>
            </a:extLst>
          </p:cNvPr>
          <p:cNvSpPr>
            <a:spLocks xmlns:a="http://schemas.openxmlformats.org/drawingml/2006/main" noGrp="1"/>
          </p:cNvSpPr>
          <p:nvPr/>
        </p:nvSpPr>
        <p:spPr>
          <a:xfrm xmlns:a="http://schemas.openxmlformats.org/drawingml/2006/main">
            <a:off x="190500"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FUNDING AWARD</a:t>
            </a:r>
          </a:p>
        </p:txBody>
      </p:sp>
      <p:sp>
        <p:nvSpPr>
          <p:cNvPr id="11" name="Gray cube label">
            <a:extLst xmlns:a="http://schemas.openxmlformats.org/drawingml/2006/main">
              <a:ext uri="{FF2B5EF4-FFF2-40B4-BE49-F238E27FC236}">
                <a16:creationId xmlns:a16="http://schemas.microsoft.com/office/drawing/2014/main" id="{E1417CBA-65CD-4FE2-8BD5-CAC1B97A1503}"/>
              </a:ext>
            </a:extLst>
          </p:cNvPr>
          <p:cNvSpPr>
            <a:spLocks xmlns:a="http://schemas.openxmlformats.org/drawingml/2006/main" noGrp="1"/>
          </p:cNvSpPr>
          <p:nvPr/>
        </p:nvSpPr>
        <p:spPr>
          <a:xfrm xmlns:a="http://schemas.openxmlformats.org/drawingml/2006/main">
            <a:off x="1685925"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OUTSIDE / NO-AWARD</a:t>
            </a:r>
          </a:p>
        </p:txBody>
      </p:sp>
      <p:sp>
        <p:nvSpPr>
          <p:cNvPr id="12" name="Funding award value">
            <a:extLst xmlns:a="http://schemas.openxmlformats.org/drawingml/2006/main">
              <a:ext uri="{FF2B5EF4-FFF2-40B4-BE49-F238E27FC236}">
                <a16:creationId xmlns:a16="http://schemas.microsoft.com/office/drawing/2014/main" id="{777AA22C-F646-4C9E-BFE1-C0AD450B028E}"/>
              </a:ext>
            </a:extLst>
          </p:cNvPr>
          <p:cNvSpPr>
            <a:spLocks xmlns:a="http://schemas.openxmlformats.org/drawingml/2006/main" noGrp="1"/>
          </p:cNvSpPr>
          <p:nvPr/>
        </p:nvSpPr>
        <p:spPr>
          <a:xfrm xmlns:a="http://schemas.openxmlformats.org/drawingml/2006/main">
            <a:off x="190500"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765490"/>
                </a:solidFill>
                <a:latin typeface="DejaVu Sans"/>
                <a:ea typeface="DejaVu Sans"/>
                <a:cs typeface="DejaVu Sans"/>
              </a:defRPr>
            </a:defPPr>
          </a:lstStyle>
          <a:p xmlns:a="http://schemas.openxmlformats.org/drawingml/2006/main">
            <a:pPr algn="l">
              <a:defRPr sz="2100" b="1">
                <a:solidFill>
                  <a:srgbClr val="765490"/>
                </a:solidFill>
                <a:latin typeface="DejaVu Sans"/>
                <a:ea typeface="DejaVu Sans"/>
                <a:cs typeface="DejaVu Sans"/>
              </a:defRPr>
            </a:pPr>
            <a:r>
              <a:rPr sz="2100" b="1">
                <a:solidFill>
                  <a:srgbClr val="765490"/>
                </a:solidFill>
                <a:latin typeface="DejaVu Sans"/>
                <a:ea typeface="DejaVu Sans"/>
                <a:cs typeface="DejaVu Sans"/>
              </a:rPr>
              <a:t>5</a:t>
            </a:r>
          </a:p>
        </p:txBody>
      </p:sp>
      <p:sp>
        <p:nvSpPr>
          <p:cNvPr id="13" name="Funding award unit">
            <a:extLst xmlns:a="http://schemas.openxmlformats.org/drawingml/2006/main">
              <a:ext uri="{FF2B5EF4-FFF2-40B4-BE49-F238E27FC236}">
                <a16:creationId xmlns:a16="http://schemas.microsoft.com/office/drawing/2014/main" id="{0A2984F1-C45F-4D65-B6C1-CDF632E7E9BF}"/>
              </a:ext>
            </a:extLst>
          </p:cNvPr>
          <p:cNvSpPr>
            <a:spLocks xmlns:a="http://schemas.openxmlformats.org/drawingml/2006/main" noGrp="1"/>
          </p:cNvSpPr>
          <p:nvPr/>
        </p:nvSpPr>
        <p:spPr>
          <a:xfrm xmlns:a="http://schemas.openxmlformats.org/drawingml/2006/main">
            <a:off x="600075" y="2543175"/>
            <a:ext cx="904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192936"/>
                </a:solidFill>
                <a:latin typeface="DejaVu Sans"/>
                <a:ea typeface="DejaVu Sans"/>
                <a:cs typeface="DejaVu Sans"/>
              </a:defRPr>
            </a:defPPr>
          </a:lstStyle>
          <a:p xmlns:a="http://schemas.openxmlformats.org/drawingml/2006/main">
            <a:pPr algn="l">
              <a:defRPr sz="900" b="1">
                <a:solidFill>
                  <a:srgbClr val="192936"/>
                </a:solidFill>
                <a:latin typeface="DejaVu Sans"/>
                <a:ea typeface="DejaVu Sans"/>
                <a:cs typeface="DejaVu Sans"/>
              </a:defRPr>
            </a:pPr>
            <a:r>
              <a:rPr sz="900" b="1">
                <a:solidFill>
                  <a:srgbClr val="192936"/>
                </a:solidFill>
                <a:latin typeface="DejaVu Sans"/>
                <a:ea typeface="DejaVu Sans"/>
                <a:cs typeface="DejaVu Sans"/>
              </a:rPr>
              <a:t>Funding</a:t>
            </a:r>
          </a:p>
        </p:txBody>
      </p:sp>
      <p:sp>
        <p:nvSpPr>
          <p:cNvPr id="14" name="Gray cube value">
            <a:extLst xmlns:a="http://schemas.openxmlformats.org/drawingml/2006/main">
              <a:ext uri="{FF2B5EF4-FFF2-40B4-BE49-F238E27FC236}">
                <a16:creationId xmlns:a16="http://schemas.microsoft.com/office/drawing/2014/main" id="{25906F27-9F8A-4A7B-8027-23D1AEDE142B}"/>
              </a:ext>
            </a:extLst>
          </p:cNvPr>
          <p:cNvSpPr>
            <a:spLocks xmlns:a="http://schemas.openxmlformats.org/drawingml/2006/main" noGrp="1"/>
          </p:cNvSpPr>
          <p:nvPr/>
        </p:nvSpPr>
        <p:spPr>
          <a:xfrm xmlns:a="http://schemas.openxmlformats.org/drawingml/2006/main">
            <a:off x="1685925"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2616A"/>
                </a:solidFill>
                <a:latin typeface="DejaVu Sans"/>
                <a:ea typeface="DejaVu Sans"/>
                <a:cs typeface="DejaVu Sans"/>
              </a:defRPr>
            </a:defPPr>
          </a:lstStyle>
          <a:p xmlns:a="http://schemas.openxmlformats.org/drawingml/2006/main">
            <a:pPr algn="l">
              <a:defRPr sz="2100" b="1">
                <a:solidFill>
                  <a:srgbClr val="52616A"/>
                </a:solidFill>
                <a:latin typeface="DejaVu Sans"/>
                <a:ea typeface="DejaVu Sans"/>
                <a:cs typeface="DejaVu Sans"/>
              </a:defRPr>
            </a:pPr>
            <a:r>
              <a:rPr sz="2100" b="1">
                <a:solidFill>
                  <a:srgbClr val="52616A"/>
                </a:solidFill>
                <a:latin typeface="DejaVu Sans"/>
                <a:ea typeface="DejaVu Sans"/>
                <a:cs typeface="DejaVu Sans"/>
              </a:rPr>
              <a:t>4</a:t>
            </a:r>
          </a:p>
        </p:txBody>
      </p:sp>
      <p:sp>
        <p:nvSpPr>
          <p:cNvPr id="15" name="Gray cube unit">
            <a:extLst xmlns:a="http://schemas.openxmlformats.org/drawingml/2006/main">
              <a:ext uri="{FF2B5EF4-FFF2-40B4-BE49-F238E27FC236}">
                <a16:creationId xmlns:a16="http://schemas.microsoft.com/office/drawing/2014/main" id="{B8F71820-DEA3-41DC-B11A-A98FDFED786C}"/>
              </a:ext>
            </a:extLst>
          </p:cNvPr>
          <p:cNvSpPr>
            <a:spLocks xmlns:a="http://schemas.openxmlformats.org/drawingml/2006/main" noGrp="1"/>
          </p:cNvSpPr>
          <p:nvPr/>
        </p:nvSpPr>
        <p:spPr>
          <a:xfrm xmlns:a="http://schemas.openxmlformats.org/drawingml/2006/main">
            <a:off x="2095500" y="2543175"/>
            <a:ext cx="914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1">
                <a:solidFill>
                  <a:srgbClr val="52616A"/>
                </a:solidFill>
                <a:latin typeface="DejaVu Sans"/>
                <a:ea typeface="DejaVu Sans"/>
                <a:cs typeface="DejaVu Sans"/>
              </a:defRPr>
            </a:defPPr>
          </a:lstStyle>
          <a:p xmlns:a="http://schemas.openxmlformats.org/drawingml/2006/main">
            <a:pPr algn="l">
              <a:defRPr sz="863" b="1">
                <a:solidFill>
                  <a:srgbClr val="52616A"/>
                </a:solidFill>
                <a:latin typeface="DejaVu Sans"/>
                <a:ea typeface="DejaVu Sans"/>
                <a:cs typeface="DejaVu Sans"/>
              </a:defRPr>
            </a:pPr>
            <a:r>
              <a:rPr sz="863" b="1">
                <a:solidFill>
                  <a:srgbClr val="52616A"/>
                </a:solidFill>
                <a:latin typeface="DejaVu Sans"/>
                <a:ea typeface="DejaVu Sans"/>
                <a:cs typeface="DejaVu Sans"/>
              </a:rPr>
              <a:t>gray cubes</a:t>
            </a:r>
          </a:p>
        </p:txBody>
      </p:sp>
      <p:sp>
        <p:nvSpPr>
          <p:cNvPr id="16" name="Eligibility divider">
            <a:extLst xmlns:a="http://schemas.openxmlformats.org/drawingml/2006/main">
              <a:ext uri="{FF2B5EF4-FFF2-40B4-BE49-F238E27FC236}">
                <a16:creationId xmlns:a16="http://schemas.microsoft.com/office/drawing/2014/main" id="{67C73EBB-5D48-426F-A320-8B3947EC4874}"/>
              </a:ext>
            </a:extLst>
          </p:cNvPr>
          <p:cNvSpPr>
            <a:spLocks xmlns:a="http://schemas.openxmlformats.org/drawingml/2006/main" noGrp="1"/>
          </p:cNvSpPr>
          <p:nvPr/>
        </p:nvSpPr>
        <p:spPr>
          <a:xfrm xmlns:a="http://schemas.openxmlformats.org/drawingml/2006/main">
            <a:off x="190500" y="282892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7" name="Without certification heading">
            <a:extLst xmlns:a="http://schemas.openxmlformats.org/drawingml/2006/main">
              <a:ext uri="{FF2B5EF4-FFF2-40B4-BE49-F238E27FC236}">
                <a16:creationId xmlns:a16="http://schemas.microsoft.com/office/drawing/2014/main" id="{91EB3275-ECA9-43B3-B2D7-6608F3D4B2B7}"/>
              </a:ext>
            </a:extLst>
          </p:cNvPr>
          <p:cNvSpPr>
            <a:spLocks xmlns:a="http://schemas.openxmlformats.org/drawingml/2006/main" noGrp="1"/>
          </p:cNvSpPr>
          <p:nvPr/>
        </p:nvSpPr>
        <p:spPr>
          <a:xfrm xmlns:a="http://schemas.openxmlformats.org/drawingml/2006/main">
            <a:off x="190500" y="2943225"/>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1">
                <a:solidFill>
                  <a:srgbClr val="765490"/>
                </a:solidFill>
                <a:latin typeface="DejaVu Sans"/>
                <a:ea typeface="DejaVu Sans"/>
                <a:cs typeface="DejaVu Sans"/>
              </a:defRPr>
            </a:defPPr>
          </a:lstStyle>
          <a:p xmlns:a="http://schemas.openxmlformats.org/drawingml/2006/main">
            <a:pPr algn="l">
              <a:defRPr sz="825" b="1">
                <a:solidFill>
                  <a:srgbClr val="765490"/>
                </a:solidFill>
                <a:latin typeface="DejaVu Sans"/>
                <a:ea typeface="DejaVu Sans"/>
                <a:cs typeface="DejaVu Sans"/>
              </a:defRPr>
            </a:pPr>
            <a:r>
              <a:rPr sz="825" b="1">
                <a:solidFill>
                  <a:srgbClr val="765490"/>
                </a:solidFill>
                <a:latin typeface="DejaVu Sans"/>
                <a:ea typeface="DejaVu Sans"/>
                <a:cs typeface="DejaVu Sans"/>
              </a:rPr>
              <a:t>No Certified Expertise in Estimation</a:t>
            </a:r>
          </a:p>
        </p:txBody>
      </p:sp>
      <p:sp>
        <p:nvSpPr>
          <p:cNvPr id="18" name="Without certification rule">
            <a:extLst xmlns:a="http://schemas.openxmlformats.org/drawingml/2006/main">
              <a:ext uri="{FF2B5EF4-FFF2-40B4-BE49-F238E27FC236}">
                <a16:creationId xmlns:a16="http://schemas.microsoft.com/office/drawing/2014/main" id="{EF90F9ED-9815-48B5-A921-8AD592C0DD84}"/>
              </a:ext>
            </a:extLst>
          </p:cNvPr>
          <p:cNvSpPr>
            <a:spLocks xmlns:a="http://schemas.openxmlformats.org/drawingml/2006/main" noGrp="1"/>
          </p:cNvSpPr>
          <p:nvPr/>
        </p:nvSpPr>
        <p:spPr>
          <a:xfrm xmlns:a="http://schemas.openxmlformats.org/drawingml/2006/main">
            <a:off x="190500" y="3152775"/>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need at least 1 Estimation Recent Work token to apply. Only Estimation tokens count.</a:t>
            </a:r>
          </a:p>
        </p:txBody>
      </p:sp>
      <p:sp>
        <p:nvSpPr>
          <p:cNvPr id="19" name="With certification heading">
            <a:extLst xmlns:a="http://schemas.openxmlformats.org/drawingml/2006/main">
              <a:ext uri="{FF2B5EF4-FFF2-40B4-BE49-F238E27FC236}">
                <a16:creationId xmlns:a16="http://schemas.microsoft.com/office/drawing/2014/main" id="{750B0E6A-87AA-467C-A156-9575ECD75271}"/>
              </a:ext>
            </a:extLst>
          </p:cNvPr>
          <p:cNvSpPr>
            <a:spLocks xmlns:a="http://schemas.openxmlformats.org/drawingml/2006/main" noGrp="1"/>
          </p:cNvSpPr>
          <p:nvPr/>
        </p:nvSpPr>
        <p:spPr>
          <a:xfrm xmlns:a="http://schemas.openxmlformats.org/drawingml/2006/main">
            <a:off x="190500" y="3619500"/>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765490"/>
                </a:solidFill>
                <a:latin typeface="DejaVu Sans"/>
                <a:ea typeface="DejaVu Sans"/>
                <a:cs typeface="DejaVu Sans"/>
              </a:defRPr>
            </a:defPPr>
          </a:lstStyle>
          <a:p xmlns:a="http://schemas.openxmlformats.org/drawingml/2006/main">
            <a:pPr algn="l">
              <a:defRPr sz="788" b="1">
                <a:solidFill>
                  <a:srgbClr val="765490"/>
                </a:solidFill>
                <a:latin typeface="DejaVu Sans"/>
                <a:ea typeface="DejaVu Sans"/>
                <a:cs typeface="DejaVu Sans"/>
              </a:defRPr>
            </a:pPr>
            <a:r>
              <a:rPr sz="788" b="1">
                <a:solidFill>
                  <a:srgbClr val="765490"/>
                </a:solidFill>
                <a:latin typeface="DejaVu Sans"/>
                <a:ea typeface="DejaVu Sans"/>
                <a:cs typeface="DejaVu Sans"/>
              </a:rPr>
              <a:t>With Certified Expertise in Estimation</a:t>
            </a:r>
          </a:p>
        </p:txBody>
      </p:sp>
      <p:sp>
        <p:nvSpPr>
          <p:cNvPr id="20" name="With certification rule">
            <a:extLst xmlns:a="http://schemas.openxmlformats.org/drawingml/2006/main">
              <a:ext uri="{FF2B5EF4-FFF2-40B4-BE49-F238E27FC236}">
                <a16:creationId xmlns:a16="http://schemas.microsoft.com/office/drawing/2014/main" id="{79C7C7CF-03F7-419B-B277-26A10882B528}"/>
              </a:ext>
            </a:extLst>
          </p:cNvPr>
          <p:cNvSpPr>
            <a:spLocks xmlns:a="http://schemas.openxmlformats.org/drawingml/2006/main" noGrp="1"/>
          </p:cNvSpPr>
          <p:nvPr/>
        </p:nvSpPr>
        <p:spPr>
          <a:xfrm xmlns:a="http://schemas.openxmlformats.org/drawingml/2006/main">
            <a:off x="190500" y="3829050"/>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may apply without Recent Work. Recent Work from ANY topic can count. Your expertise badge is permanent.</a:t>
            </a:r>
          </a:p>
        </p:txBody>
      </p:sp>
      <p:sp>
        <p:nvSpPr>
          <p:cNvPr id="21" name="Footer divider">
            <a:extLst xmlns:a="http://schemas.openxmlformats.org/drawingml/2006/main">
              <a:ext uri="{FF2B5EF4-FFF2-40B4-BE49-F238E27FC236}">
                <a16:creationId xmlns:a16="http://schemas.microsoft.com/office/drawing/2014/main" id="{D35ACDAE-10B2-44FF-995B-1CFF8440DC0C}"/>
              </a:ext>
            </a:extLst>
          </p:cNvPr>
          <p:cNvSpPr>
            <a:spLocks xmlns:a="http://schemas.openxmlformats.org/drawingml/2006/main" noGrp="1"/>
          </p:cNvSpPr>
          <p:nvPr/>
        </p:nvSpPr>
        <p:spPr>
          <a:xfrm xmlns:a="http://schemas.openxmlformats.org/drawingml/2006/main">
            <a:off x="190500" y="4286250"/>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22" name="Recent Work cap">
            <a:extLst xmlns:a="http://schemas.openxmlformats.org/drawingml/2006/main">
              <a:ext uri="{FF2B5EF4-FFF2-40B4-BE49-F238E27FC236}">
                <a16:creationId xmlns:a16="http://schemas.microsoft.com/office/drawing/2014/main" id="{C01788BE-DA45-4588-8A5E-7573E4B3CB64}"/>
              </a:ext>
            </a:extLst>
          </p:cNvPr>
          <p:cNvSpPr>
            <a:spLocks xmlns:a="http://schemas.openxmlformats.org/drawingml/2006/main" noGrp="1"/>
          </p:cNvSpPr>
          <p:nvPr/>
        </p:nvSpPr>
        <p:spPr>
          <a:xfrm xmlns:a="http://schemas.openxmlformats.org/drawingml/2006/main">
            <a:off x="190500" y="4371975"/>
            <a:ext cx="28194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192936"/>
                </a:solidFill>
                <a:latin typeface="DejaVu Sans"/>
                <a:ea typeface="DejaVu Sans"/>
                <a:cs typeface="DejaVu Sans"/>
              </a:defRPr>
            </a:defPPr>
          </a:lstStyle>
          <a:p xmlns:a="http://schemas.openxmlformats.org/drawingml/2006/main">
            <a:pPr algn="l">
              <a:defRPr sz="788" b="1">
                <a:solidFill>
                  <a:srgbClr val="192936"/>
                </a:solidFill>
                <a:latin typeface="DejaVu Sans"/>
                <a:ea typeface="DejaVu Sans"/>
                <a:cs typeface="DejaVu Sans"/>
              </a:defRPr>
            </a:pPr>
            <a:r>
              <a:rPr sz="788" b="1">
                <a:solidFill>
                  <a:srgbClr val="192936"/>
                </a:solidFill>
                <a:latin typeface="DejaVu Sans"/>
                <a:ea typeface="DejaVu Sans"/>
                <a:cs typeface="DejaVu Sans"/>
              </a:rPr>
              <a:t>Count at most 3 Recent Work tokens.</a:t>
            </a:r>
          </a:p>
        </p:txBody>
      </p:sp>
    </p:spTree>
    <p:extLst>
      <p:ext uri="{BB962C8B-B14F-4D97-AF65-F5344CB8AC3E}">
        <p14:creationId xmlns:p14="http://schemas.microsoft.com/office/powerpoint/2010/main" val="150986498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Card border">
            <a:extLst xmlns:a="http://schemas.openxmlformats.org/drawingml/2006/main">
              <a:ext uri="{FF2B5EF4-FFF2-40B4-BE49-F238E27FC236}">
                <a16:creationId xmlns:a16="http://schemas.microsoft.com/office/drawing/2014/main" id="{EBE49A50-AF77-4FA9-BA1F-3EADFC8433FD}"/>
              </a:ext>
            </a:extLst>
          </p:cNvPr>
          <p:cNvSpPr>
            <a:spLocks xmlns:a="http://schemas.openxmlformats.org/drawingml/2006/main" noGrp="1"/>
          </p:cNvSpPr>
          <p:nvPr/>
        </p:nvSpPr>
        <p:spPr>
          <a:xfrm xmlns:a="http://schemas.openxmlformats.org/drawingml/2006/main">
            <a:off x="9525" y="9525"/>
            <a:ext cx="3181350" cy="4552950"/>
          </a:xfrm>
          <a:prstGeom xmlns:a="http://schemas.openxmlformats.org/drawingml/2006/main" prst="rect">
            <a:avLst/>
          </a:prstGeom>
          <a:noFill xmlns:a="http://schemas.openxmlformats.org/drawingml/2006/main"/>
          <a:ln xmlns:a="http://schemas.openxmlformats.org/drawingml/2006/main" w="9525">
            <a:solidFill>
              <a:srgbClr val="D0D5D8"/>
            </a:solidFill>
          </a:ln>
        </p:spPr>
      </p:sp>
      <p:sp>
        <p:nvSpPr>
          <p:cNvPr id="2" name="Topic color band">
            <a:extLst xmlns:a="http://schemas.openxmlformats.org/drawingml/2006/main">
              <a:ext uri="{FF2B5EF4-FFF2-40B4-BE49-F238E27FC236}">
                <a16:creationId xmlns:a16="http://schemas.microsoft.com/office/drawing/2014/main" id="{94E5C947-C388-43BC-AB70-E1F16A31B47F}"/>
              </a:ext>
            </a:extLst>
          </p:cNvPr>
          <p:cNvSpPr>
            <a:spLocks xmlns:a="http://schemas.openxmlformats.org/drawingml/2006/main" noGrp="1"/>
          </p:cNvSpPr>
          <p:nvPr/>
        </p:nvSpPr>
        <p:spPr>
          <a:xfrm xmlns:a="http://schemas.openxmlformats.org/drawingml/2006/main">
            <a:off x="9525" y="9525"/>
            <a:ext cx="3181350" cy="400050"/>
          </a:xfrm>
          <a:prstGeom xmlns:a="http://schemas.openxmlformats.org/drawingml/2006/main" prst="rect">
            <a:avLst/>
          </a:prstGeom>
          <a:solidFill xmlns:a="http://schemas.openxmlformats.org/drawingml/2006/main">
            <a:srgbClr val="765490"/>
          </a:solidFill>
          <a:ln xmlns:a="http://schemas.openxmlformats.org/drawingml/2006/main" w="0">
            <a:noFill/>
          </a:ln>
        </p:spPr>
      </p:sp>
      <p:sp>
        <p:nvSpPr>
          <p:cNvPr id="3" name="Game name">
            <a:extLst xmlns:a="http://schemas.openxmlformats.org/drawingml/2006/main">
              <a:ext uri="{FF2B5EF4-FFF2-40B4-BE49-F238E27FC236}">
                <a16:creationId xmlns:a16="http://schemas.microsoft.com/office/drawing/2014/main" id="{20746129-0E71-4DA2-A870-99232C6CE7CC}"/>
              </a:ext>
            </a:extLst>
          </p:cNvPr>
          <p:cNvSpPr>
            <a:spLocks xmlns:a="http://schemas.openxmlformats.org/drawingml/2006/main" noGrp="1"/>
          </p:cNvSpPr>
          <p:nvPr/>
        </p:nvSpPr>
        <p:spPr>
          <a:xfrm xmlns:a="http://schemas.openxmlformats.org/drawingml/2006/main">
            <a:off x="190500" y="133350"/>
            <a:ext cx="1943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FFFFFF"/>
                </a:solidFill>
                <a:latin typeface="DejaVu Sans"/>
                <a:ea typeface="DejaVu Sans"/>
                <a:cs typeface="DejaVu Sans"/>
              </a:defRPr>
            </a:defPPr>
          </a:lstStyle>
          <a:p xmlns:a="http://schemas.openxmlformats.org/drawingml/2006/main">
            <a:pPr algn="l">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GRANT CONTROL</a:t>
            </a:r>
          </a:p>
        </p:txBody>
      </p:sp>
      <p:sp>
        <p:nvSpPr>
          <p:cNvPr id="4" name="Card identifier">
            <a:extLst xmlns:a="http://schemas.openxmlformats.org/drawingml/2006/main">
              <a:ext uri="{FF2B5EF4-FFF2-40B4-BE49-F238E27FC236}">
                <a16:creationId xmlns:a16="http://schemas.microsoft.com/office/drawing/2014/main" id="{827BF4C9-BF55-4395-B05F-9C19009DAD0F}"/>
              </a:ext>
            </a:extLst>
          </p:cNvPr>
          <p:cNvSpPr>
            <a:spLocks xmlns:a="http://schemas.openxmlformats.org/drawingml/2006/main" noGrp="1"/>
          </p:cNvSpPr>
          <p:nvPr/>
        </p:nvSpPr>
        <p:spPr>
          <a:xfrm xmlns:a="http://schemas.openxmlformats.org/drawingml/2006/main">
            <a:off x="2371725" y="142875"/>
            <a:ext cx="6381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788" b="1">
                <a:solidFill>
                  <a:srgbClr val="FFFFFF"/>
                </a:solidFill>
                <a:latin typeface="DejaVu Sans"/>
                <a:ea typeface="DejaVu Sans"/>
                <a:cs typeface="DejaVu Sans"/>
              </a:defRPr>
            </a:defPPr>
          </a:lstStyle>
          <a:p xmlns:a="http://schemas.openxmlformats.org/drawingml/2006/main">
            <a:pPr algn="r">
              <a:defRPr sz="788" b="1">
                <a:solidFill>
                  <a:srgbClr val="FFFFFF"/>
                </a:solidFill>
                <a:latin typeface="DejaVu Sans"/>
                <a:ea typeface="DejaVu Sans"/>
                <a:cs typeface="DejaVu Sans"/>
              </a:defRPr>
            </a:pPr>
            <a:r>
              <a:rPr sz="788" b="1">
                <a:solidFill>
                  <a:srgbClr val="FFFFFF"/>
                </a:solidFill>
                <a:latin typeface="DejaVu Sans"/>
                <a:ea typeface="DejaVu Sans"/>
                <a:cs typeface="DejaVu Sans"/>
              </a:rPr>
              <a:t>EST-03</a:t>
            </a:r>
          </a:p>
        </p:txBody>
      </p:sp>
      <p:sp>
        <p:nvSpPr>
          <p:cNvPr id="5" name="Card category">
            <a:extLst xmlns:a="http://schemas.openxmlformats.org/drawingml/2006/main">
              <a:ext uri="{FF2B5EF4-FFF2-40B4-BE49-F238E27FC236}">
                <a16:creationId xmlns:a16="http://schemas.microsoft.com/office/drawing/2014/main" id="{622FCEA6-7D73-4456-8634-3DE0B9F2AE33}"/>
              </a:ext>
            </a:extLst>
          </p:cNvPr>
          <p:cNvSpPr>
            <a:spLocks xmlns:a="http://schemas.openxmlformats.org/drawingml/2006/main" noGrp="1"/>
          </p:cNvSpPr>
          <p:nvPr/>
        </p:nvSpPr>
        <p:spPr>
          <a:xfrm xmlns:a="http://schemas.openxmlformats.org/drawingml/2006/main">
            <a:off x="190500" y="523875"/>
            <a:ext cx="2800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765490"/>
                </a:solidFill>
                <a:latin typeface="DejaVu Sans"/>
                <a:ea typeface="DejaVu Sans"/>
                <a:cs typeface="DejaVu Sans"/>
              </a:defRPr>
            </a:defPPr>
          </a:lstStyle>
          <a:p xmlns:a="http://schemas.openxmlformats.org/drawingml/2006/main">
            <a:pPr algn="l">
              <a:defRPr sz="788" b="1">
                <a:solidFill>
                  <a:srgbClr val="765490"/>
                </a:solidFill>
                <a:latin typeface="DejaVu Sans"/>
                <a:ea typeface="DejaVu Sans"/>
                <a:cs typeface="DejaVu Sans"/>
              </a:defRPr>
            </a:pPr>
            <a:r>
              <a:rPr sz="788" b="1">
                <a:solidFill>
                  <a:srgbClr val="765490"/>
                </a:solidFill>
                <a:latin typeface="DejaVu Sans"/>
                <a:ea typeface="DejaVu Sans"/>
                <a:cs typeface="DejaVu Sans"/>
              </a:rPr>
              <a:t>FUNDING CALL</a:t>
            </a:r>
          </a:p>
        </p:txBody>
      </p:sp>
      <p:sp>
        <p:nvSpPr>
          <p:cNvPr id="6" name="Primary topic">
            <a:extLst xmlns:a="http://schemas.openxmlformats.org/drawingml/2006/main">
              <a:ext uri="{FF2B5EF4-FFF2-40B4-BE49-F238E27FC236}">
                <a16:creationId xmlns:a16="http://schemas.microsoft.com/office/drawing/2014/main" id="{ACB32C69-D504-444F-BA23-75B9BAAA5E9E}"/>
              </a:ext>
            </a:extLst>
          </p:cNvPr>
          <p:cNvSpPr>
            <a:spLocks xmlns:a="http://schemas.openxmlformats.org/drawingml/2006/main" noGrp="1"/>
          </p:cNvSpPr>
          <p:nvPr/>
        </p:nvSpPr>
        <p:spPr>
          <a:xfrm xmlns:a="http://schemas.openxmlformats.org/drawingml/2006/main">
            <a:off x="190500" y="733425"/>
            <a:ext cx="2819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765490"/>
                </a:solidFill>
                <a:latin typeface="DejaVu Sans"/>
                <a:ea typeface="DejaVu Sans"/>
                <a:cs typeface="DejaVu Sans"/>
              </a:defRPr>
            </a:defPPr>
          </a:lstStyle>
          <a:p xmlns:a="http://schemas.openxmlformats.org/drawingml/2006/main">
            <a:pPr algn="l">
              <a:defRPr sz="975" b="1">
                <a:solidFill>
                  <a:srgbClr val="765490"/>
                </a:solidFill>
                <a:latin typeface="DejaVu Sans"/>
                <a:ea typeface="DejaVu Sans"/>
                <a:cs typeface="DejaVu Sans"/>
              </a:defRPr>
            </a:pPr>
            <a:r>
              <a:rPr sz="975" b="1">
                <a:solidFill>
                  <a:srgbClr val="765490"/>
                </a:solidFill>
                <a:latin typeface="DejaVu Sans"/>
                <a:ea typeface="DejaVu Sans"/>
                <a:cs typeface="DejaVu Sans"/>
              </a:rPr>
              <a:t>Estimation</a:t>
            </a:r>
          </a:p>
        </p:txBody>
      </p:sp>
      <p:sp>
        <p:nvSpPr>
          <p:cNvPr id="7" name="Call title">
            <a:extLst xmlns:a="http://schemas.openxmlformats.org/drawingml/2006/main">
              <a:ext uri="{FF2B5EF4-FFF2-40B4-BE49-F238E27FC236}">
                <a16:creationId xmlns:a16="http://schemas.microsoft.com/office/drawing/2014/main" id="{705489B4-AA07-4719-A49D-96A0D461977B}"/>
              </a:ext>
            </a:extLst>
          </p:cNvPr>
          <p:cNvSpPr>
            <a:spLocks xmlns:a="http://schemas.openxmlformats.org/drawingml/2006/main" noGrp="1"/>
          </p:cNvSpPr>
          <p:nvPr/>
        </p:nvSpPr>
        <p:spPr>
          <a:xfrm xmlns:a="http://schemas.openxmlformats.org/drawingml/2006/main">
            <a:off x="190500" y="1028700"/>
            <a:ext cx="281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92936"/>
                </a:solidFill>
                <a:latin typeface="DejaVu Sans"/>
                <a:ea typeface="DejaVu Sans"/>
                <a:cs typeface="DejaVu Sans"/>
              </a:defRPr>
            </a:defPPr>
          </a:lstStyle>
          <a:p xmlns:a="http://schemas.openxmlformats.org/drawingml/2006/main">
            <a:pPr algn="l">
              <a:defRPr sz="1500" b="1">
                <a:solidFill>
                  <a:srgbClr val="192936"/>
                </a:solidFill>
                <a:latin typeface="DejaVu Sans"/>
                <a:ea typeface="DejaVu Sans"/>
                <a:cs typeface="DejaVu Sans"/>
              </a:defRPr>
            </a:pPr>
            <a:r>
              <a:rPr sz="1500" b="1">
                <a:solidFill>
                  <a:srgbClr val="192936"/>
                </a:solidFill>
                <a:latin typeface="DejaVu Sans"/>
                <a:ea typeface="DejaVu Sans"/>
                <a:cs typeface="DejaVu Sans"/>
              </a:rPr>
              <a:t>Localization Under Model Uncertainty</a:t>
            </a:r>
          </a:p>
        </p:txBody>
      </p:sp>
      <p:sp>
        <p:nvSpPr>
          <p:cNvPr id="8" name="Research scope">
            <a:extLst xmlns:a="http://schemas.openxmlformats.org/drawingml/2006/main">
              <a:ext uri="{FF2B5EF4-FFF2-40B4-BE49-F238E27FC236}">
                <a16:creationId xmlns:a16="http://schemas.microsoft.com/office/drawing/2014/main" id="{63B79382-B1FF-46E1-9370-1BCC392C75BE}"/>
              </a:ext>
            </a:extLst>
          </p:cNvPr>
          <p:cNvSpPr>
            <a:spLocks xmlns:a="http://schemas.openxmlformats.org/drawingml/2006/main" noGrp="1"/>
          </p:cNvSpPr>
          <p:nvPr/>
        </p:nvSpPr>
        <p:spPr>
          <a:xfrm xmlns:a="http://schemas.openxmlformats.org/drawingml/2006/main">
            <a:off x="190500" y="1628775"/>
            <a:ext cx="2819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0">
                <a:solidFill>
                  <a:srgbClr val="52616A"/>
                </a:solidFill>
                <a:latin typeface="DejaVu Sans"/>
                <a:ea typeface="DejaVu Sans"/>
                <a:cs typeface="DejaVu Sans"/>
              </a:defRPr>
            </a:defPPr>
          </a:lstStyle>
          <a:p xmlns:a="http://schemas.openxmlformats.org/drawingml/2006/main">
            <a:pPr algn="l">
              <a:defRPr sz="825" b="0">
                <a:solidFill>
                  <a:srgbClr val="52616A"/>
                </a:solidFill>
                <a:latin typeface="DejaVu Sans"/>
                <a:ea typeface="DejaVu Sans"/>
                <a:cs typeface="DejaVu Sans"/>
              </a:defRPr>
            </a:pPr>
            <a:r>
              <a:rPr sz="825" b="0">
                <a:solidFill>
                  <a:srgbClr val="52616A"/>
                </a:solidFill>
                <a:latin typeface="DejaVu Sans"/>
                <a:ea typeface="DejaVu Sans"/>
                <a:cs typeface="DejaVu Sans"/>
              </a:rPr>
              <a:t>Develop a localization method for an autonomous vehicle with imperfect motion models. Examine uncertainty propagation and estimator consistency.</a:t>
            </a:r>
          </a:p>
        </p:txBody>
      </p:sp>
      <p:sp>
        <p:nvSpPr>
          <p:cNvPr id="9" name="Statistics divider">
            <a:extLst xmlns:a="http://schemas.openxmlformats.org/drawingml/2006/main">
              <a:ext uri="{FF2B5EF4-FFF2-40B4-BE49-F238E27FC236}">
                <a16:creationId xmlns:a16="http://schemas.microsoft.com/office/drawing/2014/main" id="{D40F1775-F0DD-4B59-A280-0022508C5CCE}"/>
              </a:ext>
            </a:extLst>
          </p:cNvPr>
          <p:cNvSpPr>
            <a:spLocks xmlns:a="http://schemas.openxmlformats.org/drawingml/2006/main" noGrp="1"/>
          </p:cNvSpPr>
          <p:nvPr/>
        </p:nvSpPr>
        <p:spPr>
          <a:xfrm xmlns:a="http://schemas.openxmlformats.org/drawingml/2006/main">
            <a:off x="190500" y="216217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0" name="Funding award label">
            <a:extLst xmlns:a="http://schemas.openxmlformats.org/drawingml/2006/main">
              <a:ext uri="{FF2B5EF4-FFF2-40B4-BE49-F238E27FC236}">
                <a16:creationId xmlns:a16="http://schemas.microsoft.com/office/drawing/2014/main" id="{342F5F28-9BCA-4F40-992D-49105C6EB32B}"/>
              </a:ext>
            </a:extLst>
          </p:cNvPr>
          <p:cNvSpPr>
            <a:spLocks xmlns:a="http://schemas.openxmlformats.org/drawingml/2006/main" noGrp="1"/>
          </p:cNvSpPr>
          <p:nvPr/>
        </p:nvSpPr>
        <p:spPr>
          <a:xfrm xmlns:a="http://schemas.openxmlformats.org/drawingml/2006/main">
            <a:off x="190500"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FUNDING AWARD</a:t>
            </a:r>
          </a:p>
        </p:txBody>
      </p:sp>
      <p:sp>
        <p:nvSpPr>
          <p:cNvPr id="11" name="Gray cube label">
            <a:extLst xmlns:a="http://schemas.openxmlformats.org/drawingml/2006/main">
              <a:ext uri="{FF2B5EF4-FFF2-40B4-BE49-F238E27FC236}">
                <a16:creationId xmlns:a16="http://schemas.microsoft.com/office/drawing/2014/main" id="{8C82BBDA-F286-416E-A006-B2780E24564C}"/>
              </a:ext>
            </a:extLst>
          </p:cNvPr>
          <p:cNvSpPr>
            <a:spLocks xmlns:a="http://schemas.openxmlformats.org/drawingml/2006/main" noGrp="1"/>
          </p:cNvSpPr>
          <p:nvPr/>
        </p:nvSpPr>
        <p:spPr>
          <a:xfrm xmlns:a="http://schemas.openxmlformats.org/drawingml/2006/main">
            <a:off x="1685925"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OUTSIDE / NO-AWARD</a:t>
            </a:r>
          </a:p>
        </p:txBody>
      </p:sp>
      <p:sp>
        <p:nvSpPr>
          <p:cNvPr id="12" name="Funding award value">
            <a:extLst xmlns:a="http://schemas.openxmlformats.org/drawingml/2006/main">
              <a:ext uri="{FF2B5EF4-FFF2-40B4-BE49-F238E27FC236}">
                <a16:creationId xmlns:a16="http://schemas.microsoft.com/office/drawing/2014/main" id="{1C469061-2227-4284-9479-26621573D43B}"/>
              </a:ext>
            </a:extLst>
          </p:cNvPr>
          <p:cNvSpPr>
            <a:spLocks xmlns:a="http://schemas.openxmlformats.org/drawingml/2006/main" noGrp="1"/>
          </p:cNvSpPr>
          <p:nvPr/>
        </p:nvSpPr>
        <p:spPr>
          <a:xfrm xmlns:a="http://schemas.openxmlformats.org/drawingml/2006/main">
            <a:off x="190500"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765490"/>
                </a:solidFill>
                <a:latin typeface="DejaVu Sans"/>
                <a:ea typeface="DejaVu Sans"/>
                <a:cs typeface="DejaVu Sans"/>
              </a:defRPr>
            </a:defPPr>
          </a:lstStyle>
          <a:p xmlns:a="http://schemas.openxmlformats.org/drawingml/2006/main">
            <a:pPr algn="l">
              <a:defRPr sz="2100" b="1">
                <a:solidFill>
                  <a:srgbClr val="765490"/>
                </a:solidFill>
                <a:latin typeface="DejaVu Sans"/>
                <a:ea typeface="DejaVu Sans"/>
                <a:cs typeface="DejaVu Sans"/>
              </a:defRPr>
            </a:pPr>
            <a:r>
              <a:rPr sz="2100" b="1">
                <a:solidFill>
                  <a:srgbClr val="765490"/>
                </a:solidFill>
                <a:latin typeface="DejaVu Sans"/>
                <a:ea typeface="DejaVu Sans"/>
                <a:cs typeface="DejaVu Sans"/>
              </a:rPr>
              <a:t>6</a:t>
            </a:r>
          </a:p>
        </p:txBody>
      </p:sp>
      <p:sp>
        <p:nvSpPr>
          <p:cNvPr id="13" name="Funding award unit">
            <a:extLst xmlns:a="http://schemas.openxmlformats.org/drawingml/2006/main">
              <a:ext uri="{FF2B5EF4-FFF2-40B4-BE49-F238E27FC236}">
                <a16:creationId xmlns:a16="http://schemas.microsoft.com/office/drawing/2014/main" id="{F1232655-FAEE-46A4-BB8D-A5E17979D447}"/>
              </a:ext>
            </a:extLst>
          </p:cNvPr>
          <p:cNvSpPr>
            <a:spLocks xmlns:a="http://schemas.openxmlformats.org/drawingml/2006/main" noGrp="1"/>
          </p:cNvSpPr>
          <p:nvPr/>
        </p:nvSpPr>
        <p:spPr>
          <a:xfrm xmlns:a="http://schemas.openxmlformats.org/drawingml/2006/main">
            <a:off x="600075" y="2543175"/>
            <a:ext cx="904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192936"/>
                </a:solidFill>
                <a:latin typeface="DejaVu Sans"/>
                <a:ea typeface="DejaVu Sans"/>
                <a:cs typeface="DejaVu Sans"/>
              </a:defRPr>
            </a:defPPr>
          </a:lstStyle>
          <a:p xmlns:a="http://schemas.openxmlformats.org/drawingml/2006/main">
            <a:pPr algn="l">
              <a:defRPr sz="900" b="1">
                <a:solidFill>
                  <a:srgbClr val="192936"/>
                </a:solidFill>
                <a:latin typeface="DejaVu Sans"/>
                <a:ea typeface="DejaVu Sans"/>
                <a:cs typeface="DejaVu Sans"/>
              </a:defRPr>
            </a:pPr>
            <a:r>
              <a:rPr sz="900" b="1">
                <a:solidFill>
                  <a:srgbClr val="192936"/>
                </a:solidFill>
                <a:latin typeface="DejaVu Sans"/>
                <a:ea typeface="DejaVu Sans"/>
                <a:cs typeface="DejaVu Sans"/>
              </a:rPr>
              <a:t>Funding</a:t>
            </a:r>
          </a:p>
        </p:txBody>
      </p:sp>
      <p:sp>
        <p:nvSpPr>
          <p:cNvPr id="14" name="Gray cube value">
            <a:extLst xmlns:a="http://schemas.openxmlformats.org/drawingml/2006/main">
              <a:ext uri="{FF2B5EF4-FFF2-40B4-BE49-F238E27FC236}">
                <a16:creationId xmlns:a16="http://schemas.microsoft.com/office/drawing/2014/main" id="{BFAFF22D-7296-4234-901E-7FD075A7956B}"/>
              </a:ext>
            </a:extLst>
          </p:cNvPr>
          <p:cNvSpPr>
            <a:spLocks xmlns:a="http://schemas.openxmlformats.org/drawingml/2006/main" noGrp="1"/>
          </p:cNvSpPr>
          <p:nvPr/>
        </p:nvSpPr>
        <p:spPr>
          <a:xfrm xmlns:a="http://schemas.openxmlformats.org/drawingml/2006/main">
            <a:off x="1685925"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2616A"/>
                </a:solidFill>
                <a:latin typeface="DejaVu Sans"/>
                <a:ea typeface="DejaVu Sans"/>
                <a:cs typeface="DejaVu Sans"/>
              </a:defRPr>
            </a:defPPr>
          </a:lstStyle>
          <a:p xmlns:a="http://schemas.openxmlformats.org/drawingml/2006/main">
            <a:pPr algn="l">
              <a:defRPr sz="2100" b="1">
                <a:solidFill>
                  <a:srgbClr val="52616A"/>
                </a:solidFill>
                <a:latin typeface="DejaVu Sans"/>
                <a:ea typeface="DejaVu Sans"/>
                <a:cs typeface="DejaVu Sans"/>
              </a:defRPr>
            </a:pPr>
            <a:r>
              <a:rPr sz="2100" b="1">
                <a:solidFill>
                  <a:srgbClr val="52616A"/>
                </a:solidFill>
                <a:latin typeface="DejaVu Sans"/>
                <a:ea typeface="DejaVu Sans"/>
                <a:cs typeface="DejaVu Sans"/>
              </a:rPr>
              <a:t>5</a:t>
            </a:r>
          </a:p>
        </p:txBody>
      </p:sp>
      <p:sp>
        <p:nvSpPr>
          <p:cNvPr id="15" name="Gray cube unit">
            <a:extLst xmlns:a="http://schemas.openxmlformats.org/drawingml/2006/main">
              <a:ext uri="{FF2B5EF4-FFF2-40B4-BE49-F238E27FC236}">
                <a16:creationId xmlns:a16="http://schemas.microsoft.com/office/drawing/2014/main" id="{AFDCCDA3-0DE7-41B0-B288-71AB562BB07F}"/>
              </a:ext>
            </a:extLst>
          </p:cNvPr>
          <p:cNvSpPr>
            <a:spLocks xmlns:a="http://schemas.openxmlformats.org/drawingml/2006/main" noGrp="1"/>
          </p:cNvSpPr>
          <p:nvPr/>
        </p:nvSpPr>
        <p:spPr>
          <a:xfrm xmlns:a="http://schemas.openxmlformats.org/drawingml/2006/main">
            <a:off x="2095500" y="2543175"/>
            <a:ext cx="914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1">
                <a:solidFill>
                  <a:srgbClr val="52616A"/>
                </a:solidFill>
                <a:latin typeface="DejaVu Sans"/>
                <a:ea typeface="DejaVu Sans"/>
                <a:cs typeface="DejaVu Sans"/>
              </a:defRPr>
            </a:defPPr>
          </a:lstStyle>
          <a:p xmlns:a="http://schemas.openxmlformats.org/drawingml/2006/main">
            <a:pPr algn="l">
              <a:defRPr sz="863" b="1">
                <a:solidFill>
                  <a:srgbClr val="52616A"/>
                </a:solidFill>
                <a:latin typeface="DejaVu Sans"/>
                <a:ea typeface="DejaVu Sans"/>
                <a:cs typeface="DejaVu Sans"/>
              </a:defRPr>
            </a:pPr>
            <a:r>
              <a:rPr sz="863" b="1">
                <a:solidFill>
                  <a:srgbClr val="52616A"/>
                </a:solidFill>
                <a:latin typeface="DejaVu Sans"/>
                <a:ea typeface="DejaVu Sans"/>
                <a:cs typeface="DejaVu Sans"/>
              </a:rPr>
              <a:t>gray cubes</a:t>
            </a:r>
          </a:p>
        </p:txBody>
      </p:sp>
      <p:sp>
        <p:nvSpPr>
          <p:cNvPr id="16" name="Eligibility divider">
            <a:extLst xmlns:a="http://schemas.openxmlformats.org/drawingml/2006/main">
              <a:ext uri="{FF2B5EF4-FFF2-40B4-BE49-F238E27FC236}">
                <a16:creationId xmlns:a16="http://schemas.microsoft.com/office/drawing/2014/main" id="{3F154776-5210-461A-BCCD-B7E9414C879C}"/>
              </a:ext>
            </a:extLst>
          </p:cNvPr>
          <p:cNvSpPr>
            <a:spLocks xmlns:a="http://schemas.openxmlformats.org/drawingml/2006/main" noGrp="1"/>
          </p:cNvSpPr>
          <p:nvPr/>
        </p:nvSpPr>
        <p:spPr>
          <a:xfrm xmlns:a="http://schemas.openxmlformats.org/drawingml/2006/main">
            <a:off x="190500" y="282892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7" name="Without certification heading">
            <a:extLst xmlns:a="http://schemas.openxmlformats.org/drawingml/2006/main">
              <a:ext uri="{FF2B5EF4-FFF2-40B4-BE49-F238E27FC236}">
                <a16:creationId xmlns:a16="http://schemas.microsoft.com/office/drawing/2014/main" id="{A53DB222-A76E-4AEF-A406-1278B7742D44}"/>
              </a:ext>
            </a:extLst>
          </p:cNvPr>
          <p:cNvSpPr>
            <a:spLocks xmlns:a="http://schemas.openxmlformats.org/drawingml/2006/main" noGrp="1"/>
          </p:cNvSpPr>
          <p:nvPr/>
        </p:nvSpPr>
        <p:spPr>
          <a:xfrm xmlns:a="http://schemas.openxmlformats.org/drawingml/2006/main">
            <a:off x="190500" y="2943225"/>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1">
                <a:solidFill>
                  <a:srgbClr val="765490"/>
                </a:solidFill>
                <a:latin typeface="DejaVu Sans"/>
                <a:ea typeface="DejaVu Sans"/>
                <a:cs typeface="DejaVu Sans"/>
              </a:defRPr>
            </a:defPPr>
          </a:lstStyle>
          <a:p xmlns:a="http://schemas.openxmlformats.org/drawingml/2006/main">
            <a:pPr algn="l">
              <a:defRPr sz="825" b="1">
                <a:solidFill>
                  <a:srgbClr val="765490"/>
                </a:solidFill>
                <a:latin typeface="DejaVu Sans"/>
                <a:ea typeface="DejaVu Sans"/>
                <a:cs typeface="DejaVu Sans"/>
              </a:defRPr>
            </a:pPr>
            <a:r>
              <a:rPr sz="825" b="1">
                <a:solidFill>
                  <a:srgbClr val="765490"/>
                </a:solidFill>
                <a:latin typeface="DejaVu Sans"/>
                <a:ea typeface="DejaVu Sans"/>
                <a:cs typeface="DejaVu Sans"/>
              </a:rPr>
              <a:t>No Certified Expertise in Estimation</a:t>
            </a:r>
          </a:p>
        </p:txBody>
      </p:sp>
      <p:sp>
        <p:nvSpPr>
          <p:cNvPr id="18" name="Without certification rule">
            <a:extLst xmlns:a="http://schemas.openxmlformats.org/drawingml/2006/main">
              <a:ext uri="{FF2B5EF4-FFF2-40B4-BE49-F238E27FC236}">
                <a16:creationId xmlns:a16="http://schemas.microsoft.com/office/drawing/2014/main" id="{AFF8A2A3-B231-4091-A3EC-13D605A4383E}"/>
              </a:ext>
            </a:extLst>
          </p:cNvPr>
          <p:cNvSpPr>
            <a:spLocks xmlns:a="http://schemas.openxmlformats.org/drawingml/2006/main" noGrp="1"/>
          </p:cNvSpPr>
          <p:nvPr/>
        </p:nvSpPr>
        <p:spPr>
          <a:xfrm xmlns:a="http://schemas.openxmlformats.org/drawingml/2006/main">
            <a:off x="190500" y="3152775"/>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need at least 1 Estimation Recent Work token to apply. Only Estimation tokens count.</a:t>
            </a:r>
          </a:p>
        </p:txBody>
      </p:sp>
      <p:sp>
        <p:nvSpPr>
          <p:cNvPr id="19" name="With certification heading">
            <a:extLst xmlns:a="http://schemas.openxmlformats.org/drawingml/2006/main">
              <a:ext uri="{FF2B5EF4-FFF2-40B4-BE49-F238E27FC236}">
                <a16:creationId xmlns:a16="http://schemas.microsoft.com/office/drawing/2014/main" id="{C6205469-2C9A-407C-AAFA-8130EF960263}"/>
              </a:ext>
            </a:extLst>
          </p:cNvPr>
          <p:cNvSpPr>
            <a:spLocks xmlns:a="http://schemas.openxmlformats.org/drawingml/2006/main" noGrp="1"/>
          </p:cNvSpPr>
          <p:nvPr/>
        </p:nvSpPr>
        <p:spPr>
          <a:xfrm xmlns:a="http://schemas.openxmlformats.org/drawingml/2006/main">
            <a:off x="190500" y="3619500"/>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765490"/>
                </a:solidFill>
                <a:latin typeface="DejaVu Sans"/>
                <a:ea typeface="DejaVu Sans"/>
                <a:cs typeface="DejaVu Sans"/>
              </a:defRPr>
            </a:defPPr>
          </a:lstStyle>
          <a:p xmlns:a="http://schemas.openxmlformats.org/drawingml/2006/main">
            <a:pPr algn="l">
              <a:defRPr sz="788" b="1">
                <a:solidFill>
                  <a:srgbClr val="765490"/>
                </a:solidFill>
                <a:latin typeface="DejaVu Sans"/>
                <a:ea typeface="DejaVu Sans"/>
                <a:cs typeface="DejaVu Sans"/>
              </a:defRPr>
            </a:pPr>
            <a:r>
              <a:rPr sz="788" b="1">
                <a:solidFill>
                  <a:srgbClr val="765490"/>
                </a:solidFill>
                <a:latin typeface="DejaVu Sans"/>
                <a:ea typeface="DejaVu Sans"/>
                <a:cs typeface="DejaVu Sans"/>
              </a:rPr>
              <a:t>With Certified Expertise in Estimation</a:t>
            </a:r>
          </a:p>
        </p:txBody>
      </p:sp>
      <p:sp>
        <p:nvSpPr>
          <p:cNvPr id="20" name="With certification rule">
            <a:extLst xmlns:a="http://schemas.openxmlformats.org/drawingml/2006/main">
              <a:ext uri="{FF2B5EF4-FFF2-40B4-BE49-F238E27FC236}">
                <a16:creationId xmlns:a16="http://schemas.microsoft.com/office/drawing/2014/main" id="{48752926-4C09-4600-89F8-DA273FA16386}"/>
              </a:ext>
            </a:extLst>
          </p:cNvPr>
          <p:cNvSpPr>
            <a:spLocks xmlns:a="http://schemas.openxmlformats.org/drawingml/2006/main" noGrp="1"/>
          </p:cNvSpPr>
          <p:nvPr/>
        </p:nvSpPr>
        <p:spPr>
          <a:xfrm xmlns:a="http://schemas.openxmlformats.org/drawingml/2006/main">
            <a:off x="190500" y="3829050"/>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may apply without Recent Work. Recent Work from ANY topic can count. Your expertise badge is permanent.</a:t>
            </a:r>
          </a:p>
        </p:txBody>
      </p:sp>
      <p:sp>
        <p:nvSpPr>
          <p:cNvPr id="21" name="Footer divider">
            <a:extLst xmlns:a="http://schemas.openxmlformats.org/drawingml/2006/main">
              <a:ext uri="{FF2B5EF4-FFF2-40B4-BE49-F238E27FC236}">
                <a16:creationId xmlns:a16="http://schemas.microsoft.com/office/drawing/2014/main" id="{797EE2FF-26FD-46AB-BC71-3E3CE046268A}"/>
              </a:ext>
            </a:extLst>
          </p:cNvPr>
          <p:cNvSpPr>
            <a:spLocks xmlns:a="http://schemas.openxmlformats.org/drawingml/2006/main" noGrp="1"/>
          </p:cNvSpPr>
          <p:nvPr/>
        </p:nvSpPr>
        <p:spPr>
          <a:xfrm xmlns:a="http://schemas.openxmlformats.org/drawingml/2006/main">
            <a:off x="190500" y="4286250"/>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22" name="Recent Work cap">
            <a:extLst xmlns:a="http://schemas.openxmlformats.org/drawingml/2006/main">
              <a:ext uri="{FF2B5EF4-FFF2-40B4-BE49-F238E27FC236}">
                <a16:creationId xmlns:a16="http://schemas.microsoft.com/office/drawing/2014/main" id="{989F12C1-E1D3-4CDD-877D-8381FA21AE20}"/>
              </a:ext>
            </a:extLst>
          </p:cNvPr>
          <p:cNvSpPr>
            <a:spLocks xmlns:a="http://schemas.openxmlformats.org/drawingml/2006/main" noGrp="1"/>
          </p:cNvSpPr>
          <p:nvPr/>
        </p:nvSpPr>
        <p:spPr>
          <a:xfrm xmlns:a="http://schemas.openxmlformats.org/drawingml/2006/main">
            <a:off x="190500" y="4371975"/>
            <a:ext cx="28194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192936"/>
                </a:solidFill>
                <a:latin typeface="DejaVu Sans"/>
                <a:ea typeface="DejaVu Sans"/>
                <a:cs typeface="DejaVu Sans"/>
              </a:defRPr>
            </a:defPPr>
          </a:lstStyle>
          <a:p xmlns:a="http://schemas.openxmlformats.org/drawingml/2006/main">
            <a:pPr algn="l">
              <a:defRPr sz="788" b="1">
                <a:solidFill>
                  <a:srgbClr val="192936"/>
                </a:solidFill>
                <a:latin typeface="DejaVu Sans"/>
                <a:ea typeface="DejaVu Sans"/>
                <a:cs typeface="DejaVu Sans"/>
              </a:defRPr>
            </a:pPr>
            <a:r>
              <a:rPr sz="788" b="1">
                <a:solidFill>
                  <a:srgbClr val="192936"/>
                </a:solidFill>
                <a:latin typeface="DejaVu Sans"/>
                <a:ea typeface="DejaVu Sans"/>
                <a:cs typeface="DejaVu Sans"/>
              </a:rPr>
              <a:t>Count at most 3 Recent Work tokens.</a:t>
            </a:r>
          </a:p>
        </p:txBody>
      </p:sp>
    </p:spTree>
    <p:extLst>
      <p:ext uri="{BB962C8B-B14F-4D97-AF65-F5344CB8AC3E}">
        <p14:creationId xmlns:p14="http://schemas.microsoft.com/office/powerpoint/2010/main" val="69921371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Card border">
            <a:extLst xmlns:a="http://schemas.openxmlformats.org/drawingml/2006/main">
              <a:ext uri="{FF2B5EF4-FFF2-40B4-BE49-F238E27FC236}">
                <a16:creationId xmlns:a16="http://schemas.microsoft.com/office/drawing/2014/main" id="{FAF4E00E-657B-4CBA-AC16-77E36613175C}"/>
              </a:ext>
            </a:extLst>
          </p:cNvPr>
          <p:cNvSpPr>
            <a:spLocks xmlns:a="http://schemas.openxmlformats.org/drawingml/2006/main" noGrp="1"/>
          </p:cNvSpPr>
          <p:nvPr/>
        </p:nvSpPr>
        <p:spPr>
          <a:xfrm xmlns:a="http://schemas.openxmlformats.org/drawingml/2006/main">
            <a:off x="9525" y="9525"/>
            <a:ext cx="3181350" cy="4552950"/>
          </a:xfrm>
          <a:prstGeom xmlns:a="http://schemas.openxmlformats.org/drawingml/2006/main" prst="rect">
            <a:avLst/>
          </a:prstGeom>
          <a:noFill xmlns:a="http://schemas.openxmlformats.org/drawingml/2006/main"/>
          <a:ln xmlns:a="http://schemas.openxmlformats.org/drawingml/2006/main" w="9525">
            <a:solidFill>
              <a:srgbClr val="D0D5D8"/>
            </a:solidFill>
          </a:ln>
        </p:spPr>
      </p:sp>
      <p:sp>
        <p:nvSpPr>
          <p:cNvPr id="2" name="Topic color band">
            <a:extLst xmlns:a="http://schemas.openxmlformats.org/drawingml/2006/main">
              <a:ext uri="{FF2B5EF4-FFF2-40B4-BE49-F238E27FC236}">
                <a16:creationId xmlns:a16="http://schemas.microsoft.com/office/drawing/2014/main" id="{81E2AAE5-170A-47AA-84C1-80EBC7854768}"/>
              </a:ext>
            </a:extLst>
          </p:cNvPr>
          <p:cNvSpPr>
            <a:spLocks xmlns:a="http://schemas.openxmlformats.org/drawingml/2006/main" noGrp="1"/>
          </p:cNvSpPr>
          <p:nvPr/>
        </p:nvSpPr>
        <p:spPr>
          <a:xfrm xmlns:a="http://schemas.openxmlformats.org/drawingml/2006/main">
            <a:off x="9525" y="9525"/>
            <a:ext cx="3181350" cy="400050"/>
          </a:xfrm>
          <a:prstGeom xmlns:a="http://schemas.openxmlformats.org/drawingml/2006/main" prst="rect">
            <a:avLst/>
          </a:prstGeom>
          <a:solidFill xmlns:a="http://schemas.openxmlformats.org/drawingml/2006/main">
            <a:srgbClr val="3A714F"/>
          </a:solidFill>
          <a:ln xmlns:a="http://schemas.openxmlformats.org/drawingml/2006/main" w="0">
            <a:noFill/>
          </a:ln>
        </p:spPr>
      </p:sp>
      <p:sp>
        <p:nvSpPr>
          <p:cNvPr id="3" name="Game name">
            <a:extLst xmlns:a="http://schemas.openxmlformats.org/drawingml/2006/main">
              <a:ext uri="{FF2B5EF4-FFF2-40B4-BE49-F238E27FC236}">
                <a16:creationId xmlns:a16="http://schemas.microsoft.com/office/drawing/2014/main" id="{8C6543D9-D3BA-4824-A31E-B82289174582}"/>
              </a:ext>
            </a:extLst>
          </p:cNvPr>
          <p:cNvSpPr>
            <a:spLocks xmlns:a="http://schemas.openxmlformats.org/drawingml/2006/main" noGrp="1"/>
          </p:cNvSpPr>
          <p:nvPr/>
        </p:nvSpPr>
        <p:spPr>
          <a:xfrm xmlns:a="http://schemas.openxmlformats.org/drawingml/2006/main">
            <a:off x="190500" y="133350"/>
            <a:ext cx="1943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FFFFFF"/>
                </a:solidFill>
                <a:latin typeface="DejaVu Sans"/>
                <a:ea typeface="DejaVu Sans"/>
                <a:cs typeface="DejaVu Sans"/>
              </a:defRPr>
            </a:defPPr>
          </a:lstStyle>
          <a:p xmlns:a="http://schemas.openxmlformats.org/drawingml/2006/main">
            <a:pPr algn="l">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GRANT CONTROL</a:t>
            </a:r>
          </a:p>
        </p:txBody>
      </p:sp>
      <p:sp>
        <p:nvSpPr>
          <p:cNvPr id="4" name="Card identifier">
            <a:extLst xmlns:a="http://schemas.openxmlformats.org/drawingml/2006/main">
              <a:ext uri="{FF2B5EF4-FFF2-40B4-BE49-F238E27FC236}">
                <a16:creationId xmlns:a16="http://schemas.microsoft.com/office/drawing/2014/main" id="{5BFA1E0D-BA32-4D32-A3A4-CFFDC1CAA323}"/>
              </a:ext>
            </a:extLst>
          </p:cNvPr>
          <p:cNvSpPr>
            <a:spLocks xmlns:a="http://schemas.openxmlformats.org/drawingml/2006/main" noGrp="1"/>
          </p:cNvSpPr>
          <p:nvPr/>
        </p:nvSpPr>
        <p:spPr>
          <a:xfrm xmlns:a="http://schemas.openxmlformats.org/drawingml/2006/main">
            <a:off x="2371725" y="142875"/>
            <a:ext cx="6381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788" b="1">
                <a:solidFill>
                  <a:srgbClr val="FFFFFF"/>
                </a:solidFill>
                <a:latin typeface="DejaVu Sans"/>
                <a:ea typeface="DejaVu Sans"/>
                <a:cs typeface="DejaVu Sans"/>
              </a:defRPr>
            </a:defPPr>
          </a:lstStyle>
          <a:p xmlns:a="http://schemas.openxmlformats.org/drawingml/2006/main">
            <a:pPr algn="r">
              <a:defRPr sz="788" b="1">
                <a:solidFill>
                  <a:srgbClr val="FFFFFF"/>
                </a:solidFill>
                <a:latin typeface="DejaVu Sans"/>
                <a:ea typeface="DejaVu Sans"/>
                <a:cs typeface="DejaVu Sans"/>
              </a:defRPr>
            </a:pPr>
            <a:r>
              <a:rPr sz="788" b="1">
                <a:solidFill>
                  <a:srgbClr val="FFFFFF"/>
                </a:solidFill>
                <a:latin typeface="DejaVu Sans"/>
                <a:ea typeface="DejaVu Sans"/>
                <a:cs typeface="DejaVu Sans"/>
              </a:rPr>
              <a:t>MPC-01</a:t>
            </a:r>
          </a:p>
        </p:txBody>
      </p:sp>
      <p:sp>
        <p:nvSpPr>
          <p:cNvPr id="5" name="Card category">
            <a:extLst xmlns:a="http://schemas.openxmlformats.org/drawingml/2006/main">
              <a:ext uri="{FF2B5EF4-FFF2-40B4-BE49-F238E27FC236}">
                <a16:creationId xmlns:a16="http://schemas.microsoft.com/office/drawing/2014/main" id="{8536E89D-3070-43E6-8BDA-AA51A9D8F813}"/>
              </a:ext>
            </a:extLst>
          </p:cNvPr>
          <p:cNvSpPr>
            <a:spLocks xmlns:a="http://schemas.openxmlformats.org/drawingml/2006/main" noGrp="1"/>
          </p:cNvSpPr>
          <p:nvPr/>
        </p:nvSpPr>
        <p:spPr>
          <a:xfrm xmlns:a="http://schemas.openxmlformats.org/drawingml/2006/main">
            <a:off x="190500" y="523875"/>
            <a:ext cx="2800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3A714F"/>
                </a:solidFill>
                <a:latin typeface="DejaVu Sans"/>
                <a:ea typeface="DejaVu Sans"/>
                <a:cs typeface="DejaVu Sans"/>
              </a:defRPr>
            </a:defPPr>
          </a:lstStyle>
          <a:p xmlns:a="http://schemas.openxmlformats.org/drawingml/2006/main">
            <a:pPr algn="l">
              <a:defRPr sz="788" b="1">
                <a:solidFill>
                  <a:srgbClr val="3A714F"/>
                </a:solidFill>
                <a:latin typeface="DejaVu Sans"/>
                <a:ea typeface="DejaVu Sans"/>
                <a:cs typeface="DejaVu Sans"/>
              </a:defRPr>
            </a:pPr>
            <a:r>
              <a:rPr sz="788" b="1">
                <a:solidFill>
                  <a:srgbClr val="3A714F"/>
                </a:solidFill>
                <a:latin typeface="DejaVu Sans"/>
                <a:ea typeface="DejaVu Sans"/>
                <a:cs typeface="DejaVu Sans"/>
              </a:rPr>
              <a:t>FUNDING CALL</a:t>
            </a:r>
          </a:p>
        </p:txBody>
      </p:sp>
      <p:sp>
        <p:nvSpPr>
          <p:cNvPr id="6" name="Primary topic">
            <a:extLst xmlns:a="http://schemas.openxmlformats.org/drawingml/2006/main">
              <a:ext uri="{FF2B5EF4-FFF2-40B4-BE49-F238E27FC236}">
                <a16:creationId xmlns:a16="http://schemas.microsoft.com/office/drawing/2014/main" id="{BBC83D46-E8E7-4B52-8539-5CF85E6A8F2F}"/>
              </a:ext>
            </a:extLst>
          </p:cNvPr>
          <p:cNvSpPr>
            <a:spLocks xmlns:a="http://schemas.openxmlformats.org/drawingml/2006/main" noGrp="1"/>
          </p:cNvSpPr>
          <p:nvPr/>
        </p:nvSpPr>
        <p:spPr>
          <a:xfrm xmlns:a="http://schemas.openxmlformats.org/drawingml/2006/main">
            <a:off x="190500" y="733425"/>
            <a:ext cx="2819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3A714F"/>
                </a:solidFill>
                <a:latin typeface="DejaVu Sans"/>
                <a:ea typeface="DejaVu Sans"/>
                <a:cs typeface="DejaVu Sans"/>
              </a:defRPr>
            </a:defPPr>
          </a:lstStyle>
          <a:p xmlns:a="http://schemas.openxmlformats.org/drawingml/2006/main">
            <a:pPr algn="l">
              <a:defRPr sz="975" b="1">
                <a:solidFill>
                  <a:srgbClr val="3A714F"/>
                </a:solidFill>
                <a:latin typeface="DejaVu Sans"/>
                <a:ea typeface="DejaVu Sans"/>
                <a:cs typeface="DejaVu Sans"/>
              </a:defRPr>
            </a:pPr>
            <a:r>
              <a:rPr sz="975" b="1">
                <a:solidFill>
                  <a:srgbClr val="3A714F"/>
                </a:solidFill>
                <a:latin typeface="DejaVu Sans"/>
                <a:ea typeface="DejaVu Sans"/>
                <a:cs typeface="DejaVu Sans"/>
              </a:rPr>
              <a:t>Optimization / MPC</a:t>
            </a:r>
          </a:p>
        </p:txBody>
      </p:sp>
      <p:sp>
        <p:nvSpPr>
          <p:cNvPr id="7" name="Call title">
            <a:extLst xmlns:a="http://schemas.openxmlformats.org/drawingml/2006/main">
              <a:ext uri="{FF2B5EF4-FFF2-40B4-BE49-F238E27FC236}">
                <a16:creationId xmlns:a16="http://schemas.microsoft.com/office/drawing/2014/main" id="{9F5B2B62-352B-46BC-9743-484A67772901}"/>
              </a:ext>
            </a:extLst>
          </p:cNvPr>
          <p:cNvSpPr>
            <a:spLocks xmlns:a="http://schemas.openxmlformats.org/drawingml/2006/main" noGrp="1"/>
          </p:cNvSpPr>
          <p:nvPr/>
        </p:nvSpPr>
        <p:spPr>
          <a:xfrm xmlns:a="http://schemas.openxmlformats.org/drawingml/2006/main">
            <a:off x="190500" y="1028700"/>
            <a:ext cx="281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92936"/>
                </a:solidFill>
                <a:latin typeface="DejaVu Sans"/>
                <a:ea typeface="DejaVu Sans"/>
                <a:cs typeface="DejaVu Sans"/>
              </a:defRPr>
            </a:defPPr>
          </a:lstStyle>
          <a:p xmlns:a="http://schemas.openxmlformats.org/drawingml/2006/main">
            <a:pPr algn="l">
              <a:defRPr sz="1500" b="1">
                <a:solidFill>
                  <a:srgbClr val="192936"/>
                </a:solidFill>
                <a:latin typeface="DejaVu Sans"/>
                <a:ea typeface="DejaVu Sans"/>
                <a:cs typeface="DejaVu Sans"/>
              </a:defRPr>
            </a:pPr>
            <a:r>
              <a:rPr sz="1500" b="1">
                <a:solidFill>
                  <a:srgbClr val="192936"/>
                </a:solidFill>
                <a:latin typeface="DejaVu Sans"/>
                <a:ea typeface="DejaVu Sans"/>
                <a:cs typeface="DejaVu Sans"/>
              </a:rPr>
              <a:t>Control Within Operating Limits</a:t>
            </a:r>
          </a:p>
        </p:txBody>
      </p:sp>
      <p:sp>
        <p:nvSpPr>
          <p:cNvPr id="8" name="Research scope">
            <a:extLst xmlns:a="http://schemas.openxmlformats.org/drawingml/2006/main">
              <a:ext uri="{FF2B5EF4-FFF2-40B4-BE49-F238E27FC236}">
                <a16:creationId xmlns:a16="http://schemas.microsoft.com/office/drawing/2014/main" id="{7842D79C-49BB-41AD-9AB7-A73A2844A493}"/>
              </a:ext>
            </a:extLst>
          </p:cNvPr>
          <p:cNvSpPr>
            <a:spLocks xmlns:a="http://schemas.openxmlformats.org/drawingml/2006/main" noGrp="1"/>
          </p:cNvSpPr>
          <p:nvPr/>
        </p:nvSpPr>
        <p:spPr>
          <a:xfrm xmlns:a="http://schemas.openxmlformats.org/drawingml/2006/main">
            <a:off x="190500" y="1628775"/>
            <a:ext cx="2819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0">
                <a:solidFill>
                  <a:srgbClr val="52616A"/>
                </a:solidFill>
                <a:latin typeface="DejaVu Sans"/>
                <a:ea typeface="DejaVu Sans"/>
                <a:cs typeface="DejaVu Sans"/>
              </a:defRPr>
            </a:defPPr>
          </a:lstStyle>
          <a:p xmlns:a="http://schemas.openxmlformats.org/drawingml/2006/main">
            <a:pPr algn="l">
              <a:defRPr sz="825" b="0">
                <a:solidFill>
                  <a:srgbClr val="52616A"/>
                </a:solidFill>
                <a:latin typeface="DejaVu Sans"/>
                <a:ea typeface="DejaVu Sans"/>
                <a:cs typeface="DejaVu Sans"/>
              </a:defRPr>
            </a:pPr>
            <a:r>
              <a:rPr sz="825" b="0">
                <a:solidFill>
                  <a:srgbClr val="52616A"/>
                </a:solidFill>
                <a:latin typeface="DejaVu Sans"/>
                <a:ea typeface="DejaVu Sans"/>
                <a:cs typeface="DejaVu Sans"/>
              </a:rPr>
              <a:t>Develop model predictive control for a system with state and input constraints. The call emphasizes feasible operation within physical limits.</a:t>
            </a:r>
          </a:p>
        </p:txBody>
      </p:sp>
      <p:sp>
        <p:nvSpPr>
          <p:cNvPr id="9" name="Statistics divider">
            <a:extLst xmlns:a="http://schemas.openxmlformats.org/drawingml/2006/main">
              <a:ext uri="{FF2B5EF4-FFF2-40B4-BE49-F238E27FC236}">
                <a16:creationId xmlns:a16="http://schemas.microsoft.com/office/drawing/2014/main" id="{A6B5186C-D9DF-46EE-9C5D-AE28711A946B}"/>
              </a:ext>
            </a:extLst>
          </p:cNvPr>
          <p:cNvSpPr>
            <a:spLocks xmlns:a="http://schemas.openxmlformats.org/drawingml/2006/main" noGrp="1"/>
          </p:cNvSpPr>
          <p:nvPr/>
        </p:nvSpPr>
        <p:spPr>
          <a:xfrm xmlns:a="http://schemas.openxmlformats.org/drawingml/2006/main">
            <a:off x="190500" y="216217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0" name="Funding award label">
            <a:extLst xmlns:a="http://schemas.openxmlformats.org/drawingml/2006/main">
              <a:ext uri="{FF2B5EF4-FFF2-40B4-BE49-F238E27FC236}">
                <a16:creationId xmlns:a16="http://schemas.microsoft.com/office/drawing/2014/main" id="{C7853EA5-DFB4-48E3-B78D-634BBC86A5DC}"/>
              </a:ext>
            </a:extLst>
          </p:cNvPr>
          <p:cNvSpPr>
            <a:spLocks xmlns:a="http://schemas.openxmlformats.org/drawingml/2006/main" noGrp="1"/>
          </p:cNvSpPr>
          <p:nvPr/>
        </p:nvSpPr>
        <p:spPr>
          <a:xfrm xmlns:a="http://schemas.openxmlformats.org/drawingml/2006/main">
            <a:off x="190500"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FUNDING AWARD</a:t>
            </a:r>
          </a:p>
        </p:txBody>
      </p:sp>
      <p:sp>
        <p:nvSpPr>
          <p:cNvPr id="11" name="Gray cube label">
            <a:extLst xmlns:a="http://schemas.openxmlformats.org/drawingml/2006/main">
              <a:ext uri="{FF2B5EF4-FFF2-40B4-BE49-F238E27FC236}">
                <a16:creationId xmlns:a16="http://schemas.microsoft.com/office/drawing/2014/main" id="{2B5F94D0-6981-414B-A43E-FE7516197404}"/>
              </a:ext>
            </a:extLst>
          </p:cNvPr>
          <p:cNvSpPr>
            <a:spLocks xmlns:a="http://schemas.openxmlformats.org/drawingml/2006/main" noGrp="1"/>
          </p:cNvSpPr>
          <p:nvPr/>
        </p:nvSpPr>
        <p:spPr>
          <a:xfrm xmlns:a="http://schemas.openxmlformats.org/drawingml/2006/main">
            <a:off x="1685925"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OUTSIDE / NO-AWARD</a:t>
            </a:r>
          </a:p>
        </p:txBody>
      </p:sp>
      <p:sp>
        <p:nvSpPr>
          <p:cNvPr id="12" name="Funding award value">
            <a:extLst xmlns:a="http://schemas.openxmlformats.org/drawingml/2006/main">
              <a:ext uri="{FF2B5EF4-FFF2-40B4-BE49-F238E27FC236}">
                <a16:creationId xmlns:a16="http://schemas.microsoft.com/office/drawing/2014/main" id="{A1B668DF-9A14-44AA-B53A-9B8C1095F805}"/>
              </a:ext>
            </a:extLst>
          </p:cNvPr>
          <p:cNvSpPr>
            <a:spLocks xmlns:a="http://schemas.openxmlformats.org/drawingml/2006/main" noGrp="1"/>
          </p:cNvSpPr>
          <p:nvPr/>
        </p:nvSpPr>
        <p:spPr>
          <a:xfrm xmlns:a="http://schemas.openxmlformats.org/drawingml/2006/main">
            <a:off x="190500"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3A714F"/>
                </a:solidFill>
                <a:latin typeface="DejaVu Sans"/>
                <a:ea typeface="DejaVu Sans"/>
                <a:cs typeface="DejaVu Sans"/>
              </a:defRPr>
            </a:defPPr>
          </a:lstStyle>
          <a:p xmlns:a="http://schemas.openxmlformats.org/drawingml/2006/main">
            <a:pPr algn="l">
              <a:defRPr sz="2100" b="1">
                <a:solidFill>
                  <a:srgbClr val="3A714F"/>
                </a:solidFill>
                <a:latin typeface="DejaVu Sans"/>
                <a:ea typeface="DejaVu Sans"/>
                <a:cs typeface="DejaVu Sans"/>
              </a:defRPr>
            </a:pPr>
            <a:r>
              <a:rPr sz="2100" b="1">
                <a:solidFill>
                  <a:srgbClr val="3A714F"/>
                </a:solidFill>
                <a:latin typeface="DejaVu Sans"/>
                <a:ea typeface="DejaVu Sans"/>
                <a:cs typeface="DejaVu Sans"/>
              </a:rPr>
              <a:t>4</a:t>
            </a:r>
          </a:p>
        </p:txBody>
      </p:sp>
      <p:sp>
        <p:nvSpPr>
          <p:cNvPr id="13" name="Funding award unit">
            <a:extLst xmlns:a="http://schemas.openxmlformats.org/drawingml/2006/main">
              <a:ext uri="{FF2B5EF4-FFF2-40B4-BE49-F238E27FC236}">
                <a16:creationId xmlns:a16="http://schemas.microsoft.com/office/drawing/2014/main" id="{3FE54D0E-0FDF-4B1D-8012-34E25F825DF7}"/>
              </a:ext>
            </a:extLst>
          </p:cNvPr>
          <p:cNvSpPr>
            <a:spLocks xmlns:a="http://schemas.openxmlformats.org/drawingml/2006/main" noGrp="1"/>
          </p:cNvSpPr>
          <p:nvPr/>
        </p:nvSpPr>
        <p:spPr>
          <a:xfrm xmlns:a="http://schemas.openxmlformats.org/drawingml/2006/main">
            <a:off x="600075" y="2543175"/>
            <a:ext cx="904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192936"/>
                </a:solidFill>
                <a:latin typeface="DejaVu Sans"/>
                <a:ea typeface="DejaVu Sans"/>
                <a:cs typeface="DejaVu Sans"/>
              </a:defRPr>
            </a:defPPr>
          </a:lstStyle>
          <a:p xmlns:a="http://schemas.openxmlformats.org/drawingml/2006/main">
            <a:pPr algn="l">
              <a:defRPr sz="900" b="1">
                <a:solidFill>
                  <a:srgbClr val="192936"/>
                </a:solidFill>
                <a:latin typeface="DejaVu Sans"/>
                <a:ea typeface="DejaVu Sans"/>
                <a:cs typeface="DejaVu Sans"/>
              </a:defRPr>
            </a:pPr>
            <a:r>
              <a:rPr sz="900" b="1">
                <a:solidFill>
                  <a:srgbClr val="192936"/>
                </a:solidFill>
                <a:latin typeface="DejaVu Sans"/>
                <a:ea typeface="DejaVu Sans"/>
                <a:cs typeface="DejaVu Sans"/>
              </a:rPr>
              <a:t>Funding</a:t>
            </a:r>
          </a:p>
        </p:txBody>
      </p:sp>
      <p:sp>
        <p:nvSpPr>
          <p:cNvPr id="14" name="Gray cube value">
            <a:extLst xmlns:a="http://schemas.openxmlformats.org/drawingml/2006/main">
              <a:ext uri="{FF2B5EF4-FFF2-40B4-BE49-F238E27FC236}">
                <a16:creationId xmlns:a16="http://schemas.microsoft.com/office/drawing/2014/main" id="{B2934C91-F6D2-4494-B575-1CDCD566BBC3}"/>
              </a:ext>
            </a:extLst>
          </p:cNvPr>
          <p:cNvSpPr>
            <a:spLocks xmlns:a="http://schemas.openxmlformats.org/drawingml/2006/main" noGrp="1"/>
          </p:cNvSpPr>
          <p:nvPr/>
        </p:nvSpPr>
        <p:spPr>
          <a:xfrm xmlns:a="http://schemas.openxmlformats.org/drawingml/2006/main">
            <a:off x="1685925"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2616A"/>
                </a:solidFill>
                <a:latin typeface="DejaVu Sans"/>
                <a:ea typeface="DejaVu Sans"/>
                <a:cs typeface="DejaVu Sans"/>
              </a:defRPr>
            </a:defPPr>
          </a:lstStyle>
          <a:p xmlns:a="http://schemas.openxmlformats.org/drawingml/2006/main">
            <a:pPr algn="l">
              <a:defRPr sz="2100" b="1">
                <a:solidFill>
                  <a:srgbClr val="52616A"/>
                </a:solidFill>
                <a:latin typeface="DejaVu Sans"/>
                <a:ea typeface="DejaVu Sans"/>
                <a:cs typeface="DejaVu Sans"/>
              </a:defRPr>
            </a:pPr>
            <a:r>
              <a:rPr sz="2100" b="1">
                <a:solidFill>
                  <a:srgbClr val="52616A"/>
                </a:solidFill>
                <a:latin typeface="DejaVu Sans"/>
                <a:ea typeface="DejaVu Sans"/>
                <a:cs typeface="DejaVu Sans"/>
              </a:rPr>
              <a:t>3</a:t>
            </a:r>
          </a:p>
        </p:txBody>
      </p:sp>
      <p:sp>
        <p:nvSpPr>
          <p:cNvPr id="15" name="Gray cube unit">
            <a:extLst xmlns:a="http://schemas.openxmlformats.org/drawingml/2006/main">
              <a:ext uri="{FF2B5EF4-FFF2-40B4-BE49-F238E27FC236}">
                <a16:creationId xmlns:a16="http://schemas.microsoft.com/office/drawing/2014/main" id="{3864C22C-F268-40AC-A630-5F885146F7BD}"/>
              </a:ext>
            </a:extLst>
          </p:cNvPr>
          <p:cNvSpPr>
            <a:spLocks xmlns:a="http://schemas.openxmlformats.org/drawingml/2006/main" noGrp="1"/>
          </p:cNvSpPr>
          <p:nvPr/>
        </p:nvSpPr>
        <p:spPr>
          <a:xfrm xmlns:a="http://schemas.openxmlformats.org/drawingml/2006/main">
            <a:off x="2095500" y="2543175"/>
            <a:ext cx="914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1">
                <a:solidFill>
                  <a:srgbClr val="52616A"/>
                </a:solidFill>
                <a:latin typeface="DejaVu Sans"/>
                <a:ea typeface="DejaVu Sans"/>
                <a:cs typeface="DejaVu Sans"/>
              </a:defRPr>
            </a:defPPr>
          </a:lstStyle>
          <a:p xmlns:a="http://schemas.openxmlformats.org/drawingml/2006/main">
            <a:pPr algn="l">
              <a:defRPr sz="863" b="1">
                <a:solidFill>
                  <a:srgbClr val="52616A"/>
                </a:solidFill>
                <a:latin typeface="DejaVu Sans"/>
                <a:ea typeface="DejaVu Sans"/>
                <a:cs typeface="DejaVu Sans"/>
              </a:defRPr>
            </a:pPr>
            <a:r>
              <a:rPr sz="863" b="1">
                <a:solidFill>
                  <a:srgbClr val="52616A"/>
                </a:solidFill>
                <a:latin typeface="DejaVu Sans"/>
                <a:ea typeface="DejaVu Sans"/>
                <a:cs typeface="DejaVu Sans"/>
              </a:rPr>
              <a:t>gray cubes</a:t>
            </a:r>
          </a:p>
        </p:txBody>
      </p:sp>
      <p:sp>
        <p:nvSpPr>
          <p:cNvPr id="16" name="Eligibility divider">
            <a:extLst xmlns:a="http://schemas.openxmlformats.org/drawingml/2006/main">
              <a:ext uri="{FF2B5EF4-FFF2-40B4-BE49-F238E27FC236}">
                <a16:creationId xmlns:a16="http://schemas.microsoft.com/office/drawing/2014/main" id="{99C9DA58-B941-495B-A96D-426B9F8181ED}"/>
              </a:ext>
            </a:extLst>
          </p:cNvPr>
          <p:cNvSpPr>
            <a:spLocks xmlns:a="http://schemas.openxmlformats.org/drawingml/2006/main" noGrp="1"/>
          </p:cNvSpPr>
          <p:nvPr/>
        </p:nvSpPr>
        <p:spPr>
          <a:xfrm xmlns:a="http://schemas.openxmlformats.org/drawingml/2006/main">
            <a:off x="190500" y="282892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7" name="Without certification heading">
            <a:extLst xmlns:a="http://schemas.openxmlformats.org/drawingml/2006/main">
              <a:ext uri="{FF2B5EF4-FFF2-40B4-BE49-F238E27FC236}">
                <a16:creationId xmlns:a16="http://schemas.microsoft.com/office/drawing/2014/main" id="{B3A364CE-191F-4B24-8FA9-131F96E06DB2}"/>
              </a:ext>
            </a:extLst>
          </p:cNvPr>
          <p:cNvSpPr>
            <a:spLocks xmlns:a="http://schemas.openxmlformats.org/drawingml/2006/main" noGrp="1"/>
          </p:cNvSpPr>
          <p:nvPr/>
        </p:nvSpPr>
        <p:spPr>
          <a:xfrm xmlns:a="http://schemas.openxmlformats.org/drawingml/2006/main">
            <a:off x="190500" y="2943225"/>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1">
                <a:solidFill>
                  <a:srgbClr val="3A714F"/>
                </a:solidFill>
                <a:latin typeface="DejaVu Sans"/>
                <a:ea typeface="DejaVu Sans"/>
                <a:cs typeface="DejaVu Sans"/>
              </a:defRPr>
            </a:defPPr>
          </a:lstStyle>
          <a:p xmlns:a="http://schemas.openxmlformats.org/drawingml/2006/main">
            <a:pPr algn="l">
              <a:defRPr sz="825" b="1">
                <a:solidFill>
                  <a:srgbClr val="3A714F"/>
                </a:solidFill>
                <a:latin typeface="DejaVu Sans"/>
                <a:ea typeface="DejaVu Sans"/>
                <a:cs typeface="DejaVu Sans"/>
              </a:defRPr>
            </a:pPr>
            <a:r>
              <a:rPr sz="825" b="1">
                <a:solidFill>
                  <a:srgbClr val="3A714F"/>
                </a:solidFill>
                <a:latin typeface="DejaVu Sans"/>
                <a:ea typeface="DejaVu Sans"/>
                <a:cs typeface="DejaVu Sans"/>
              </a:rPr>
              <a:t>No Certified Expertise in Optimization / MPC</a:t>
            </a:r>
          </a:p>
        </p:txBody>
      </p:sp>
      <p:sp>
        <p:nvSpPr>
          <p:cNvPr id="18" name="Without certification rule">
            <a:extLst xmlns:a="http://schemas.openxmlformats.org/drawingml/2006/main">
              <a:ext uri="{FF2B5EF4-FFF2-40B4-BE49-F238E27FC236}">
                <a16:creationId xmlns:a16="http://schemas.microsoft.com/office/drawing/2014/main" id="{2C202B8F-15D3-436A-8708-5C96E97BA40A}"/>
              </a:ext>
            </a:extLst>
          </p:cNvPr>
          <p:cNvSpPr>
            <a:spLocks xmlns:a="http://schemas.openxmlformats.org/drawingml/2006/main" noGrp="1"/>
          </p:cNvSpPr>
          <p:nvPr/>
        </p:nvSpPr>
        <p:spPr>
          <a:xfrm xmlns:a="http://schemas.openxmlformats.org/drawingml/2006/main">
            <a:off x="190500" y="3152775"/>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need at least 1 Optimization / MPC Recent Work token to apply. Only Optimization / MPC tokens count.</a:t>
            </a:r>
          </a:p>
        </p:txBody>
      </p:sp>
      <p:sp>
        <p:nvSpPr>
          <p:cNvPr id="19" name="With certification heading">
            <a:extLst xmlns:a="http://schemas.openxmlformats.org/drawingml/2006/main">
              <a:ext uri="{FF2B5EF4-FFF2-40B4-BE49-F238E27FC236}">
                <a16:creationId xmlns:a16="http://schemas.microsoft.com/office/drawing/2014/main" id="{A404E980-4412-4554-912E-BFBB16C6F49B}"/>
              </a:ext>
            </a:extLst>
          </p:cNvPr>
          <p:cNvSpPr>
            <a:spLocks xmlns:a="http://schemas.openxmlformats.org/drawingml/2006/main" noGrp="1"/>
          </p:cNvSpPr>
          <p:nvPr/>
        </p:nvSpPr>
        <p:spPr>
          <a:xfrm xmlns:a="http://schemas.openxmlformats.org/drawingml/2006/main">
            <a:off x="190500" y="3619500"/>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3A714F"/>
                </a:solidFill>
                <a:latin typeface="DejaVu Sans"/>
                <a:ea typeface="DejaVu Sans"/>
                <a:cs typeface="DejaVu Sans"/>
              </a:defRPr>
            </a:defPPr>
          </a:lstStyle>
          <a:p xmlns:a="http://schemas.openxmlformats.org/drawingml/2006/main">
            <a:pPr algn="l">
              <a:defRPr sz="788" b="1">
                <a:solidFill>
                  <a:srgbClr val="3A714F"/>
                </a:solidFill>
                <a:latin typeface="DejaVu Sans"/>
                <a:ea typeface="DejaVu Sans"/>
                <a:cs typeface="DejaVu Sans"/>
              </a:defRPr>
            </a:pPr>
            <a:r>
              <a:rPr sz="788" b="1">
                <a:solidFill>
                  <a:srgbClr val="3A714F"/>
                </a:solidFill>
                <a:latin typeface="DejaVu Sans"/>
                <a:ea typeface="DejaVu Sans"/>
                <a:cs typeface="DejaVu Sans"/>
              </a:rPr>
              <a:t>With Certified Expertise in Optimization / MPC</a:t>
            </a:r>
          </a:p>
        </p:txBody>
      </p:sp>
      <p:sp>
        <p:nvSpPr>
          <p:cNvPr id="20" name="With certification rule">
            <a:extLst xmlns:a="http://schemas.openxmlformats.org/drawingml/2006/main">
              <a:ext uri="{FF2B5EF4-FFF2-40B4-BE49-F238E27FC236}">
                <a16:creationId xmlns:a16="http://schemas.microsoft.com/office/drawing/2014/main" id="{6C1E2017-9B1B-4521-909A-B1527F2090A2}"/>
              </a:ext>
            </a:extLst>
          </p:cNvPr>
          <p:cNvSpPr>
            <a:spLocks xmlns:a="http://schemas.openxmlformats.org/drawingml/2006/main" noGrp="1"/>
          </p:cNvSpPr>
          <p:nvPr/>
        </p:nvSpPr>
        <p:spPr>
          <a:xfrm xmlns:a="http://schemas.openxmlformats.org/drawingml/2006/main">
            <a:off x="190500" y="3829050"/>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may apply without Recent Work. Recent Work from ANY topic can count. Your expertise badge is permanent.</a:t>
            </a:r>
          </a:p>
        </p:txBody>
      </p:sp>
      <p:sp>
        <p:nvSpPr>
          <p:cNvPr id="21" name="Footer divider">
            <a:extLst xmlns:a="http://schemas.openxmlformats.org/drawingml/2006/main">
              <a:ext uri="{FF2B5EF4-FFF2-40B4-BE49-F238E27FC236}">
                <a16:creationId xmlns:a16="http://schemas.microsoft.com/office/drawing/2014/main" id="{9ABA6806-4271-4310-BCB8-6D8D0444D31F}"/>
              </a:ext>
            </a:extLst>
          </p:cNvPr>
          <p:cNvSpPr>
            <a:spLocks xmlns:a="http://schemas.openxmlformats.org/drawingml/2006/main" noGrp="1"/>
          </p:cNvSpPr>
          <p:nvPr/>
        </p:nvSpPr>
        <p:spPr>
          <a:xfrm xmlns:a="http://schemas.openxmlformats.org/drawingml/2006/main">
            <a:off x="190500" y="4286250"/>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22" name="Recent Work cap">
            <a:extLst xmlns:a="http://schemas.openxmlformats.org/drawingml/2006/main">
              <a:ext uri="{FF2B5EF4-FFF2-40B4-BE49-F238E27FC236}">
                <a16:creationId xmlns:a16="http://schemas.microsoft.com/office/drawing/2014/main" id="{AFC78C77-B5B3-44A9-AA68-24AF8D2079E6}"/>
              </a:ext>
            </a:extLst>
          </p:cNvPr>
          <p:cNvSpPr>
            <a:spLocks xmlns:a="http://schemas.openxmlformats.org/drawingml/2006/main" noGrp="1"/>
          </p:cNvSpPr>
          <p:nvPr/>
        </p:nvSpPr>
        <p:spPr>
          <a:xfrm xmlns:a="http://schemas.openxmlformats.org/drawingml/2006/main">
            <a:off x="190500" y="4371975"/>
            <a:ext cx="28194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192936"/>
                </a:solidFill>
                <a:latin typeface="DejaVu Sans"/>
                <a:ea typeface="DejaVu Sans"/>
                <a:cs typeface="DejaVu Sans"/>
              </a:defRPr>
            </a:defPPr>
          </a:lstStyle>
          <a:p xmlns:a="http://schemas.openxmlformats.org/drawingml/2006/main">
            <a:pPr algn="l">
              <a:defRPr sz="788" b="1">
                <a:solidFill>
                  <a:srgbClr val="192936"/>
                </a:solidFill>
                <a:latin typeface="DejaVu Sans"/>
                <a:ea typeface="DejaVu Sans"/>
                <a:cs typeface="DejaVu Sans"/>
              </a:defRPr>
            </a:pPr>
            <a:r>
              <a:rPr sz="788" b="1">
                <a:solidFill>
                  <a:srgbClr val="192936"/>
                </a:solidFill>
                <a:latin typeface="DejaVu Sans"/>
                <a:ea typeface="DejaVu Sans"/>
                <a:cs typeface="DejaVu Sans"/>
              </a:rPr>
              <a:t>Count at most 3 Recent Work tokens.</a:t>
            </a:r>
          </a:p>
        </p:txBody>
      </p:sp>
    </p:spTree>
    <p:extLst>
      <p:ext uri="{BB962C8B-B14F-4D97-AF65-F5344CB8AC3E}">
        <p14:creationId xmlns:p14="http://schemas.microsoft.com/office/powerpoint/2010/main" val="37072967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Card border">
            <a:extLst xmlns:a="http://schemas.openxmlformats.org/drawingml/2006/main">
              <a:ext uri="{FF2B5EF4-FFF2-40B4-BE49-F238E27FC236}">
                <a16:creationId xmlns:a16="http://schemas.microsoft.com/office/drawing/2014/main" id="{7B9709C3-8EA2-45B9-8E6E-909A405541B7}"/>
              </a:ext>
            </a:extLst>
          </p:cNvPr>
          <p:cNvSpPr>
            <a:spLocks xmlns:a="http://schemas.openxmlformats.org/drawingml/2006/main" noGrp="1"/>
          </p:cNvSpPr>
          <p:nvPr/>
        </p:nvSpPr>
        <p:spPr>
          <a:xfrm xmlns:a="http://schemas.openxmlformats.org/drawingml/2006/main">
            <a:off x="9525" y="9525"/>
            <a:ext cx="3181350" cy="4552950"/>
          </a:xfrm>
          <a:prstGeom xmlns:a="http://schemas.openxmlformats.org/drawingml/2006/main" prst="rect">
            <a:avLst/>
          </a:prstGeom>
          <a:noFill xmlns:a="http://schemas.openxmlformats.org/drawingml/2006/main"/>
          <a:ln xmlns:a="http://schemas.openxmlformats.org/drawingml/2006/main" w="9525">
            <a:solidFill>
              <a:srgbClr val="D0D5D8"/>
            </a:solidFill>
          </a:ln>
        </p:spPr>
      </p:sp>
      <p:sp>
        <p:nvSpPr>
          <p:cNvPr id="2" name="Topic color band">
            <a:extLst xmlns:a="http://schemas.openxmlformats.org/drawingml/2006/main">
              <a:ext uri="{FF2B5EF4-FFF2-40B4-BE49-F238E27FC236}">
                <a16:creationId xmlns:a16="http://schemas.microsoft.com/office/drawing/2014/main" id="{E121F83D-1FD4-4962-A547-4BE6080546A9}"/>
              </a:ext>
            </a:extLst>
          </p:cNvPr>
          <p:cNvSpPr>
            <a:spLocks xmlns:a="http://schemas.openxmlformats.org/drawingml/2006/main" noGrp="1"/>
          </p:cNvSpPr>
          <p:nvPr/>
        </p:nvSpPr>
        <p:spPr>
          <a:xfrm xmlns:a="http://schemas.openxmlformats.org/drawingml/2006/main">
            <a:off x="9525" y="9525"/>
            <a:ext cx="3181350" cy="400050"/>
          </a:xfrm>
          <a:prstGeom xmlns:a="http://schemas.openxmlformats.org/drawingml/2006/main" prst="rect">
            <a:avLst/>
          </a:prstGeom>
          <a:solidFill xmlns:a="http://schemas.openxmlformats.org/drawingml/2006/main">
            <a:srgbClr val="3A714F"/>
          </a:solidFill>
          <a:ln xmlns:a="http://schemas.openxmlformats.org/drawingml/2006/main" w="0">
            <a:noFill/>
          </a:ln>
        </p:spPr>
      </p:sp>
      <p:sp>
        <p:nvSpPr>
          <p:cNvPr id="3" name="Game name">
            <a:extLst xmlns:a="http://schemas.openxmlformats.org/drawingml/2006/main">
              <a:ext uri="{FF2B5EF4-FFF2-40B4-BE49-F238E27FC236}">
                <a16:creationId xmlns:a16="http://schemas.microsoft.com/office/drawing/2014/main" id="{E1093B45-DD37-4C8B-902D-C3AB16C39FC7}"/>
              </a:ext>
            </a:extLst>
          </p:cNvPr>
          <p:cNvSpPr>
            <a:spLocks xmlns:a="http://schemas.openxmlformats.org/drawingml/2006/main" noGrp="1"/>
          </p:cNvSpPr>
          <p:nvPr/>
        </p:nvSpPr>
        <p:spPr>
          <a:xfrm xmlns:a="http://schemas.openxmlformats.org/drawingml/2006/main">
            <a:off x="190500" y="133350"/>
            <a:ext cx="1943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FFFFFF"/>
                </a:solidFill>
                <a:latin typeface="DejaVu Sans"/>
                <a:ea typeface="DejaVu Sans"/>
                <a:cs typeface="DejaVu Sans"/>
              </a:defRPr>
            </a:defPPr>
          </a:lstStyle>
          <a:p xmlns:a="http://schemas.openxmlformats.org/drawingml/2006/main">
            <a:pPr algn="l">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GRANT CONTROL</a:t>
            </a:r>
          </a:p>
        </p:txBody>
      </p:sp>
      <p:sp>
        <p:nvSpPr>
          <p:cNvPr id="4" name="Card identifier">
            <a:extLst xmlns:a="http://schemas.openxmlformats.org/drawingml/2006/main">
              <a:ext uri="{FF2B5EF4-FFF2-40B4-BE49-F238E27FC236}">
                <a16:creationId xmlns:a16="http://schemas.microsoft.com/office/drawing/2014/main" id="{38F82A72-860B-4EA6-98C6-E923E081763B}"/>
              </a:ext>
            </a:extLst>
          </p:cNvPr>
          <p:cNvSpPr>
            <a:spLocks xmlns:a="http://schemas.openxmlformats.org/drawingml/2006/main" noGrp="1"/>
          </p:cNvSpPr>
          <p:nvPr/>
        </p:nvSpPr>
        <p:spPr>
          <a:xfrm xmlns:a="http://schemas.openxmlformats.org/drawingml/2006/main">
            <a:off x="2371725" y="142875"/>
            <a:ext cx="6381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788" b="1">
                <a:solidFill>
                  <a:srgbClr val="FFFFFF"/>
                </a:solidFill>
                <a:latin typeface="DejaVu Sans"/>
                <a:ea typeface="DejaVu Sans"/>
                <a:cs typeface="DejaVu Sans"/>
              </a:defRPr>
            </a:defPPr>
          </a:lstStyle>
          <a:p xmlns:a="http://schemas.openxmlformats.org/drawingml/2006/main">
            <a:pPr algn="r">
              <a:defRPr sz="788" b="1">
                <a:solidFill>
                  <a:srgbClr val="FFFFFF"/>
                </a:solidFill>
                <a:latin typeface="DejaVu Sans"/>
                <a:ea typeface="DejaVu Sans"/>
                <a:cs typeface="DejaVu Sans"/>
              </a:defRPr>
            </a:pPr>
            <a:r>
              <a:rPr sz="788" b="1">
                <a:solidFill>
                  <a:srgbClr val="FFFFFF"/>
                </a:solidFill>
                <a:latin typeface="DejaVu Sans"/>
                <a:ea typeface="DejaVu Sans"/>
                <a:cs typeface="DejaVu Sans"/>
              </a:rPr>
              <a:t>MPC-02</a:t>
            </a:r>
          </a:p>
        </p:txBody>
      </p:sp>
      <p:sp>
        <p:nvSpPr>
          <p:cNvPr id="5" name="Card category">
            <a:extLst xmlns:a="http://schemas.openxmlformats.org/drawingml/2006/main">
              <a:ext uri="{FF2B5EF4-FFF2-40B4-BE49-F238E27FC236}">
                <a16:creationId xmlns:a16="http://schemas.microsoft.com/office/drawing/2014/main" id="{1BF8D167-D699-40CC-9BD9-E150F1DE4618}"/>
              </a:ext>
            </a:extLst>
          </p:cNvPr>
          <p:cNvSpPr>
            <a:spLocks xmlns:a="http://schemas.openxmlformats.org/drawingml/2006/main" noGrp="1"/>
          </p:cNvSpPr>
          <p:nvPr/>
        </p:nvSpPr>
        <p:spPr>
          <a:xfrm xmlns:a="http://schemas.openxmlformats.org/drawingml/2006/main">
            <a:off x="190500" y="523875"/>
            <a:ext cx="2800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3A714F"/>
                </a:solidFill>
                <a:latin typeface="DejaVu Sans"/>
                <a:ea typeface="DejaVu Sans"/>
                <a:cs typeface="DejaVu Sans"/>
              </a:defRPr>
            </a:defPPr>
          </a:lstStyle>
          <a:p xmlns:a="http://schemas.openxmlformats.org/drawingml/2006/main">
            <a:pPr algn="l">
              <a:defRPr sz="788" b="1">
                <a:solidFill>
                  <a:srgbClr val="3A714F"/>
                </a:solidFill>
                <a:latin typeface="DejaVu Sans"/>
                <a:ea typeface="DejaVu Sans"/>
                <a:cs typeface="DejaVu Sans"/>
              </a:defRPr>
            </a:pPr>
            <a:r>
              <a:rPr sz="788" b="1">
                <a:solidFill>
                  <a:srgbClr val="3A714F"/>
                </a:solidFill>
                <a:latin typeface="DejaVu Sans"/>
                <a:ea typeface="DejaVu Sans"/>
                <a:cs typeface="DejaVu Sans"/>
              </a:rPr>
              <a:t>FUNDING CALL</a:t>
            </a:r>
          </a:p>
        </p:txBody>
      </p:sp>
      <p:sp>
        <p:nvSpPr>
          <p:cNvPr id="6" name="Primary topic">
            <a:extLst xmlns:a="http://schemas.openxmlformats.org/drawingml/2006/main">
              <a:ext uri="{FF2B5EF4-FFF2-40B4-BE49-F238E27FC236}">
                <a16:creationId xmlns:a16="http://schemas.microsoft.com/office/drawing/2014/main" id="{7BC33F53-70C9-4630-8FC6-AEB14014C7B2}"/>
              </a:ext>
            </a:extLst>
          </p:cNvPr>
          <p:cNvSpPr>
            <a:spLocks xmlns:a="http://schemas.openxmlformats.org/drawingml/2006/main" noGrp="1"/>
          </p:cNvSpPr>
          <p:nvPr/>
        </p:nvSpPr>
        <p:spPr>
          <a:xfrm xmlns:a="http://schemas.openxmlformats.org/drawingml/2006/main">
            <a:off x="190500" y="733425"/>
            <a:ext cx="2819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3A714F"/>
                </a:solidFill>
                <a:latin typeface="DejaVu Sans"/>
                <a:ea typeface="DejaVu Sans"/>
                <a:cs typeface="DejaVu Sans"/>
              </a:defRPr>
            </a:defPPr>
          </a:lstStyle>
          <a:p xmlns:a="http://schemas.openxmlformats.org/drawingml/2006/main">
            <a:pPr algn="l">
              <a:defRPr sz="975" b="1">
                <a:solidFill>
                  <a:srgbClr val="3A714F"/>
                </a:solidFill>
                <a:latin typeface="DejaVu Sans"/>
                <a:ea typeface="DejaVu Sans"/>
                <a:cs typeface="DejaVu Sans"/>
              </a:defRPr>
            </a:pPr>
            <a:r>
              <a:rPr sz="975" b="1">
                <a:solidFill>
                  <a:srgbClr val="3A714F"/>
                </a:solidFill>
                <a:latin typeface="DejaVu Sans"/>
                <a:ea typeface="DejaVu Sans"/>
                <a:cs typeface="DejaVu Sans"/>
              </a:rPr>
              <a:t>Optimization / MPC</a:t>
            </a:r>
          </a:p>
        </p:txBody>
      </p:sp>
      <p:sp>
        <p:nvSpPr>
          <p:cNvPr id="7" name="Call title">
            <a:extLst xmlns:a="http://schemas.openxmlformats.org/drawingml/2006/main">
              <a:ext uri="{FF2B5EF4-FFF2-40B4-BE49-F238E27FC236}">
                <a16:creationId xmlns:a16="http://schemas.microsoft.com/office/drawing/2014/main" id="{E9C7400B-C085-41F4-8D30-D6B8E001CEE8}"/>
              </a:ext>
            </a:extLst>
          </p:cNvPr>
          <p:cNvSpPr>
            <a:spLocks xmlns:a="http://schemas.openxmlformats.org/drawingml/2006/main" noGrp="1"/>
          </p:cNvSpPr>
          <p:nvPr/>
        </p:nvSpPr>
        <p:spPr>
          <a:xfrm xmlns:a="http://schemas.openxmlformats.org/drawingml/2006/main">
            <a:off x="190500" y="1028700"/>
            <a:ext cx="281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92936"/>
                </a:solidFill>
                <a:latin typeface="DejaVu Sans"/>
                <a:ea typeface="DejaVu Sans"/>
                <a:cs typeface="DejaVu Sans"/>
              </a:defRPr>
            </a:defPPr>
          </a:lstStyle>
          <a:p xmlns:a="http://schemas.openxmlformats.org/drawingml/2006/main">
            <a:pPr algn="l">
              <a:defRPr sz="1500" b="1">
                <a:solidFill>
                  <a:srgbClr val="192936"/>
                </a:solidFill>
                <a:latin typeface="DejaVu Sans"/>
                <a:ea typeface="DejaVu Sans"/>
                <a:cs typeface="DejaVu Sans"/>
              </a:defRPr>
            </a:pPr>
            <a:r>
              <a:rPr sz="1500" b="1">
                <a:solidFill>
                  <a:srgbClr val="192936"/>
                </a:solidFill>
                <a:latin typeface="DejaVu Sans"/>
                <a:ea typeface="DejaVu Sans"/>
                <a:cs typeface="DejaVu Sans"/>
              </a:rPr>
              <a:t>Predictive Control for Energy Systems</a:t>
            </a:r>
          </a:p>
        </p:txBody>
      </p:sp>
      <p:sp>
        <p:nvSpPr>
          <p:cNvPr id="8" name="Research scope">
            <a:extLst xmlns:a="http://schemas.openxmlformats.org/drawingml/2006/main">
              <a:ext uri="{FF2B5EF4-FFF2-40B4-BE49-F238E27FC236}">
                <a16:creationId xmlns:a16="http://schemas.microsoft.com/office/drawing/2014/main" id="{33808FC2-099D-4BFD-9A18-710FBF00B4F5}"/>
              </a:ext>
            </a:extLst>
          </p:cNvPr>
          <p:cNvSpPr>
            <a:spLocks xmlns:a="http://schemas.openxmlformats.org/drawingml/2006/main" noGrp="1"/>
          </p:cNvSpPr>
          <p:nvPr/>
        </p:nvSpPr>
        <p:spPr>
          <a:xfrm xmlns:a="http://schemas.openxmlformats.org/drawingml/2006/main">
            <a:off x="190500" y="1628775"/>
            <a:ext cx="2819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0">
                <a:solidFill>
                  <a:srgbClr val="52616A"/>
                </a:solidFill>
                <a:latin typeface="DejaVu Sans"/>
                <a:ea typeface="DejaVu Sans"/>
                <a:cs typeface="DejaVu Sans"/>
              </a:defRPr>
            </a:defPPr>
          </a:lstStyle>
          <a:p xmlns:a="http://schemas.openxmlformats.org/drawingml/2006/main">
            <a:pPr algn="l">
              <a:defRPr sz="825" b="0">
                <a:solidFill>
                  <a:srgbClr val="52616A"/>
                </a:solidFill>
                <a:latin typeface="DejaVu Sans"/>
                <a:ea typeface="DejaVu Sans"/>
                <a:cs typeface="DejaVu Sans"/>
              </a:defRPr>
            </a:pPr>
            <a:r>
              <a:rPr sz="825" b="0">
                <a:solidFill>
                  <a:srgbClr val="52616A"/>
                </a:solidFill>
                <a:latin typeface="DejaVu Sans"/>
                <a:ea typeface="DejaVu Sans"/>
                <a:cs typeface="DejaVu Sans"/>
              </a:rPr>
              <a:t>Design a predictive controller for energy management. Study the tradeoff between operating cost and tracking under changing demand.</a:t>
            </a:r>
          </a:p>
        </p:txBody>
      </p:sp>
      <p:sp>
        <p:nvSpPr>
          <p:cNvPr id="9" name="Statistics divider">
            <a:extLst xmlns:a="http://schemas.openxmlformats.org/drawingml/2006/main">
              <a:ext uri="{FF2B5EF4-FFF2-40B4-BE49-F238E27FC236}">
                <a16:creationId xmlns:a16="http://schemas.microsoft.com/office/drawing/2014/main" id="{761E0B5F-D358-4D21-950F-510D14F3DCB1}"/>
              </a:ext>
            </a:extLst>
          </p:cNvPr>
          <p:cNvSpPr>
            <a:spLocks xmlns:a="http://schemas.openxmlformats.org/drawingml/2006/main" noGrp="1"/>
          </p:cNvSpPr>
          <p:nvPr/>
        </p:nvSpPr>
        <p:spPr>
          <a:xfrm xmlns:a="http://schemas.openxmlformats.org/drawingml/2006/main">
            <a:off x="190500" y="216217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0" name="Funding award label">
            <a:extLst xmlns:a="http://schemas.openxmlformats.org/drawingml/2006/main">
              <a:ext uri="{FF2B5EF4-FFF2-40B4-BE49-F238E27FC236}">
                <a16:creationId xmlns:a16="http://schemas.microsoft.com/office/drawing/2014/main" id="{C68BCAA2-3BE3-410C-965F-CA4E940A11F9}"/>
              </a:ext>
            </a:extLst>
          </p:cNvPr>
          <p:cNvSpPr>
            <a:spLocks xmlns:a="http://schemas.openxmlformats.org/drawingml/2006/main" noGrp="1"/>
          </p:cNvSpPr>
          <p:nvPr/>
        </p:nvSpPr>
        <p:spPr>
          <a:xfrm xmlns:a="http://schemas.openxmlformats.org/drawingml/2006/main">
            <a:off x="190500"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FUNDING AWARD</a:t>
            </a:r>
          </a:p>
        </p:txBody>
      </p:sp>
      <p:sp>
        <p:nvSpPr>
          <p:cNvPr id="11" name="Gray cube label">
            <a:extLst xmlns:a="http://schemas.openxmlformats.org/drawingml/2006/main">
              <a:ext uri="{FF2B5EF4-FFF2-40B4-BE49-F238E27FC236}">
                <a16:creationId xmlns:a16="http://schemas.microsoft.com/office/drawing/2014/main" id="{B04FBAE8-31CE-4C2A-ACBB-66F538DB7692}"/>
              </a:ext>
            </a:extLst>
          </p:cNvPr>
          <p:cNvSpPr>
            <a:spLocks xmlns:a="http://schemas.openxmlformats.org/drawingml/2006/main" noGrp="1"/>
          </p:cNvSpPr>
          <p:nvPr/>
        </p:nvSpPr>
        <p:spPr>
          <a:xfrm xmlns:a="http://schemas.openxmlformats.org/drawingml/2006/main">
            <a:off x="1685925"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OUTSIDE / NO-AWARD</a:t>
            </a:r>
          </a:p>
        </p:txBody>
      </p:sp>
      <p:sp>
        <p:nvSpPr>
          <p:cNvPr id="12" name="Funding award value">
            <a:extLst xmlns:a="http://schemas.openxmlformats.org/drawingml/2006/main">
              <a:ext uri="{FF2B5EF4-FFF2-40B4-BE49-F238E27FC236}">
                <a16:creationId xmlns:a16="http://schemas.microsoft.com/office/drawing/2014/main" id="{C719BF54-CC94-4981-BC29-F0E30082F88F}"/>
              </a:ext>
            </a:extLst>
          </p:cNvPr>
          <p:cNvSpPr>
            <a:spLocks xmlns:a="http://schemas.openxmlformats.org/drawingml/2006/main" noGrp="1"/>
          </p:cNvSpPr>
          <p:nvPr/>
        </p:nvSpPr>
        <p:spPr>
          <a:xfrm xmlns:a="http://schemas.openxmlformats.org/drawingml/2006/main">
            <a:off x="190500"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3A714F"/>
                </a:solidFill>
                <a:latin typeface="DejaVu Sans"/>
                <a:ea typeface="DejaVu Sans"/>
                <a:cs typeface="DejaVu Sans"/>
              </a:defRPr>
            </a:defPPr>
          </a:lstStyle>
          <a:p xmlns:a="http://schemas.openxmlformats.org/drawingml/2006/main">
            <a:pPr algn="l">
              <a:defRPr sz="2100" b="1">
                <a:solidFill>
                  <a:srgbClr val="3A714F"/>
                </a:solidFill>
                <a:latin typeface="DejaVu Sans"/>
                <a:ea typeface="DejaVu Sans"/>
                <a:cs typeface="DejaVu Sans"/>
              </a:defRPr>
            </a:pPr>
            <a:r>
              <a:rPr sz="2100" b="1">
                <a:solidFill>
                  <a:srgbClr val="3A714F"/>
                </a:solidFill>
                <a:latin typeface="DejaVu Sans"/>
                <a:ea typeface="DejaVu Sans"/>
                <a:cs typeface="DejaVu Sans"/>
              </a:rPr>
              <a:t>5</a:t>
            </a:r>
          </a:p>
        </p:txBody>
      </p:sp>
      <p:sp>
        <p:nvSpPr>
          <p:cNvPr id="13" name="Funding award unit">
            <a:extLst xmlns:a="http://schemas.openxmlformats.org/drawingml/2006/main">
              <a:ext uri="{FF2B5EF4-FFF2-40B4-BE49-F238E27FC236}">
                <a16:creationId xmlns:a16="http://schemas.microsoft.com/office/drawing/2014/main" id="{D36B69A5-12FE-4223-8469-7B39B4509E1D}"/>
              </a:ext>
            </a:extLst>
          </p:cNvPr>
          <p:cNvSpPr>
            <a:spLocks xmlns:a="http://schemas.openxmlformats.org/drawingml/2006/main" noGrp="1"/>
          </p:cNvSpPr>
          <p:nvPr/>
        </p:nvSpPr>
        <p:spPr>
          <a:xfrm xmlns:a="http://schemas.openxmlformats.org/drawingml/2006/main">
            <a:off x="600075" y="2543175"/>
            <a:ext cx="904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192936"/>
                </a:solidFill>
                <a:latin typeface="DejaVu Sans"/>
                <a:ea typeface="DejaVu Sans"/>
                <a:cs typeface="DejaVu Sans"/>
              </a:defRPr>
            </a:defPPr>
          </a:lstStyle>
          <a:p xmlns:a="http://schemas.openxmlformats.org/drawingml/2006/main">
            <a:pPr algn="l">
              <a:defRPr sz="900" b="1">
                <a:solidFill>
                  <a:srgbClr val="192936"/>
                </a:solidFill>
                <a:latin typeface="DejaVu Sans"/>
                <a:ea typeface="DejaVu Sans"/>
                <a:cs typeface="DejaVu Sans"/>
              </a:defRPr>
            </a:pPr>
            <a:r>
              <a:rPr sz="900" b="1">
                <a:solidFill>
                  <a:srgbClr val="192936"/>
                </a:solidFill>
                <a:latin typeface="DejaVu Sans"/>
                <a:ea typeface="DejaVu Sans"/>
                <a:cs typeface="DejaVu Sans"/>
              </a:rPr>
              <a:t>Funding</a:t>
            </a:r>
          </a:p>
        </p:txBody>
      </p:sp>
      <p:sp>
        <p:nvSpPr>
          <p:cNvPr id="14" name="Gray cube value">
            <a:extLst xmlns:a="http://schemas.openxmlformats.org/drawingml/2006/main">
              <a:ext uri="{FF2B5EF4-FFF2-40B4-BE49-F238E27FC236}">
                <a16:creationId xmlns:a16="http://schemas.microsoft.com/office/drawing/2014/main" id="{4DF4F672-AE82-4609-A23F-453DF413BE23}"/>
              </a:ext>
            </a:extLst>
          </p:cNvPr>
          <p:cNvSpPr>
            <a:spLocks xmlns:a="http://schemas.openxmlformats.org/drawingml/2006/main" noGrp="1"/>
          </p:cNvSpPr>
          <p:nvPr/>
        </p:nvSpPr>
        <p:spPr>
          <a:xfrm xmlns:a="http://schemas.openxmlformats.org/drawingml/2006/main">
            <a:off x="1685925"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2616A"/>
                </a:solidFill>
                <a:latin typeface="DejaVu Sans"/>
                <a:ea typeface="DejaVu Sans"/>
                <a:cs typeface="DejaVu Sans"/>
              </a:defRPr>
            </a:defPPr>
          </a:lstStyle>
          <a:p xmlns:a="http://schemas.openxmlformats.org/drawingml/2006/main">
            <a:pPr algn="l">
              <a:defRPr sz="2100" b="1">
                <a:solidFill>
                  <a:srgbClr val="52616A"/>
                </a:solidFill>
                <a:latin typeface="DejaVu Sans"/>
                <a:ea typeface="DejaVu Sans"/>
                <a:cs typeface="DejaVu Sans"/>
              </a:defRPr>
            </a:pPr>
            <a:r>
              <a:rPr sz="2100" b="1">
                <a:solidFill>
                  <a:srgbClr val="52616A"/>
                </a:solidFill>
                <a:latin typeface="DejaVu Sans"/>
                <a:ea typeface="DejaVu Sans"/>
                <a:cs typeface="DejaVu Sans"/>
              </a:rPr>
              <a:t>4</a:t>
            </a:r>
          </a:p>
        </p:txBody>
      </p:sp>
      <p:sp>
        <p:nvSpPr>
          <p:cNvPr id="15" name="Gray cube unit">
            <a:extLst xmlns:a="http://schemas.openxmlformats.org/drawingml/2006/main">
              <a:ext uri="{FF2B5EF4-FFF2-40B4-BE49-F238E27FC236}">
                <a16:creationId xmlns:a16="http://schemas.microsoft.com/office/drawing/2014/main" id="{978F0340-2129-41C2-9473-D5D2CA8C9A42}"/>
              </a:ext>
            </a:extLst>
          </p:cNvPr>
          <p:cNvSpPr>
            <a:spLocks xmlns:a="http://schemas.openxmlformats.org/drawingml/2006/main" noGrp="1"/>
          </p:cNvSpPr>
          <p:nvPr/>
        </p:nvSpPr>
        <p:spPr>
          <a:xfrm xmlns:a="http://schemas.openxmlformats.org/drawingml/2006/main">
            <a:off x="2095500" y="2543175"/>
            <a:ext cx="914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1">
                <a:solidFill>
                  <a:srgbClr val="52616A"/>
                </a:solidFill>
                <a:latin typeface="DejaVu Sans"/>
                <a:ea typeface="DejaVu Sans"/>
                <a:cs typeface="DejaVu Sans"/>
              </a:defRPr>
            </a:defPPr>
          </a:lstStyle>
          <a:p xmlns:a="http://schemas.openxmlformats.org/drawingml/2006/main">
            <a:pPr algn="l">
              <a:defRPr sz="863" b="1">
                <a:solidFill>
                  <a:srgbClr val="52616A"/>
                </a:solidFill>
                <a:latin typeface="DejaVu Sans"/>
                <a:ea typeface="DejaVu Sans"/>
                <a:cs typeface="DejaVu Sans"/>
              </a:defRPr>
            </a:pPr>
            <a:r>
              <a:rPr sz="863" b="1">
                <a:solidFill>
                  <a:srgbClr val="52616A"/>
                </a:solidFill>
                <a:latin typeface="DejaVu Sans"/>
                <a:ea typeface="DejaVu Sans"/>
                <a:cs typeface="DejaVu Sans"/>
              </a:rPr>
              <a:t>gray cubes</a:t>
            </a:r>
          </a:p>
        </p:txBody>
      </p:sp>
      <p:sp>
        <p:nvSpPr>
          <p:cNvPr id="16" name="Eligibility divider">
            <a:extLst xmlns:a="http://schemas.openxmlformats.org/drawingml/2006/main">
              <a:ext uri="{FF2B5EF4-FFF2-40B4-BE49-F238E27FC236}">
                <a16:creationId xmlns:a16="http://schemas.microsoft.com/office/drawing/2014/main" id="{6A12BCC1-37D1-47C9-998D-57EAC48AEBA1}"/>
              </a:ext>
            </a:extLst>
          </p:cNvPr>
          <p:cNvSpPr>
            <a:spLocks xmlns:a="http://schemas.openxmlformats.org/drawingml/2006/main" noGrp="1"/>
          </p:cNvSpPr>
          <p:nvPr/>
        </p:nvSpPr>
        <p:spPr>
          <a:xfrm xmlns:a="http://schemas.openxmlformats.org/drawingml/2006/main">
            <a:off x="190500" y="282892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7" name="Without certification heading">
            <a:extLst xmlns:a="http://schemas.openxmlformats.org/drawingml/2006/main">
              <a:ext uri="{FF2B5EF4-FFF2-40B4-BE49-F238E27FC236}">
                <a16:creationId xmlns:a16="http://schemas.microsoft.com/office/drawing/2014/main" id="{A178B81C-01BC-4378-B86A-7404AA2CBF87}"/>
              </a:ext>
            </a:extLst>
          </p:cNvPr>
          <p:cNvSpPr>
            <a:spLocks xmlns:a="http://schemas.openxmlformats.org/drawingml/2006/main" noGrp="1"/>
          </p:cNvSpPr>
          <p:nvPr/>
        </p:nvSpPr>
        <p:spPr>
          <a:xfrm xmlns:a="http://schemas.openxmlformats.org/drawingml/2006/main">
            <a:off x="190500" y="2943225"/>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1">
                <a:solidFill>
                  <a:srgbClr val="3A714F"/>
                </a:solidFill>
                <a:latin typeface="DejaVu Sans"/>
                <a:ea typeface="DejaVu Sans"/>
                <a:cs typeface="DejaVu Sans"/>
              </a:defRPr>
            </a:defPPr>
          </a:lstStyle>
          <a:p xmlns:a="http://schemas.openxmlformats.org/drawingml/2006/main">
            <a:pPr algn="l">
              <a:defRPr sz="825" b="1">
                <a:solidFill>
                  <a:srgbClr val="3A714F"/>
                </a:solidFill>
                <a:latin typeface="DejaVu Sans"/>
                <a:ea typeface="DejaVu Sans"/>
                <a:cs typeface="DejaVu Sans"/>
              </a:defRPr>
            </a:pPr>
            <a:r>
              <a:rPr sz="825" b="1">
                <a:solidFill>
                  <a:srgbClr val="3A714F"/>
                </a:solidFill>
                <a:latin typeface="DejaVu Sans"/>
                <a:ea typeface="DejaVu Sans"/>
                <a:cs typeface="DejaVu Sans"/>
              </a:rPr>
              <a:t>No Certified Expertise in Optimization / MPC</a:t>
            </a:r>
          </a:p>
        </p:txBody>
      </p:sp>
      <p:sp>
        <p:nvSpPr>
          <p:cNvPr id="18" name="Without certification rule">
            <a:extLst xmlns:a="http://schemas.openxmlformats.org/drawingml/2006/main">
              <a:ext uri="{FF2B5EF4-FFF2-40B4-BE49-F238E27FC236}">
                <a16:creationId xmlns:a16="http://schemas.microsoft.com/office/drawing/2014/main" id="{ACB815CA-4A5A-4E63-9C23-993AB7128470}"/>
              </a:ext>
            </a:extLst>
          </p:cNvPr>
          <p:cNvSpPr>
            <a:spLocks xmlns:a="http://schemas.openxmlformats.org/drawingml/2006/main" noGrp="1"/>
          </p:cNvSpPr>
          <p:nvPr/>
        </p:nvSpPr>
        <p:spPr>
          <a:xfrm xmlns:a="http://schemas.openxmlformats.org/drawingml/2006/main">
            <a:off x="190500" y="3152775"/>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need at least 1 Optimization / MPC Recent Work token to apply. Only Optimization / MPC tokens count.</a:t>
            </a:r>
          </a:p>
        </p:txBody>
      </p:sp>
      <p:sp>
        <p:nvSpPr>
          <p:cNvPr id="19" name="With certification heading">
            <a:extLst xmlns:a="http://schemas.openxmlformats.org/drawingml/2006/main">
              <a:ext uri="{FF2B5EF4-FFF2-40B4-BE49-F238E27FC236}">
                <a16:creationId xmlns:a16="http://schemas.microsoft.com/office/drawing/2014/main" id="{06EB26B0-D3CF-4AEA-B434-46ABF1F621E0}"/>
              </a:ext>
            </a:extLst>
          </p:cNvPr>
          <p:cNvSpPr>
            <a:spLocks xmlns:a="http://schemas.openxmlformats.org/drawingml/2006/main" noGrp="1"/>
          </p:cNvSpPr>
          <p:nvPr/>
        </p:nvSpPr>
        <p:spPr>
          <a:xfrm xmlns:a="http://schemas.openxmlformats.org/drawingml/2006/main">
            <a:off x="190500" y="3619500"/>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3A714F"/>
                </a:solidFill>
                <a:latin typeface="DejaVu Sans"/>
                <a:ea typeface="DejaVu Sans"/>
                <a:cs typeface="DejaVu Sans"/>
              </a:defRPr>
            </a:defPPr>
          </a:lstStyle>
          <a:p xmlns:a="http://schemas.openxmlformats.org/drawingml/2006/main">
            <a:pPr algn="l">
              <a:defRPr sz="788" b="1">
                <a:solidFill>
                  <a:srgbClr val="3A714F"/>
                </a:solidFill>
                <a:latin typeface="DejaVu Sans"/>
                <a:ea typeface="DejaVu Sans"/>
                <a:cs typeface="DejaVu Sans"/>
              </a:defRPr>
            </a:pPr>
            <a:r>
              <a:rPr sz="788" b="1">
                <a:solidFill>
                  <a:srgbClr val="3A714F"/>
                </a:solidFill>
                <a:latin typeface="DejaVu Sans"/>
                <a:ea typeface="DejaVu Sans"/>
                <a:cs typeface="DejaVu Sans"/>
              </a:rPr>
              <a:t>With Certified Expertise in Optimization / MPC</a:t>
            </a:r>
          </a:p>
        </p:txBody>
      </p:sp>
      <p:sp>
        <p:nvSpPr>
          <p:cNvPr id="20" name="With certification rule">
            <a:extLst xmlns:a="http://schemas.openxmlformats.org/drawingml/2006/main">
              <a:ext uri="{FF2B5EF4-FFF2-40B4-BE49-F238E27FC236}">
                <a16:creationId xmlns:a16="http://schemas.microsoft.com/office/drawing/2014/main" id="{88CCCAC8-DF74-4BD7-8DD1-77430F49B497}"/>
              </a:ext>
            </a:extLst>
          </p:cNvPr>
          <p:cNvSpPr>
            <a:spLocks xmlns:a="http://schemas.openxmlformats.org/drawingml/2006/main" noGrp="1"/>
          </p:cNvSpPr>
          <p:nvPr/>
        </p:nvSpPr>
        <p:spPr>
          <a:xfrm xmlns:a="http://schemas.openxmlformats.org/drawingml/2006/main">
            <a:off x="190500" y="3829050"/>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may apply without Recent Work. Recent Work from ANY topic can count. Your expertise badge is permanent.</a:t>
            </a:r>
          </a:p>
        </p:txBody>
      </p:sp>
      <p:sp>
        <p:nvSpPr>
          <p:cNvPr id="21" name="Footer divider">
            <a:extLst xmlns:a="http://schemas.openxmlformats.org/drawingml/2006/main">
              <a:ext uri="{FF2B5EF4-FFF2-40B4-BE49-F238E27FC236}">
                <a16:creationId xmlns:a16="http://schemas.microsoft.com/office/drawing/2014/main" id="{A5A13F6F-2A80-4906-8205-AA6803808ED8}"/>
              </a:ext>
            </a:extLst>
          </p:cNvPr>
          <p:cNvSpPr>
            <a:spLocks xmlns:a="http://schemas.openxmlformats.org/drawingml/2006/main" noGrp="1"/>
          </p:cNvSpPr>
          <p:nvPr/>
        </p:nvSpPr>
        <p:spPr>
          <a:xfrm xmlns:a="http://schemas.openxmlformats.org/drawingml/2006/main">
            <a:off x="190500" y="4286250"/>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22" name="Recent Work cap">
            <a:extLst xmlns:a="http://schemas.openxmlformats.org/drawingml/2006/main">
              <a:ext uri="{FF2B5EF4-FFF2-40B4-BE49-F238E27FC236}">
                <a16:creationId xmlns:a16="http://schemas.microsoft.com/office/drawing/2014/main" id="{84501CE6-F7ED-4C5E-978F-921DB539E3B9}"/>
              </a:ext>
            </a:extLst>
          </p:cNvPr>
          <p:cNvSpPr>
            <a:spLocks xmlns:a="http://schemas.openxmlformats.org/drawingml/2006/main" noGrp="1"/>
          </p:cNvSpPr>
          <p:nvPr/>
        </p:nvSpPr>
        <p:spPr>
          <a:xfrm xmlns:a="http://schemas.openxmlformats.org/drawingml/2006/main">
            <a:off x="190500" y="4371975"/>
            <a:ext cx="28194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192936"/>
                </a:solidFill>
                <a:latin typeface="DejaVu Sans"/>
                <a:ea typeface="DejaVu Sans"/>
                <a:cs typeface="DejaVu Sans"/>
              </a:defRPr>
            </a:defPPr>
          </a:lstStyle>
          <a:p xmlns:a="http://schemas.openxmlformats.org/drawingml/2006/main">
            <a:pPr algn="l">
              <a:defRPr sz="788" b="1">
                <a:solidFill>
                  <a:srgbClr val="192936"/>
                </a:solidFill>
                <a:latin typeface="DejaVu Sans"/>
                <a:ea typeface="DejaVu Sans"/>
                <a:cs typeface="DejaVu Sans"/>
              </a:defRPr>
            </a:pPr>
            <a:r>
              <a:rPr sz="788" b="1">
                <a:solidFill>
                  <a:srgbClr val="192936"/>
                </a:solidFill>
                <a:latin typeface="DejaVu Sans"/>
                <a:ea typeface="DejaVu Sans"/>
                <a:cs typeface="DejaVu Sans"/>
              </a:rPr>
              <a:t>Count at most 3 Recent Work tokens.</a:t>
            </a:r>
          </a:p>
        </p:txBody>
      </p:sp>
    </p:spTree>
    <p:extLst>
      <p:ext uri="{BB962C8B-B14F-4D97-AF65-F5344CB8AC3E}">
        <p14:creationId xmlns:p14="http://schemas.microsoft.com/office/powerpoint/2010/main" val="214001907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Card border">
            <a:extLst xmlns:a="http://schemas.openxmlformats.org/drawingml/2006/main">
              <a:ext uri="{FF2B5EF4-FFF2-40B4-BE49-F238E27FC236}">
                <a16:creationId xmlns:a16="http://schemas.microsoft.com/office/drawing/2014/main" id="{0BFAA66E-FF72-4B76-B6DA-C6E130D4AC95}"/>
              </a:ext>
            </a:extLst>
          </p:cNvPr>
          <p:cNvSpPr>
            <a:spLocks xmlns:a="http://schemas.openxmlformats.org/drawingml/2006/main" noGrp="1"/>
          </p:cNvSpPr>
          <p:nvPr/>
        </p:nvSpPr>
        <p:spPr>
          <a:xfrm xmlns:a="http://schemas.openxmlformats.org/drawingml/2006/main">
            <a:off x="9525" y="9525"/>
            <a:ext cx="3181350" cy="4552950"/>
          </a:xfrm>
          <a:prstGeom xmlns:a="http://schemas.openxmlformats.org/drawingml/2006/main" prst="rect">
            <a:avLst/>
          </a:prstGeom>
          <a:noFill xmlns:a="http://schemas.openxmlformats.org/drawingml/2006/main"/>
          <a:ln xmlns:a="http://schemas.openxmlformats.org/drawingml/2006/main" w="9525">
            <a:solidFill>
              <a:srgbClr val="D0D5D8"/>
            </a:solidFill>
          </a:ln>
        </p:spPr>
      </p:sp>
      <p:sp>
        <p:nvSpPr>
          <p:cNvPr id="2" name="Topic color band">
            <a:extLst xmlns:a="http://schemas.openxmlformats.org/drawingml/2006/main">
              <a:ext uri="{FF2B5EF4-FFF2-40B4-BE49-F238E27FC236}">
                <a16:creationId xmlns:a16="http://schemas.microsoft.com/office/drawing/2014/main" id="{E11A9028-48DC-452B-B530-560B8596CF48}"/>
              </a:ext>
            </a:extLst>
          </p:cNvPr>
          <p:cNvSpPr>
            <a:spLocks xmlns:a="http://schemas.openxmlformats.org/drawingml/2006/main" noGrp="1"/>
          </p:cNvSpPr>
          <p:nvPr/>
        </p:nvSpPr>
        <p:spPr>
          <a:xfrm xmlns:a="http://schemas.openxmlformats.org/drawingml/2006/main">
            <a:off x="9525" y="9525"/>
            <a:ext cx="3181350" cy="400050"/>
          </a:xfrm>
          <a:prstGeom xmlns:a="http://schemas.openxmlformats.org/drawingml/2006/main" prst="rect">
            <a:avLst/>
          </a:prstGeom>
          <a:solidFill xmlns:a="http://schemas.openxmlformats.org/drawingml/2006/main">
            <a:srgbClr val="3A714F"/>
          </a:solidFill>
          <a:ln xmlns:a="http://schemas.openxmlformats.org/drawingml/2006/main" w="0">
            <a:noFill/>
          </a:ln>
        </p:spPr>
      </p:sp>
      <p:sp>
        <p:nvSpPr>
          <p:cNvPr id="3" name="Game name">
            <a:extLst xmlns:a="http://schemas.openxmlformats.org/drawingml/2006/main">
              <a:ext uri="{FF2B5EF4-FFF2-40B4-BE49-F238E27FC236}">
                <a16:creationId xmlns:a16="http://schemas.microsoft.com/office/drawing/2014/main" id="{53FBF620-E06A-4532-A14F-A8B4E77321A9}"/>
              </a:ext>
            </a:extLst>
          </p:cNvPr>
          <p:cNvSpPr>
            <a:spLocks xmlns:a="http://schemas.openxmlformats.org/drawingml/2006/main" noGrp="1"/>
          </p:cNvSpPr>
          <p:nvPr/>
        </p:nvSpPr>
        <p:spPr>
          <a:xfrm xmlns:a="http://schemas.openxmlformats.org/drawingml/2006/main">
            <a:off x="190500" y="133350"/>
            <a:ext cx="1943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FFFFFF"/>
                </a:solidFill>
                <a:latin typeface="DejaVu Sans"/>
                <a:ea typeface="DejaVu Sans"/>
                <a:cs typeface="DejaVu Sans"/>
              </a:defRPr>
            </a:defPPr>
          </a:lstStyle>
          <a:p xmlns:a="http://schemas.openxmlformats.org/drawingml/2006/main">
            <a:pPr algn="l">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GRANT CONTROL</a:t>
            </a:r>
          </a:p>
        </p:txBody>
      </p:sp>
      <p:sp>
        <p:nvSpPr>
          <p:cNvPr id="4" name="Card identifier">
            <a:extLst xmlns:a="http://schemas.openxmlformats.org/drawingml/2006/main">
              <a:ext uri="{FF2B5EF4-FFF2-40B4-BE49-F238E27FC236}">
                <a16:creationId xmlns:a16="http://schemas.microsoft.com/office/drawing/2014/main" id="{DA8BF2CF-089D-4CE5-B23C-B48DCBB9595E}"/>
              </a:ext>
            </a:extLst>
          </p:cNvPr>
          <p:cNvSpPr>
            <a:spLocks xmlns:a="http://schemas.openxmlformats.org/drawingml/2006/main" noGrp="1"/>
          </p:cNvSpPr>
          <p:nvPr/>
        </p:nvSpPr>
        <p:spPr>
          <a:xfrm xmlns:a="http://schemas.openxmlformats.org/drawingml/2006/main">
            <a:off x="2371725" y="142875"/>
            <a:ext cx="6381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788" b="1">
                <a:solidFill>
                  <a:srgbClr val="FFFFFF"/>
                </a:solidFill>
                <a:latin typeface="DejaVu Sans"/>
                <a:ea typeface="DejaVu Sans"/>
                <a:cs typeface="DejaVu Sans"/>
              </a:defRPr>
            </a:defPPr>
          </a:lstStyle>
          <a:p xmlns:a="http://schemas.openxmlformats.org/drawingml/2006/main">
            <a:pPr algn="r">
              <a:defRPr sz="788" b="1">
                <a:solidFill>
                  <a:srgbClr val="FFFFFF"/>
                </a:solidFill>
                <a:latin typeface="DejaVu Sans"/>
                <a:ea typeface="DejaVu Sans"/>
                <a:cs typeface="DejaVu Sans"/>
              </a:defRPr>
            </a:pPr>
            <a:r>
              <a:rPr sz="788" b="1">
                <a:solidFill>
                  <a:srgbClr val="FFFFFF"/>
                </a:solidFill>
                <a:latin typeface="DejaVu Sans"/>
                <a:ea typeface="DejaVu Sans"/>
                <a:cs typeface="DejaVu Sans"/>
              </a:rPr>
              <a:t>MPC-03</a:t>
            </a:r>
          </a:p>
        </p:txBody>
      </p:sp>
      <p:sp>
        <p:nvSpPr>
          <p:cNvPr id="5" name="Card category">
            <a:extLst xmlns:a="http://schemas.openxmlformats.org/drawingml/2006/main">
              <a:ext uri="{FF2B5EF4-FFF2-40B4-BE49-F238E27FC236}">
                <a16:creationId xmlns:a16="http://schemas.microsoft.com/office/drawing/2014/main" id="{6FAD61FF-B565-43DF-A3AB-1D31ECE83606}"/>
              </a:ext>
            </a:extLst>
          </p:cNvPr>
          <p:cNvSpPr>
            <a:spLocks xmlns:a="http://schemas.openxmlformats.org/drawingml/2006/main" noGrp="1"/>
          </p:cNvSpPr>
          <p:nvPr/>
        </p:nvSpPr>
        <p:spPr>
          <a:xfrm xmlns:a="http://schemas.openxmlformats.org/drawingml/2006/main">
            <a:off x="190500" y="523875"/>
            <a:ext cx="2800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3A714F"/>
                </a:solidFill>
                <a:latin typeface="DejaVu Sans"/>
                <a:ea typeface="DejaVu Sans"/>
                <a:cs typeface="DejaVu Sans"/>
              </a:defRPr>
            </a:defPPr>
          </a:lstStyle>
          <a:p xmlns:a="http://schemas.openxmlformats.org/drawingml/2006/main">
            <a:pPr algn="l">
              <a:defRPr sz="788" b="1">
                <a:solidFill>
                  <a:srgbClr val="3A714F"/>
                </a:solidFill>
                <a:latin typeface="DejaVu Sans"/>
                <a:ea typeface="DejaVu Sans"/>
                <a:cs typeface="DejaVu Sans"/>
              </a:defRPr>
            </a:pPr>
            <a:r>
              <a:rPr sz="788" b="1">
                <a:solidFill>
                  <a:srgbClr val="3A714F"/>
                </a:solidFill>
                <a:latin typeface="DejaVu Sans"/>
                <a:ea typeface="DejaVu Sans"/>
                <a:cs typeface="DejaVu Sans"/>
              </a:rPr>
              <a:t>FUNDING CALL</a:t>
            </a:r>
          </a:p>
        </p:txBody>
      </p:sp>
      <p:sp>
        <p:nvSpPr>
          <p:cNvPr id="6" name="Primary topic">
            <a:extLst xmlns:a="http://schemas.openxmlformats.org/drawingml/2006/main">
              <a:ext uri="{FF2B5EF4-FFF2-40B4-BE49-F238E27FC236}">
                <a16:creationId xmlns:a16="http://schemas.microsoft.com/office/drawing/2014/main" id="{D386157E-5636-40F7-ACF3-437A77B53568}"/>
              </a:ext>
            </a:extLst>
          </p:cNvPr>
          <p:cNvSpPr>
            <a:spLocks xmlns:a="http://schemas.openxmlformats.org/drawingml/2006/main" noGrp="1"/>
          </p:cNvSpPr>
          <p:nvPr/>
        </p:nvSpPr>
        <p:spPr>
          <a:xfrm xmlns:a="http://schemas.openxmlformats.org/drawingml/2006/main">
            <a:off x="190500" y="733425"/>
            <a:ext cx="2819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3A714F"/>
                </a:solidFill>
                <a:latin typeface="DejaVu Sans"/>
                <a:ea typeface="DejaVu Sans"/>
                <a:cs typeface="DejaVu Sans"/>
              </a:defRPr>
            </a:defPPr>
          </a:lstStyle>
          <a:p xmlns:a="http://schemas.openxmlformats.org/drawingml/2006/main">
            <a:pPr algn="l">
              <a:defRPr sz="975" b="1">
                <a:solidFill>
                  <a:srgbClr val="3A714F"/>
                </a:solidFill>
                <a:latin typeface="DejaVu Sans"/>
                <a:ea typeface="DejaVu Sans"/>
                <a:cs typeface="DejaVu Sans"/>
              </a:defRPr>
            </a:pPr>
            <a:r>
              <a:rPr sz="975" b="1">
                <a:solidFill>
                  <a:srgbClr val="3A714F"/>
                </a:solidFill>
                <a:latin typeface="DejaVu Sans"/>
                <a:ea typeface="DejaVu Sans"/>
                <a:cs typeface="DejaVu Sans"/>
              </a:rPr>
              <a:t>Optimization / MPC</a:t>
            </a:r>
          </a:p>
        </p:txBody>
      </p:sp>
      <p:sp>
        <p:nvSpPr>
          <p:cNvPr id="7" name="Call title">
            <a:extLst xmlns:a="http://schemas.openxmlformats.org/drawingml/2006/main">
              <a:ext uri="{FF2B5EF4-FFF2-40B4-BE49-F238E27FC236}">
                <a16:creationId xmlns:a16="http://schemas.microsoft.com/office/drawing/2014/main" id="{AB38CE46-60D5-489E-AD6B-EDDDCC66D33B}"/>
              </a:ext>
            </a:extLst>
          </p:cNvPr>
          <p:cNvSpPr>
            <a:spLocks xmlns:a="http://schemas.openxmlformats.org/drawingml/2006/main" noGrp="1"/>
          </p:cNvSpPr>
          <p:nvPr/>
        </p:nvSpPr>
        <p:spPr>
          <a:xfrm xmlns:a="http://schemas.openxmlformats.org/drawingml/2006/main">
            <a:off x="190500" y="1028700"/>
            <a:ext cx="281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92936"/>
                </a:solidFill>
                <a:latin typeface="DejaVu Sans"/>
                <a:ea typeface="DejaVu Sans"/>
                <a:cs typeface="DejaVu Sans"/>
              </a:defRPr>
            </a:defPPr>
          </a:lstStyle>
          <a:p xmlns:a="http://schemas.openxmlformats.org/drawingml/2006/main">
            <a:pPr algn="l">
              <a:defRPr sz="1500" b="1">
                <a:solidFill>
                  <a:srgbClr val="192936"/>
                </a:solidFill>
                <a:latin typeface="DejaVu Sans"/>
                <a:ea typeface="DejaVu Sans"/>
                <a:cs typeface="DejaVu Sans"/>
              </a:defRPr>
            </a:pPr>
            <a:r>
              <a:rPr sz="1500" b="1">
                <a:solidFill>
                  <a:srgbClr val="192936"/>
                </a:solidFill>
                <a:latin typeface="DejaVu Sans"/>
                <a:ea typeface="DejaVu Sans"/>
                <a:cs typeface="DejaVu Sans"/>
              </a:rPr>
              <a:t>Predictive Control With Safety Guarantees</a:t>
            </a:r>
          </a:p>
        </p:txBody>
      </p:sp>
      <p:sp>
        <p:nvSpPr>
          <p:cNvPr id="8" name="Research scope">
            <a:extLst xmlns:a="http://schemas.openxmlformats.org/drawingml/2006/main">
              <a:ext uri="{FF2B5EF4-FFF2-40B4-BE49-F238E27FC236}">
                <a16:creationId xmlns:a16="http://schemas.microsoft.com/office/drawing/2014/main" id="{72EE4143-6238-442A-9FA8-AC06281CDF9A}"/>
              </a:ext>
            </a:extLst>
          </p:cNvPr>
          <p:cNvSpPr>
            <a:spLocks xmlns:a="http://schemas.openxmlformats.org/drawingml/2006/main" noGrp="1"/>
          </p:cNvSpPr>
          <p:nvPr/>
        </p:nvSpPr>
        <p:spPr>
          <a:xfrm xmlns:a="http://schemas.openxmlformats.org/drawingml/2006/main">
            <a:off x="190500" y="1628775"/>
            <a:ext cx="2819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0">
                <a:solidFill>
                  <a:srgbClr val="52616A"/>
                </a:solidFill>
                <a:latin typeface="DejaVu Sans"/>
                <a:ea typeface="DejaVu Sans"/>
                <a:cs typeface="DejaVu Sans"/>
              </a:defRPr>
            </a:defPPr>
          </a:lstStyle>
          <a:p xmlns:a="http://schemas.openxmlformats.org/drawingml/2006/main">
            <a:pPr algn="l">
              <a:defRPr sz="825" b="0">
                <a:solidFill>
                  <a:srgbClr val="52616A"/>
                </a:solidFill>
                <a:latin typeface="DejaVu Sans"/>
                <a:ea typeface="DejaVu Sans"/>
                <a:cs typeface="DejaVu Sans"/>
              </a:defRPr>
            </a:pPr>
            <a:r>
              <a:rPr sz="825" b="0">
                <a:solidFill>
                  <a:srgbClr val="52616A"/>
                </a:solidFill>
                <a:latin typeface="DejaVu Sans"/>
                <a:ea typeface="DejaVu Sans"/>
                <a:cs typeface="DejaVu Sans"/>
              </a:rPr>
              <a:t>Develop MPC with explicit feasibility and safety arguments. Investigate terminal conditions or robust constraints that support continued operation.</a:t>
            </a:r>
          </a:p>
        </p:txBody>
      </p:sp>
      <p:sp>
        <p:nvSpPr>
          <p:cNvPr id="9" name="Statistics divider">
            <a:extLst xmlns:a="http://schemas.openxmlformats.org/drawingml/2006/main">
              <a:ext uri="{FF2B5EF4-FFF2-40B4-BE49-F238E27FC236}">
                <a16:creationId xmlns:a16="http://schemas.microsoft.com/office/drawing/2014/main" id="{F25C701E-7BB9-46C3-AEA6-9545C9114934}"/>
              </a:ext>
            </a:extLst>
          </p:cNvPr>
          <p:cNvSpPr>
            <a:spLocks xmlns:a="http://schemas.openxmlformats.org/drawingml/2006/main" noGrp="1"/>
          </p:cNvSpPr>
          <p:nvPr/>
        </p:nvSpPr>
        <p:spPr>
          <a:xfrm xmlns:a="http://schemas.openxmlformats.org/drawingml/2006/main">
            <a:off x="190500" y="216217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0" name="Funding award label">
            <a:extLst xmlns:a="http://schemas.openxmlformats.org/drawingml/2006/main">
              <a:ext uri="{FF2B5EF4-FFF2-40B4-BE49-F238E27FC236}">
                <a16:creationId xmlns:a16="http://schemas.microsoft.com/office/drawing/2014/main" id="{8B224DA4-EB5C-4FB1-8AD3-B2F9862012C3}"/>
              </a:ext>
            </a:extLst>
          </p:cNvPr>
          <p:cNvSpPr>
            <a:spLocks xmlns:a="http://schemas.openxmlformats.org/drawingml/2006/main" noGrp="1"/>
          </p:cNvSpPr>
          <p:nvPr/>
        </p:nvSpPr>
        <p:spPr>
          <a:xfrm xmlns:a="http://schemas.openxmlformats.org/drawingml/2006/main">
            <a:off x="190500"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FUNDING AWARD</a:t>
            </a:r>
          </a:p>
        </p:txBody>
      </p:sp>
      <p:sp>
        <p:nvSpPr>
          <p:cNvPr id="11" name="Gray cube label">
            <a:extLst xmlns:a="http://schemas.openxmlformats.org/drawingml/2006/main">
              <a:ext uri="{FF2B5EF4-FFF2-40B4-BE49-F238E27FC236}">
                <a16:creationId xmlns:a16="http://schemas.microsoft.com/office/drawing/2014/main" id="{0C090A9B-AD04-45F5-AF3D-2360617A5BFC}"/>
              </a:ext>
            </a:extLst>
          </p:cNvPr>
          <p:cNvSpPr>
            <a:spLocks xmlns:a="http://schemas.openxmlformats.org/drawingml/2006/main" noGrp="1"/>
          </p:cNvSpPr>
          <p:nvPr/>
        </p:nvSpPr>
        <p:spPr>
          <a:xfrm xmlns:a="http://schemas.openxmlformats.org/drawingml/2006/main">
            <a:off x="1685925"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OUTSIDE / NO-AWARD</a:t>
            </a:r>
          </a:p>
        </p:txBody>
      </p:sp>
      <p:sp>
        <p:nvSpPr>
          <p:cNvPr id="12" name="Funding award value">
            <a:extLst xmlns:a="http://schemas.openxmlformats.org/drawingml/2006/main">
              <a:ext uri="{FF2B5EF4-FFF2-40B4-BE49-F238E27FC236}">
                <a16:creationId xmlns:a16="http://schemas.microsoft.com/office/drawing/2014/main" id="{3153D169-58D0-4E1D-8709-D75430058220}"/>
              </a:ext>
            </a:extLst>
          </p:cNvPr>
          <p:cNvSpPr>
            <a:spLocks xmlns:a="http://schemas.openxmlformats.org/drawingml/2006/main" noGrp="1"/>
          </p:cNvSpPr>
          <p:nvPr/>
        </p:nvSpPr>
        <p:spPr>
          <a:xfrm xmlns:a="http://schemas.openxmlformats.org/drawingml/2006/main">
            <a:off x="190500"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3A714F"/>
                </a:solidFill>
                <a:latin typeface="DejaVu Sans"/>
                <a:ea typeface="DejaVu Sans"/>
                <a:cs typeface="DejaVu Sans"/>
              </a:defRPr>
            </a:defPPr>
          </a:lstStyle>
          <a:p xmlns:a="http://schemas.openxmlformats.org/drawingml/2006/main">
            <a:pPr algn="l">
              <a:defRPr sz="2100" b="1">
                <a:solidFill>
                  <a:srgbClr val="3A714F"/>
                </a:solidFill>
                <a:latin typeface="DejaVu Sans"/>
                <a:ea typeface="DejaVu Sans"/>
                <a:cs typeface="DejaVu Sans"/>
              </a:defRPr>
            </a:pPr>
            <a:r>
              <a:rPr sz="2100" b="1">
                <a:solidFill>
                  <a:srgbClr val="3A714F"/>
                </a:solidFill>
                <a:latin typeface="DejaVu Sans"/>
                <a:ea typeface="DejaVu Sans"/>
                <a:cs typeface="DejaVu Sans"/>
              </a:rPr>
              <a:t>6</a:t>
            </a:r>
          </a:p>
        </p:txBody>
      </p:sp>
      <p:sp>
        <p:nvSpPr>
          <p:cNvPr id="13" name="Funding award unit">
            <a:extLst xmlns:a="http://schemas.openxmlformats.org/drawingml/2006/main">
              <a:ext uri="{FF2B5EF4-FFF2-40B4-BE49-F238E27FC236}">
                <a16:creationId xmlns:a16="http://schemas.microsoft.com/office/drawing/2014/main" id="{A4365344-D9D8-4F84-AFB8-8CA27538ADDF}"/>
              </a:ext>
            </a:extLst>
          </p:cNvPr>
          <p:cNvSpPr>
            <a:spLocks xmlns:a="http://schemas.openxmlformats.org/drawingml/2006/main" noGrp="1"/>
          </p:cNvSpPr>
          <p:nvPr/>
        </p:nvSpPr>
        <p:spPr>
          <a:xfrm xmlns:a="http://schemas.openxmlformats.org/drawingml/2006/main">
            <a:off x="600075" y="2543175"/>
            <a:ext cx="904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192936"/>
                </a:solidFill>
                <a:latin typeface="DejaVu Sans"/>
                <a:ea typeface="DejaVu Sans"/>
                <a:cs typeface="DejaVu Sans"/>
              </a:defRPr>
            </a:defPPr>
          </a:lstStyle>
          <a:p xmlns:a="http://schemas.openxmlformats.org/drawingml/2006/main">
            <a:pPr algn="l">
              <a:defRPr sz="900" b="1">
                <a:solidFill>
                  <a:srgbClr val="192936"/>
                </a:solidFill>
                <a:latin typeface="DejaVu Sans"/>
                <a:ea typeface="DejaVu Sans"/>
                <a:cs typeface="DejaVu Sans"/>
              </a:defRPr>
            </a:pPr>
            <a:r>
              <a:rPr sz="900" b="1">
                <a:solidFill>
                  <a:srgbClr val="192936"/>
                </a:solidFill>
                <a:latin typeface="DejaVu Sans"/>
                <a:ea typeface="DejaVu Sans"/>
                <a:cs typeface="DejaVu Sans"/>
              </a:rPr>
              <a:t>Funding</a:t>
            </a:r>
          </a:p>
        </p:txBody>
      </p:sp>
      <p:sp>
        <p:nvSpPr>
          <p:cNvPr id="14" name="Gray cube value">
            <a:extLst xmlns:a="http://schemas.openxmlformats.org/drawingml/2006/main">
              <a:ext uri="{FF2B5EF4-FFF2-40B4-BE49-F238E27FC236}">
                <a16:creationId xmlns:a16="http://schemas.microsoft.com/office/drawing/2014/main" id="{F03F7A83-B7A9-47A0-A2EB-433515D8988D}"/>
              </a:ext>
            </a:extLst>
          </p:cNvPr>
          <p:cNvSpPr>
            <a:spLocks xmlns:a="http://schemas.openxmlformats.org/drawingml/2006/main" noGrp="1"/>
          </p:cNvSpPr>
          <p:nvPr/>
        </p:nvSpPr>
        <p:spPr>
          <a:xfrm xmlns:a="http://schemas.openxmlformats.org/drawingml/2006/main">
            <a:off x="1685925"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2616A"/>
                </a:solidFill>
                <a:latin typeface="DejaVu Sans"/>
                <a:ea typeface="DejaVu Sans"/>
                <a:cs typeface="DejaVu Sans"/>
              </a:defRPr>
            </a:defPPr>
          </a:lstStyle>
          <a:p xmlns:a="http://schemas.openxmlformats.org/drawingml/2006/main">
            <a:pPr algn="l">
              <a:defRPr sz="2100" b="1">
                <a:solidFill>
                  <a:srgbClr val="52616A"/>
                </a:solidFill>
                <a:latin typeface="DejaVu Sans"/>
                <a:ea typeface="DejaVu Sans"/>
                <a:cs typeface="DejaVu Sans"/>
              </a:defRPr>
            </a:pPr>
            <a:r>
              <a:rPr sz="2100" b="1">
                <a:solidFill>
                  <a:srgbClr val="52616A"/>
                </a:solidFill>
                <a:latin typeface="DejaVu Sans"/>
                <a:ea typeface="DejaVu Sans"/>
                <a:cs typeface="DejaVu Sans"/>
              </a:rPr>
              <a:t>5</a:t>
            </a:r>
          </a:p>
        </p:txBody>
      </p:sp>
      <p:sp>
        <p:nvSpPr>
          <p:cNvPr id="15" name="Gray cube unit">
            <a:extLst xmlns:a="http://schemas.openxmlformats.org/drawingml/2006/main">
              <a:ext uri="{FF2B5EF4-FFF2-40B4-BE49-F238E27FC236}">
                <a16:creationId xmlns:a16="http://schemas.microsoft.com/office/drawing/2014/main" id="{BF33B42D-D77C-4C9F-A443-29E8C003B614}"/>
              </a:ext>
            </a:extLst>
          </p:cNvPr>
          <p:cNvSpPr>
            <a:spLocks xmlns:a="http://schemas.openxmlformats.org/drawingml/2006/main" noGrp="1"/>
          </p:cNvSpPr>
          <p:nvPr/>
        </p:nvSpPr>
        <p:spPr>
          <a:xfrm xmlns:a="http://schemas.openxmlformats.org/drawingml/2006/main">
            <a:off x="2095500" y="2543175"/>
            <a:ext cx="914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1">
                <a:solidFill>
                  <a:srgbClr val="52616A"/>
                </a:solidFill>
                <a:latin typeface="DejaVu Sans"/>
                <a:ea typeface="DejaVu Sans"/>
                <a:cs typeface="DejaVu Sans"/>
              </a:defRPr>
            </a:defPPr>
          </a:lstStyle>
          <a:p xmlns:a="http://schemas.openxmlformats.org/drawingml/2006/main">
            <a:pPr algn="l">
              <a:defRPr sz="863" b="1">
                <a:solidFill>
                  <a:srgbClr val="52616A"/>
                </a:solidFill>
                <a:latin typeface="DejaVu Sans"/>
                <a:ea typeface="DejaVu Sans"/>
                <a:cs typeface="DejaVu Sans"/>
              </a:defRPr>
            </a:pPr>
            <a:r>
              <a:rPr sz="863" b="1">
                <a:solidFill>
                  <a:srgbClr val="52616A"/>
                </a:solidFill>
                <a:latin typeface="DejaVu Sans"/>
                <a:ea typeface="DejaVu Sans"/>
                <a:cs typeface="DejaVu Sans"/>
              </a:rPr>
              <a:t>gray cubes</a:t>
            </a:r>
          </a:p>
        </p:txBody>
      </p:sp>
      <p:sp>
        <p:nvSpPr>
          <p:cNvPr id="16" name="Eligibility divider">
            <a:extLst xmlns:a="http://schemas.openxmlformats.org/drawingml/2006/main">
              <a:ext uri="{FF2B5EF4-FFF2-40B4-BE49-F238E27FC236}">
                <a16:creationId xmlns:a16="http://schemas.microsoft.com/office/drawing/2014/main" id="{B9494141-1277-4CDD-8E4C-C10C9B9484AC}"/>
              </a:ext>
            </a:extLst>
          </p:cNvPr>
          <p:cNvSpPr>
            <a:spLocks xmlns:a="http://schemas.openxmlformats.org/drawingml/2006/main" noGrp="1"/>
          </p:cNvSpPr>
          <p:nvPr/>
        </p:nvSpPr>
        <p:spPr>
          <a:xfrm xmlns:a="http://schemas.openxmlformats.org/drawingml/2006/main">
            <a:off x="190500" y="282892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7" name="Without certification heading">
            <a:extLst xmlns:a="http://schemas.openxmlformats.org/drawingml/2006/main">
              <a:ext uri="{FF2B5EF4-FFF2-40B4-BE49-F238E27FC236}">
                <a16:creationId xmlns:a16="http://schemas.microsoft.com/office/drawing/2014/main" id="{3B22A613-49C7-4790-8769-823E2B3638F0}"/>
              </a:ext>
            </a:extLst>
          </p:cNvPr>
          <p:cNvSpPr>
            <a:spLocks xmlns:a="http://schemas.openxmlformats.org/drawingml/2006/main" noGrp="1"/>
          </p:cNvSpPr>
          <p:nvPr/>
        </p:nvSpPr>
        <p:spPr>
          <a:xfrm xmlns:a="http://schemas.openxmlformats.org/drawingml/2006/main">
            <a:off x="190500" y="2943225"/>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1">
                <a:solidFill>
                  <a:srgbClr val="3A714F"/>
                </a:solidFill>
                <a:latin typeface="DejaVu Sans"/>
                <a:ea typeface="DejaVu Sans"/>
                <a:cs typeface="DejaVu Sans"/>
              </a:defRPr>
            </a:defPPr>
          </a:lstStyle>
          <a:p xmlns:a="http://schemas.openxmlformats.org/drawingml/2006/main">
            <a:pPr algn="l">
              <a:defRPr sz="825" b="1">
                <a:solidFill>
                  <a:srgbClr val="3A714F"/>
                </a:solidFill>
                <a:latin typeface="DejaVu Sans"/>
                <a:ea typeface="DejaVu Sans"/>
                <a:cs typeface="DejaVu Sans"/>
              </a:defRPr>
            </a:pPr>
            <a:r>
              <a:rPr sz="825" b="1">
                <a:solidFill>
                  <a:srgbClr val="3A714F"/>
                </a:solidFill>
                <a:latin typeface="DejaVu Sans"/>
                <a:ea typeface="DejaVu Sans"/>
                <a:cs typeface="DejaVu Sans"/>
              </a:rPr>
              <a:t>No Certified Expertise in Optimization / MPC</a:t>
            </a:r>
          </a:p>
        </p:txBody>
      </p:sp>
      <p:sp>
        <p:nvSpPr>
          <p:cNvPr id="18" name="Without certification rule">
            <a:extLst xmlns:a="http://schemas.openxmlformats.org/drawingml/2006/main">
              <a:ext uri="{FF2B5EF4-FFF2-40B4-BE49-F238E27FC236}">
                <a16:creationId xmlns:a16="http://schemas.microsoft.com/office/drawing/2014/main" id="{74BDB006-8ECD-4180-BF83-A30A9751993E}"/>
              </a:ext>
            </a:extLst>
          </p:cNvPr>
          <p:cNvSpPr>
            <a:spLocks xmlns:a="http://schemas.openxmlformats.org/drawingml/2006/main" noGrp="1"/>
          </p:cNvSpPr>
          <p:nvPr/>
        </p:nvSpPr>
        <p:spPr>
          <a:xfrm xmlns:a="http://schemas.openxmlformats.org/drawingml/2006/main">
            <a:off x="190500" y="3152775"/>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need at least 1 Optimization / MPC Recent Work token to apply. Only Optimization / MPC tokens count.</a:t>
            </a:r>
          </a:p>
        </p:txBody>
      </p:sp>
      <p:sp>
        <p:nvSpPr>
          <p:cNvPr id="19" name="With certification heading">
            <a:extLst xmlns:a="http://schemas.openxmlformats.org/drawingml/2006/main">
              <a:ext uri="{FF2B5EF4-FFF2-40B4-BE49-F238E27FC236}">
                <a16:creationId xmlns:a16="http://schemas.microsoft.com/office/drawing/2014/main" id="{3E9BE5D8-A885-4243-B76E-53640608495D}"/>
              </a:ext>
            </a:extLst>
          </p:cNvPr>
          <p:cNvSpPr>
            <a:spLocks xmlns:a="http://schemas.openxmlformats.org/drawingml/2006/main" noGrp="1"/>
          </p:cNvSpPr>
          <p:nvPr/>
        </p:nvSpPr>
        <p:spPr>
          <a:xfrm xmlns:a="http://schemas.openxmlformats.org/drawingml/2006/main">
            <a:off x="190500" y="3619500"/>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3A714F"/>
                </a:solidFill>
                <a:latin typeface="DejaVu Sans"/>
                <a:ea typeface="DejaVu Sans"/>
                <a:cs typeface="DejaVu Sans"/>
              </a:defRPr>
            </a:defPPr>
          </a:lstStyle>
          <a:p xmlns:a="http://schemas.openxmlformats.org/drawingml/2006/main">
            <a:pPr algn="l">
              <a:defRPr sz="788" b="1">
                <a:solidFill>
                  <a:srgbClr val="3A714F"/>
                </a:solidFill>
                <a:latin typeface="DejaVu Sans"/>
                <a:ea typeface="DejaVu Sans"/>
                <a:cs typeface="DejaVu Sans"/>
              </a:defRPr>
            </a:pPr>
            <a:r>
              <a:rPr sz="788" b="1">
                <a:solidFill>
                  <a:srgbClr val="3A714F"/>
                </a:solidFill>
                <a:latin typeface="DejaVu Sans"/>
                <a:ea typeface="DejaVu Sans"/>
                <a:cs typeface="DejaVu Sans"/>
              </a:rPr>
              <a:t>With Certified Expertise in Optimization / MPC</a:t>
            </a:r>
          </a:p>
        </p:txBody>
      </p:sp>
      <p:sp>
        <p:nvSpPr>
          <p:cNvPr id="20" name="With certification rule">
            <a:extLst xmlns:a="http://schemas.openxmlformats.org/drawingml/2006/main">
              <a:ext uri="{FF2B5EF4-FFF2-40B4-BE49-F238E27FC236}">
                <a16:creationId xmlns:a16="http://schemas.microsoft.com/office/drawing/2014/main" id="{A5209665-A0DB-4CB4-8AF4-4E7891056F9F}"/>
              </a:ext>
            </a:extLst>
          </p:cNvPr>
          <p:cNvSpPr>
            <a:spLocks xmlns:a="http://schemas.openxmlformats.org/drawingml/2006/main" noGrp="1"/>
          </p:cNvSpPr>
          <p:nvPr/>
        </p:nvSpPr>
        <p:spPr>
          <a:xfrm xmlns:a="http://schemas.openxmlformats.org/drawingml/2006/main">
            <a:off x="190500" y="3829050"/>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may apply without Recent Work. Recent Work from ANY topic can count. Your expertise badge is permanent.</a:t>
            </a:r>
          </a:p>
        </p:txBody>
      </p:sp>
      <p:sp>
        <p:nvSpPr>
          <p:cNvPr id="21" name="Footer divider">
            <a:extLst xmlns:a="http://schemas.openxmlformats.org/drawingml/2006/main">
              <a:ext uri="{FF2B5EF4-FFF2-40B4-BE49-F238E27FC236}">
                <a16:creationId xmlns:a16="http://schemas.microsoft.com/office/drawing/2014/main" id="{8F65FA8B-2E6A-4EDE-B1E8-DB2342EE06A3}"/>
              </a:ext>
            </a:extLst>
          </p:cNvPr>
          <p:cNvSpPr>
            <a:spLocks xmlns:a="http://schemas.openxmlformats.org/drawingml/2006/main" noGrp="1"/>
          </p:cNvSpPr>
          <p:nvPr/>
        </p:nvSpPr>
        <p:spPr>
          <a:xfrm xmlns:a="http://schemas.openxmlformats.org/drawingml/2006/main">
            <a:off x="190500" y="4286250"/>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22" name="Recent Work cap">
            <a:extLst xmlns:a="http://schemas.openxmlformats.org/drawingml/2006/main">
              <a:ext uri="{FF2B5EF4-FFF2-40B4-BE49-F238E27FC236}">
                <a16:creationId xmlns:a16="http://schemas.microsoft.com/office/drawing/2014/main" id="{F4244653-D43E-4CA9-BB01-537257B423D1}"/>
              </a:ext>
            </a:extLst>
          </p:cNvPr>
          <p:cNvSpPr>
            <a:spLocks xmlns:a="http://schemas.openxmlformats.org/drawingml/2006/main" noGrp="1"/>
          </p:cNvSpPr>
          <p:nvPr/>
        </p:nvSpPr>
        <p:spPr>
          <a:xfrm xmlns:a="http://schemas.openxmlformats.org/drawingml/2006/main">
            <a:off x="190500" y="4371975"/>
            <a:ext cx="28194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192936"/>
                </a:solidFill>
                <a:latin typeface="DejaVu Sans"/>
                <a:ea typeface="DejaVu Sans"/>
                <a:cs typeface="DejaVu Sans"/>
              </a:defRPr>
            </a:defPPr>
          </a:lstStyle>
          <a:p xmlns:a="http://schemas.openxmlformats.org/drawingml/2006/main">
            <a:pPr algn="l">
              <a:defRPr sz="788" b="1">
                <a:solidFill>
                  <a:srgbClr val="192936"/>
                </a:solidFill>
                <a:latin typeface="DejaVu Sans"/>
                <a:ea typeface="DejaVu Sans"/>
                <a:cs typeface="DejaVu Sans"/>
              </a:defRPr>
            </a:pPr>
            <a:r>
              <a:rPr sz="788" b="1">
                <a:solidFill>
                  <a:srgbClr val="192936"/>
                </a:solidFill>
                <a:latin typeface="DejaVu Sans"/>
                <a:ea typeface="DejaVu Sans"/>
                <a:cs typeface="DejaVu Sans"/>
              </a:rPr>
              <a:t>Count at most 3 Recent Work tokens.</a:t>
            </a:r>
          </a:p>
        </p:txBody>
      </p:sp>
    </p:spTree>
    <p:extLst>
      <p:ext uri="{BB962C8B-B14F-4D97-AF65-F5344CB8AC3E}">
        <p14:creationId xmlns:p14="http://schemas.microsoft.com/office/powerpoint/2010/main" val="5972040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Card border">
            <a:extLst xmlns:a="http://schemas.openxmlformats.org/drawingml/2006/main">
              <a:ext uri="{FF2B5EF4-FFF2-40B4-BE49-F238E27FC236}">
                <a16:creationId xmlns:a16="http://schemas.microsoft.com/office/drawing/2014/main" id="{EE22DFC5-F5DF-460A-80B2-04E170304ADE}"/>
              </a:ext>
            </a:extLst>
          </p:cNvPr>
          <p:cNvSpPr>
            <a:spLocks xmlns:a="http://schemas.openxmlformats.org/drawingml/2006/main" noGrp="1"/>
          </p:cNvSpPr>
          <p:nvPr/>
        </p:nvSpPr>
        <p:spPr>
          <a:xfrm xmlns:a="http://schemas.openxmlformats.org/drawingml/2006/main">
            <a:off x="9525" y="9525"/>
            <a:ext cx="3181350" cy="4552950"/>
          </a:xfrm>
          <a:prstGeom xmlns:a="http://schemas.openxmlformats.org/drawingml/2006/main" prst="rect">
            <a:avLst/>
          </a:prstGeom>
          <a:noFill xmlns:a="http://schemas.openxmlformats.org/drawingml/2006/main"/>
          <a:ln xmlns:a="http://schemas.openxmlformats.org/drawingml/2006/main" w="9525">
            <a:solidFill>
              <a:srgbClr val="D0D5D8"/>
            </a:solidFill>
          </a:ln>
        </p:spPr>
      </p:sp>
      <p:sp>
        <p:nvSpPr>
          <p:cNvPr id="2" name="Topic color band">
            <a:extLst xmlns:a="http://schemas.openxmlformats.org/drawingml/2006/main">
              <a:ext uri="{FF2B5EF4-FFF2-40B4-BE49-F238E27FC236}">
                <a16:creationId xmlns:a16="http://schemas.microsoft.com/office/drawing/2014/main" id="{8FDDC56C-C2F6-4002-8505-E3BBF31BD84A}"/>
              </a:ext>
            </a:extLst>
          </p:cNvPr>
          <p:cNvSpPr>
            <a:spLocks xmlns:a="http://schemas.openxmlformats.org/drawingml/2006/main" noGrp="1"/>
          </p:cNvSpPr>
          <p:nvPr/>
        </p:nvSpPr>
        <p:spPr>
          <a:xfrm xmlns:a="http://schemas.openxmlformats.org/drawingml/2006/main">
            <a:off x="9525" y="9525"/>
            <a:ext cx="3181350" cy="400050"/>
          </a:xfrm>
          <a:prstGeom xmlns:a="http://schemas.openxmlformats.org/drawingml/2006/main" prst="rect">
            <a:avLst/>
          </a:prstGeom>
          <a:solidFill xmlns:a="http://schemas.openxmlformats.org/drawingml/2006/main">
            <a:srgbClr val="9B4F45"/>
          </a:solidFill>
          <a:ln xmlns:a="http://schemas.openxmlformats.org/drawingml/2006/main" w="0">
            <a:noFill/>
          </a:ln>
        </p:spPr>
      </p:sp>
      <p:sp>
        <p:nvSpPr>
          <p:cNvPr id="3" name="Game name">
            <a:extLst xmlns:a="http://schemas.openxmlformats.org/drawingml/2006/main">
              <a:ext uri="{FF2B5EF4-FFF2-40B4-BE49-F238E27FC236}">
                <a16:creationId xmlns:a16="http://schemas.microsoft.com/office/drawing/2014/main" id="{C8B8214A-47D1-409B-B224-14005A049EC7}"/>
              </a:ext>
            </a:extLst>
          </p:cNvPr>
          <p:cNvSpPr>
            <a:spLocks xmlns:a="http://schemas.openxmlformats.org/drawingml/2006/main" noGrp="1"/>
          </p:cNvSpPr>
          <p:nvPr/>
        </p:nvSpPr>
        <p:spPr>
          <a:xfrm xmlns:a="http://schemas.openxmlformats.org/drawingml/2006/main">
            <a:off x="190500" y="133350"/>
            <a:ext cx="1943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FFFFFF"/>
                </a:solidFill>
                <a:latin typeface="DejaVu Sans"/>
                <a:ea typeface="DejaVu Sans"/>
                <a:cs typeface="DejaVu Sans"/>
              </a:defRPr>
            </a:defPPr>
          </a:lstStyle>
          <a:p xmlns:a="http://schemas.openxmlformats.org/drawingml/2006/main">
            <a:pPr algn="l">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GRANT CONTROL</a:t>
            </a:r>
          </a:p>
        </p:txBody>
      </p:sp>
      <p:sp>
        <p:nvSpPr>
          <p:cNvPr id="4" name="Card identifier">
            <a:extLst xmlns:a="http://schemas.openxmlformats.org/drawingml/2006/main">
              <a:ext uri="{FF2B5EF4-FFF2-40B4-BE49-F238E27FC236}">
                <a16:creationId xmlns:a16="http://schemas.microsoft.com/office/drawing/2014/main" id="{B06A33DC-74E3-4DF4-BD3B-9A1FEBF31420}"/>
              </a:ext>
            </a:extLst>
          </p:cNvPr>
          <p:cNvSpPr>
            <a:spLocks xmlns:a="http://schemas.openxmlformats.org/drawingml/2006/main" noGrp="1"/>
          </p:cNvSpPr>
          <p:nvPr/>
        </p:nvSpPr>
        <p:spPr>
          <a:xfrm xmlns:a="http://schemas.openxmlformats.org/drawingml/2006/main">
            <a:off x="2371725" y="142875"/>
            <a:ext cx="6381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788" b="1">
                <a:solidFill>
                  <a:srgbClr val="FFFFFF"/>
                </a:solidFill>
                <a:latin typeface="DejaVu Sans"/>
                <a:ea typeface="DejaVu Sans"/>
                <a:cs typeface="DejaVu Sans"/>
              </a:defRPr>
            </a:defPPr>
          </a:lstStyle>
          <a:p xmlns:a="http://schemas.openxmlformats.org/drawingml/2006/main">
            <a:pPr algn="r">
              <a:defRPr sz="788" b="1">
                <a:solidFill>
                  <a:srgbClr val="FFFFFF"/>
                </a:solidFill>
                <a:latin typeface="DejaVu Sans"/>
                <a:ea typeface="DejaVu Sans"/>
                <a:cs typeface="DejaVu Sans"/>
              </a:defRPr>
            </a:pPr>
            <a:r>
              <a:rPr sz="788" b="1">
                <a:solidFill>
                  <a:srgbClr val="FFFFFF"/>
                </a:solidFill>
                <a:latin typeface="DejaVu Sans"/>
                <a:ea typeface="DejaVu Sans"/>
                <a:cs typeface="DejaVu Sans"/>
              </a:rPr>
              <a:t>MAS-01</a:t>
            </a:r>
          </a:p>
        </p:txBody>
      </p:sp>
      <p:sp>
        <p:nvSpPr>
          <p:cNvPr id="5" name="Card category">
            <a:extLst xmlns:a="http://schemas.openxmlformats.org/drawingml/2006/main">
              <a:ext uri="{FF2B5EF4-FFF2-40B4-BE49-F238E27FC236}">
                <a16:creationId xmlns:a16="http://schemas.microsoft.com/office/drawing/2014/main" id="{62582CE9-30C1-4E42-8883-7C42EE6A1E1B}"/>
              </a:ext>
            </a:extLst>
          </p:cNvPr>
          <p:cNvSpPr>
            <a:spLocks xmlns:a="http://schemas.openxmlformats.org/drawingml/2006/main" noGrp="1"/>
          </p:cNvSpPr>
          <p:nvPr/>
        </p:nvSpPr>
        <p:spPr>
          <a:xfrm xmlns:a="http://schemas.openxmlformats.org/drawingml/2006/main">
            <a:off x="190500" y="523875"/>
            <a:ext cx="2800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9B4F45"/>
                </a:solidFill>
                <a:latin typeface="DejaVu Sans"/>
                <a:ea typeface="DejaVu Sans"/>
                <a:cs typeface="DejaVu Sans"/>
              </a:defRPr>
            </a:defPPr>
          </a:lstStyle>
          <a:p xmlns:a="http://schemas.openxmlformats.org/drawingml/2006/main">
            <a:pPr algn="l">
              <a:defRPr sz="788" b="1">
                <a:solidFill>
                  <a:srgbClr val="9B4F45"/>
                </a:solidFill>
                <a:latin typeface="DejaVu Sans"/>
                <a:ea typeface="DejaVu Sans"/>
                <a:cs typeface="DejaVu Sans"/>
              </a:defRPr>
            </a:pPr>
            <a:r>
              <a:rPr sz="788" b="1">
                <a:solidFill>
                  <a:srgbClr val="9B4F45"/>
                </a:solidFill>
                <a:latin typeface="DejaVu Sans"/>
                <a:ea typeface="DejaVu Sans"/>
                <a:cs typeface="DejaVu Sans"/>
              </a:rPr>
              <a:t>FUNDING CALL</a:t>
            </a:r>
          </a:p>
        </p:txBody>
      </p:sp>
      <p:sp>
        <p:nvSpPr>
          <p:cNvPr id="6" name="Primary topic">
            <a:extLst xmlns:a="http://schemas.openxmlformats.org/drawingml/2006/main">
              <a:ext uri="{FF2B5EF4-FFF2-40B4-BE49-F238E27FC236}">
                <a16:creationId xmlns:a16="http://schemas.microsoft.com/office/drawing/2014/main" id="{68247603-0CCE-4C65-834F-8C6FDC4D6041}"/>
              </a:ext>
            </a:extLst>
          </p:cNvPr>
          <p:cNvSpPr>
            <a:spLocks xmlns:a="http://schemas.openxmlformats.org/drawingml/2006/main" noGrp="1"/>
          </p:cNvSpPr>
          <p:nvPr/>
        </p:nvSpPr>
        <p:spPr>
          <a:xfrm xmlns:a="http://schemas.openxmlformats.org/drawingml/2006/main">
            <a:off x="190500" y="733425"/>
            <a:ext cx="2819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9B4F45"/>
                </a:solidFill>
                <a:latin typeface="DejaVu Sans"/>
                <a:ea typeface="DejaVu Sans"/>
                <a:cs typeface="DejaVu Sans"/>
              </a:defRPr>
            </a:defPPr>
          </a:lstStyle>
          <a:p xmlns:a="http://schemas.openxmlformats.org/drawingml/2006/main">
            <a:pPr algn="l">
              <a:defRPr sz="975" b="1">
                <a:solidFill>
                  <a:srgbClr val="9B4F45"/>
                </a:solidFill>
                <a:latin typeface="DejaVu Sans"/>
                <a:ea typeface="DejaVu Sans"/>
                <a:cs typeface="DejaVu Sans"/>
              </a:defRPr>
            </a:pPr>
            <a:r>
              <a:rPr sz="975" b="1">
                <a:solidFill>
                  <a:srgbClr val="9B4F45"/>
                </a:solidFill>
                <a:latin typeface="DejaVu Sans"/>
                <a:ea typeface="DejaVu Sans"/>
                <a:cs typeface="DejaVu Sans"/>
              </a:rPr>
              <a:t>Multi-Agent Systems</a:t>
            </a:r>
          </a:p>
        </p:txBody>
      </p:sp>
      <p:sp>
        <p:nvSpPr>
          <p:cNvPr id="7" name="Call title">
            <a:extLst xmlns:a="http://schemas.openxmlformats.org/drawingml/2006/main">
              <a:ext uri="{FF2B5EF4-FFF2-40B4-BE49-F238E27FC236}">
                <a16:creationId xmlns:a16="http://schemas.microsoft.com/office/drawing/2014/main" id="{0E4F448D-63AC-442C-944E-84CA857D2D39}"/>
              </a:ext>
            </a:extLst>
          </p:cNvPr>
          <p:cNvSpPr>
            <a:spLocks xmlns:a="http://schemas.openxmlformats.org/drawingml/2006/main" noGrp="1"/>
          </p:cNvSpPr>
          <p:nvPr/>
        </p:nvSpPr>
        <p:spPr>
          <a:xfrm xmlns:a="http://schemas.openxmlformats.org/drawingml/2006/main">
            <a:off x="190500" y="1028700"/>
            <a:ext cx="281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92936"/>
                </a:solidFill>
                <a:latin typeface="DejaVu Sans"/>
                <a:ea typeface="DejaVu Sans"/>
                <a:cs typeface="DejaVu Sans"/>
              </a:defRPr>
            </a:defPPr>
          </a:lstStyle>
          <a:p xmlns:a="http://schemas.openxmlformats.org/drawingml/2006/main">
            <a:pPr algn="l">
              <a:defRPr sz="1500" b="1">
                <a:solidFill>
                  <a:srgbClr val="192936"/>
                </a:solidFill>
                <a:latin typeface="DejaVu Sans"/>
                <a:ea typeface="DejaVu Sans"/>
                <a:cs typeface="DejaVu Sans"/>
              </a:defRPr>
            </a:pPr>
            <a:r>
              <a:rPr sz="1500" b="1">
                <a:solidFill>
                  <a:srgbClr val="192936"/>
                </a:solidFill>
                <a:latin typeface="DejaVu Sans"/>
                <a:ea typeface="DejaVu Sans"/>
                <a:cs typeface="DejaVu Sans"/>
              </a:rPr>
              <a:t>Consensus Over Sparse Networks</a:t>
            </a:r>
          </a:p>
        </p:txBody>
      </p:sp>
      <p:sp>
        <p:nvSpPr>
          <p:cNvPr id="8" name="Research scope">
            <a:extLst xmlns:a="http://schemas.openxmlformats.org/drawingml/2006/main">
              <a:ext uri="{FF2B5EF4-FFF2-40B4-BE49-F238E27FC236}">
                <a16:creationId xmlns:a16="http://schemas.microsoft.com/office/drawing/2014/main" id="{E5996AE3-568B-4F3F-82F5-8EC0F546FE29}"/>
              </a:ext>
            </a:extLst>
          </p:cNvPr>
          <p:cNvSpPr>
            <a:spLocks xmlns:a="http://schemas.openxmlformats.org/drawingml/2006/main" noGrp="1"/>
          </p:cNvSpPr>
          <p:nvPr/>
        </p:nvSpPr>
        <p:spPr>
          <a:xfrm xmlns:a="http://schemas.openxmlformats.org/drawingml/2006/main">
            <a:off x="190500" y="1628775"/>
            <a:ext cx="2819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0">
                <a:solidFill>
                  <a:srgbClr val="52616A"/>
                </a:solidFill>
                <a:latin typeface="DejaVu Sans"/>
                <a:ea typeface="DejaVu Sans"/>
                <a:cs typeface="DejaVu Sans"/>
              </a:defRPr>
            </a:defPPr>
          </a:lstStyle>
          <a:p xmlns:a="http://schemas.openxmlformats.org/drawingml/2006/main">
            <a:pPr algn="l">
              <a:defRPr sz="825" b="0">
                <a:solidFill>
                  <a:srgbClr val="52616A"/>
                </a:solidFill>
                <a:latin typeface="DejaVu Sans"/>
                <a:ea typeface="DejaVu Sans"/>
                <a:cs typeface="DejaVu Sans"/>
              </a:defRPr>
            </a:pPr>
            <a:r>
              <a:rPr sz="825" b="0">
                <a:solidFill>
                  <a:srgbClr val="52616A"/>
                </a:solidFill>
                <a:latin typeface="DejaVu Sans"/>
                <a:ea typeface="DejaVu Sans"/>
                <a:cs typeface="DejaVu Sans"/>
              </a:rPr>
              <a:t>Study agreement among agents communicating over a sparse graph. Determine how graph structure and update rules affect convergence.</a:t>
            </a:r>
          </a:p>
        </p:txBody>
      </p:sp>
      <p:sp>
        <p:nvSpPr>
          <p:cNvPr id="9" name="Statistics divider">
            <a:extLst xmlns:a="http://schemas.openxmlformats.org/drawingml/2006/main">
              <a:ext uri="{FF2B5EF4-FFF2-40B4-BE49-F238E27FC236}">
                <a16:creationId xmlns:a16="http://schemas.microsoft.com/office/drawing/2014/main" id="{B310EE0C-04B9-45C5-8E98-F67F4E69CF1C}"/>
              </a:ext>
            </a:extLst>
          </p:cNvPr>
          <p:cNvSpPr>
            <a:spLocks xmlns:a="http://schemas.openxmlformats.org/drawingml/2006/main" noGrp="1"/>
          </p:cNvSpPr>
          <p:nvPr/>
        </p:nvSpPr>
        <p:spPr>
          <a:xfrm xmlns:a="http://schemas.openxmlformats.org/drawingml/2006/main">
            <a:off x="190500" y="216217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0" name="Funding award label">
            <a:extLst xmlns:a="http://schemas.openxmlformats.org/drawingml/2006/main">
              <a:ext uri="{FF2B5EF4-FFF2-40B4-BE49-F238E27FC236}">
                <a16:creationId xmlns:a16="http://schemas.microsoft.com/office/drawing/2014/main" id="{E9B33E98-C898-42D1-9C42-881E8C431CF7}"/>
              </a:ext>
            </a:extLst>
          </p:cNvPr>
          <p:cNvSpPr>
            <a:spLocks xmlns:a="http://schemas.openxmlformats.org/drawingml/2006/main" noGrp="1"/>
          </p:cNvSpPr>
          <p:nvPr/>
        </p:nvSpPr>
        <p:spPr>
          <a:xfrm xmlns:a="http://schemas.openxmlformats.org/drawingml/2006/main">
            <a:off x="190500"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FUNDING AWARD</a:t>
            </a:r>
          </a:p>
        </p:txBody>
      </p:sp>
      <p:sp>
        <p:nvSpPr>
          <p:cNvPr id="11" name="Gray cube label">
            <a:extLst xmlns:a="http://schemas.openxmlformats.org/drawingml/2006/main">
              <a:ext uri="{FF2B5EF4-FFF2-40B4-BE49-F238E27FC236}">
                <a16:creationId xmlns:a16="http://schemas.microsoft.com/office/drawing/2014/main" id="{7EEC09A8-41D3-468F-A922-9190E017EB4E}"/>
              </a:ext>
            </a:extLst>
          </p:cNvPr>
          <p:cNvSpPr>
            <a:spLocks xmlns:a="http://schemas.openxmlformats.org/drawingml/2006/main" noGrp="1"/>
          </p:cNvSpPr>
          <p:nvPr/>
        </p:nvSpPr>
        <p:spPr>
          <a:xfrm xmlns:a="http://schemas.openxmlformats.org/drawingml/2006/main">
            <a:off x="1685925"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OUTSIDE / NO-AWARD</a:t>
            </a:r>
          </a:p>
        </p:txBody>
      </p:sp>
      <p:sp>
        <p:nvSpPr>
          <p:cNvPr id="12" name="Funding award value">
            <a:extLst xmlns:a="http://schemas.openxmlformats.org/drawingml/2006/main">
              <a:ext uri="{FF2B5EF4-FFF2-40B4-BE49-F238E27FC236}">
                <a16:creationId xmlns:a16="http://schemas.microsoft.com/office/drawing/2014/main" id="{94008CC2-7702-44EE-8302-C0EC1A7BB55D}"/>
              </a:ext>
            </a:extLst>
          </p:cNvPr>
          <p:cNvSpPr>
            <a:spLocks xmlns:a="http://schemas.openxmlformats.org/drawingml/2006/main" noGrp="1"/>
          </p:cNvSpPr>
          <p:nvPr/>
        </p:nvSpPr>
        <p:spPr>
          <a:xfrm xmlns:a="http://schemas.openxmlformats.org/drawingml/2006/main">
            <a:off x="190500"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9B4F45"/>
                </a:solidFill>
                <a:latin typeface="DejaVu Sans"/>
                <a:ea typeface="DejaVu Sans"/>
                <a:cs typeface="DejaVu Sans"/>
              </a:defRPr>
            </a:defPPr>
          </a:lstStyle>
          <a:p xmlns:a="http://schemas.openxmlformats.org/drawingml/2006/main">
            <a:pPr algn="l">
              <a:defRPr sz="2100" b="1">
                <a:solidFill>
                  <a:srgbClr val="9B4F45"/>
                </a:solidFill>
                <a:latin typeface="DejaVu Sans"/>
                <a:ea typeface="DejaVu Sans"/>
                <a:cs typeface="DejaVu Sans"/>
              </a:defRPr>
            </a:pPr>
            <a:r>
              <a:rPr sz="2100" b="1">
                <a:solidFill>
                  <a:srgbClr val="9B4F45"/>
                </a:solidFill>
                <a:latin typeface="DejaVu Sans"/>
                <a:ea typeface="DejaVu Sans"/>
                <a:cs typeface="DejaVu Sans"/>
              </a:rPr>
              <a:t>4</a:t>
            </a:r>
          </a:p>
        </p:txBody>
      </p:sp>
      <p:sp>
        <p:nvSpPr>
          <p:cNvPr id="13" name="Funding award unit">
            <a:extLst xmlns:a="http://schemas.openxmlformats.org/drawingml/2006/main">
              <a:ext uri="{FF2B5EF4-FFF2-40B4-BE49-F238E27FC236}">
                <a16:creationId xmlns:a16="http://schemas.microsoft.com/office/drawing/2014/main" id="{97CEDFE6-92C2-47EC-99A9-73BC14DEF002}"/>
              </a:ext>
            </a:extLst>
          </p:cNvPr>
          <p:cNvSpPr>
            <a:spLocks xmlns:a="http://schemas.openxmlformats.org/drawingml/2006/main" noGrp="1"/>
          </p:cNvSpPr>
          <p:nvPr/>
        </p:nvSpPr>
        <p:spPr>
          <a:xfrm xmlns:a="http://schemas.openxmlformats.org/drawingml/2006/main">
            <a:off x="600075" y="2543175"/>
            <a:ext cx="904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192936"/>
                </a:solidFill>
                <a:latin typeface="DejaVu Sans"/>
                <a:ea typeface="DejaVu Sans"/>
                <a:cs typeface="DejaVu Sans"/>
              </a:defRPr>
            </a:defPPr>
          </a:lstStyle>
          <a:p xmlns:a="http://schemas.openxmlformats.org/drawingml/2006/main">
            <a:pPr algn="l">
              <a:defRPr sz="900" b="1">
                <a:solidFill>
                  <a:srgbClr val="192936"/>
                </a:solidFill>
                <a:latin typeface="DejaVu Sans"/>
                <a:ea typeface="DejaVu Sans"/>
                <a:cs typeface="DejaVu Sans"/>
              </a:defRPr>
            </a:pPr>
            <a:r>
              <a:rPr sz="900" b="1">
                <a:solidFill>
                  <a:srgbClr val="192936"/>
                </a:solidFill>
                <a:latin typeface="DejaVu Sans"/>
                <a:ea typeface="DejaVu Sans"/>
                <a:cs typeface="DejaVu Sans"/>
              </a:rPr>
              <a:t>Funding</a:t>
            </a:r>
          </a:p>
        </p:txBody>
      </p:sp>
      <p:sp>
        <p:nvSpPr>
          <p:cNvPr id="14" name="Gray cube value">
            <a:extLst xmlns:a="http://schemas.openxmlformats.org/drawingml/2006/main">
              <a:ext uri="{FF2B5EF4-FFF2-40B4-BE49-F238E27FC236}">
                <a16:creationId xmlns:a16="http://schemas.microsoft.com/office/drawing/2014/main" id="{D58E50C2-679B-4EE7-A120-9DBAEF48EDAD}"/>
              </a:ext>
            </a:extLst>
          </p:cNvPr>
          <p:cNvSpPr>
            <a:spLocks xmlns:a="http://schemas.openxmlformats.org/drawingml/2006/main" noGrp="1"/>
          </p:cNvSpPr>
          <p:nvPr/>
        </p:nvSpPr>
        <p:spPr>
          <a:xfrm xmlns:a="http://schemas.openxmlformats.org/drawingml/2006/main">
            <a:off x="1685925"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2616A"/>
                </a:solidFill>
                <a:latin typeface="DejaVu Sans"/>
                <a:ea typeface="DejaVu Sans"/>
                <a:cs typeface="DejaVu Sans"/>
              </a:defRPr>
            </a:defPPr>
          </a:lstStyle>
          <a:p xmlns:a="http://schemas.openxmlformats.org/drawingml/2006/main">
            <a:pPr algn="l">
              <a:defRPr sz="2100" b="1">
                <a:solidFill>
                  <a:srgbClr val="52616A"/>
                </a:solidFill>
                <a:latin typeface="DejaVu Sans"/>
                <a:ea typeface="DejaVu Sans"/>
                <a:cs typeface="DejaVu Sans"/>
              </a:defRPr>
            </a:pPr>
            <a:r>
              <a:rPr sz="2100" b="1">
                <a:solidFill>
                  <a:srgbClr val="52616A"/>
                </a:solidFill>
                <a:latin typeface="DejaVu Sans"/>
                <a:ea typeface="DejaVu Sans"/>
                <a:cs typeface="DejaVu Sans"/>
              </a:rPr>
              <a:t>3</a:t>
            </a:r>
          </a:p>
        </p:txBody>
      </p:sp>
      <p:sp>
        <p:nvSpPr>
          <p:cNvPr id="15" name="Gray cube unit">
            <a:extLst xmlns:a="http://schemas.openxmlformats.org/drawingml/2006/main">
              <a:ext uri="{FF2B5EF4-FFF2-40B4-BE49-F238E27FC236}">
                <a16:creationId xmlns:a16="http://schemas.microsoft.com/office/drawing/2014/main" id="{0D3643D6-396E-473D-A0AE-DA9FDBEDEAAF}"/>
              </a:ext>
            </a:extLst>
          </p:cNvPr>
          <p:cNvSpPr>
            <a:spLocks xmlns:a="http://schemas.openxmlformats.org/drawingml/2006/main" noGrp="1"/>
          </p:cNvSpPr>
          <p:nvPr/>
        </p:nvSpPr>
        <p:spPr>
          <a:xfrm xmlns:a="http://schemas.openxmlformats.org/drawingml/2006/main">
            <a:off x="2095500" y="2543175"/>
            <a:ext cx="914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1">
                <a:solidFill>
                  <a:srgbClr val="52616A"/>
                </a:solidFill>
                <a:latin typeface="DejaVu Sans"/>
                <a:ea typeface="DejaVu Sans"/>
                <a:cs typeface="DejaVu Sans"/>
              </a:defRPr>
            </a:defPPr>
          </a:lstStyle>
          <a:p xmlns:a="http://schemas.openxmlformats.org/drawingml/2006/main">
            <a:pPr algn="l">
              <a:defRPr sz="863" b="1">
                <a:solidFill>
                  <a:srgbClr val="52616A"/>
                </a:solidFill>
                <a:latin typeface="DejaVu Sans"/>
                <a:ea typeface="DejaVu Sans"/>
                <a:cs typeface="DejaVu Sans"/>
              </a:defRPr>
            </a:pPr>
            <a:r>
              <a:rPr sz="863" b="1">
                <a:solidFill>
                  <a:srgbClr val="52616A"/>
                </a:solidFill>
                <a:latin typeface="DejaVu Sans"/>
                <a:ea typeface="DejaVu Sans"/>
                <a:cs typeface="DejaVu Sans"/>
              </a:rPr>
              <a:t>gray cubes</a:t>
            </a:r>
          </a:p>
        </p:txBody>
      </p:sp>
      <p:sp>
        <p:nvSpPr>
          <p:cNvPr id="16" name="Eligibility divider">
            <a:extLst xmlns:a="http://schemas.openxmlformats.org/drawingml/2006/main">
              <a:ext uri="{FF2B5EF4-FFF2-40B4-BE49-F238E27FC236}">
                <a16:creationId xmlns:a16="http://schemas.microsoft.com/office/drawing/2014/main" id="{153EE326-FBA8-4439-81D6-081EBC4B310A}"/>
              </a:ext>
            </a:extLst>
          </p:cNvPr>
          <p:cNvSpPr>
            <a:spLocks xmlns:a="http://schemas.openxmlformats.org/drawingml/2006/main" noGrp="1"/>
          </p:cNvSpPr>
          <p:nvPr/>
        </p:nvSpPr>
        <p:spPr>
          <a:xfrm xmlns:a="http://schemas.openxmlformats.org/drawingml/2006/main">
            <a:off x="190500" y="282892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7" name="Without certification heading">
            <a:extLst xmlns:a="http://schemas.openxmlformats.org/drawingml/2006/main">
              <a:ext uri="{FF2B5EF4-FFF2-40B4-BE49-F238E27FC236}">
                <a16:creationId xmlns:a16="http://schemas.microsoft.com/office/drawing/2014/main" id="{ADF5AE7E-55DF-4AAC-84BE-7B6C5A498BB5}"/>
              </a:ext>
            </a:extLst>
          </p:cNvPr>
          <p:cNvSpPr>
            <a:spLocks xmlns:a="http://schemas.openxmlformats.org/drawingml/2006/main" noGrp="1"/>
          </p:cNvSpPr>
          <p:nvPr/>
        </p:nvSpPr>
        <p:spPr>
          <a:xfrm xmlns:a="http://schemas.openxmlformats.org/drawingml/2006/main">
            <a:off x="190500" y="2943225"/>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1">
                <a:solidFill>
                  <a:srgbClr val="9B4F45"/>
                </a:solidFill>
                <a:latin typeface="DejaVu Sans"/>
                <a:ea typeface="DejaVu Sans"/>
                <a:cs typeface="DejaVu Sans"/>
              </a:defRPr>
            </a:defPPr>
          </a:lstStyle>
          <a:p xmlns:a="http://schemas.openxmlformats.org/drawingml/2006/main">
            <a:pPr algn="l">
              <a:defRPr sz="825" b="1">
                <a:solidFill>
                  <a:srgbClr val="9B4F45"/>
                </a:solidFill>
                <a:latin typeface="DejaVu Sans"/>
                <a:ea typeface="DejaVu Sans"/>
                <a:cs typeface="DejaVu Sans"/>
              </a:defRPr>
            </a:pPr>
            <a:r>
              <a:rPr sz="825" b="1">
                <a:solidFill>
                  <a:srgbClr val="9B4F45"/>
                </a:solidFill>
                <a:latin typeface="DejaVu Sans"/>
                <a:ea typeface="DejaVu Sans"/>
                <a:cs typeface="DejaVu Sans"/>
              </a:rPr>
              <a:t>No Certified Expertise in Multi-Agent Systems</a:t>
            </a:r>
          </a:p>
        </p:txBody>
      </p:sp>
      <p:sp>
        <p:nvSpPr>
          <p:cNvPr id="18" name="Without certification rule">
            <a:extLst xmlns:a="http://schemas.openxmlformats.org/drawingml/2006/main">
              <a:ext uri="{FF2B5EF4-FFF2-40B4-BE49-F238E27FC236}">
                <a16:creationId xmlns:a16="http://schemas.microsoft.com/office/drawing/2014/main" id="{F20C5382-A4DA-4F2D-A2D5-EE7D34201D92}"/>
              </a:ext>
            </a:extLst>
          </p:cNvPr>
          <p:cNvSpPr>
            <a:spLocks xmlns:a="http://schemas.openxmlformats.org/drawingml/2006/main" noGrp="1"/>
          </p:cNvSpPr>
          <p:nvPr/>
        </p:nvSpPr>
        <p:spPr>
          <a:xfrm xmlns:a="http://schemas.openxmlformats.org/drawingml/2006/main">
            <a:off x="190500" y="3152775"/>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need at least 1 Multi-Agent Systems Recent Work token to apply. Only Multi-Agent Systems tokens count.</a:t>
            </a:r>
          </a:p>
        </p:txBody>
      </p:sp>
      <p:sp>
        <p:nvSpPr>
          <p:cNvPr id="19" name="With certification heading">
            <a:extLst xmlns:a="http://schemas.openxmlformats.org/drawingml/2006/main">
              <a:ext uri="{FF2B5EF4-FFF2-40B4-BE49-F238E27FC236}">
                <a16:creationId xmlns:a16="http://schemas.microsoft.com/office/drawing/2014/main" id="{480BA266-A6F3-49BE-AE21-3D9F0E56359F}"/>
              </a:ext>
            </a:extLst>
          </p:cNvPr>
          <p:cNvSpPr>
            <a:spLocks xmlns:a="http://schemas.openxmlformats.org/drawingml/2006/main" noGrp="1"/>
          </p:cNvSpPr>
          <p:nvPr/>
        </p:nvSpPr>
        <p:spPr>
          <a:xfrm xmlns:a="http://schemas.openxmlformats.org/drawingml/2006/main">
            <a:off x="190500" y="3619500"/>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9B4F45"/>
                </a:solidFill>
                <a:latin typeface="DejaVu Sans"/>
                <a:ea typeface="DejaVu Sans"/>
                <a:cs typeface="DejaVu Sans"/>
              </a:defRPr>
            </a:defPPr>
          </a:lstStyle>
          <a:p xmlns:a="http://schemas.openxmlformats.org/drawingml/2006/main">
            <a:pPr algn="l">
              <a:defRPr sz="788" b="1">
                <a:solidFill>
                  <a:srgbClr val="9B4F45"/>
                </a:solidFill>
                <a:latin typeface="DejaVu Sans"/>
                <a:ea typeface="DejaVu Sans"/>
                <a:cs typeface="DejaVu Sans"/>
              </a:defRPr>
            </a:pPr>
            <a:r>
              <a:rPr sz="788" b="1">
                <a:solidFill>
                  <a:srgbClr val="9B4F45"/>
                </a:solidFill>
                <a:latin typeface="DejaVu Sans"/>
                <a:ea typeface="DejaVu Sans"/>
                <a:cs typeface="DejaVu Sans"/>
              </a:rPr>
              <a:t>With Certified Expertise in Multi-Agent Systems</a:t>
            </a:r>
          </a:p>
        </p:txBody>
      </p:sp>
      <p:sp>
        <p:nvSpPr>
          <p:cNvPr id="20" name="With certification rule">
            <a:extLst xmlns:a="http://schemas.openxmlformats.org/drawingml/2006/main">
              <a:ext uri="{FF2B5EF4-FFF2-40B4-BE49-F238E27FC236}">
                <a16:creationId xmlns:a16="http://schemas.microsoft.com/office/drawing/2014/main" id="{042726C6-1D2C-42E8-B863-F12A454B4765}"/>
              </a:ext>
            </a:extLst>
          </p:cNvPr>
          <p:cNvSpPr>
            <a:spLocks xmlns:a="http://schemas.openxmlformats.org/drawingml/2006/main" noGrp="1"/>
          </p:cNvSpPr>
          <p:nvPr/>
        </p:nvSpPr>
        <p:spPr>
          <a:xfrm xmlns:a="http://schemas.openxmlformats.org/drawingml/2006/main">
            <a:off x="190500" y="3829050"/>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may apply without Recent Work. Recent Work from ANY topic can count. Your expertise badge is permanent.</a:t>
            </a:r>
          </a:p>
        </p:txBody>
      </p:sp>
      <p:sp>
        <p:nvSpPr>
          <p:cNvPr id="21" name="Footer divider">
            <a:extLst xmlns:a="http://schemas.openxmlformats.org/drawingml/2006/main">
              <a:ext uri="{FF2B5EF4-FFF2-40B4-BE49-F238E27FC236}">
                <a16:creationId xmlns:a16="http://schemas.microsoft.com/office/drawing/2014/main" id="{587305EE-BCAE-4F75-B31B-329A88E74B22}"/>
              </a:ext>
            </a:extLst>
          </p:cNvPr>
          <p:cNvSpPr>
            <a:spLocks xmlns:a="http://schemas.openxmlformats.org/drawingml/2006/main" noGrp="1"/>
          </p:cNvSpPr>
          <p:nvPr/>
        </p:nvSpPr>
        <p:spPr>
          <a:xfrm xmlns:a="http://schemas.openxmlformats.org/drawingml/2006/main">
            <a:off x="190500" y="4286250"/>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22" name="Recent Work cap">
            <a:extLst xmlns:a="http://schemas.openxmlformats.org/drawingml/2006/main">
              <a:ext uri="{FF2B5EF4-FFF2-40B4-BE49-F238E27FC236}">
                <a16:creationId xmlns:a16="http://schemas.microsoft.com/office/drawing/2014/main" id="{38363D1F-5A4A-426C-A583-218770223DE8}"/>
              </a:ext>
            </a:extLst>
          </p:cNvPr>
          <p:cNvSpPr>
            <a:spLocks xmlns:a="http://schemas.openxmlformats.org/drawingml/2006/main" noGrp="1"/>
          </p:cNvSpPr>
          <p:nvPr/>
        </p:nvSpPr>
        <p:spPr>
          <a:xfrm xmlns:a="http://schemas.openxmlformats.org/drawingml/2006/main">
            <a:off x="190500" y="4371975"/>
            <a:ext cx="28194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192936"/>
                </a:solidFill>
                <a:latin typeface="DejaVu Sans"/>
                <a:ea typeface="DejaVu Sans"/>
                <a:cs typeface="DejaVu Sans"/>
              </a:defRPr>
            </a:defPPr>
          </a:lstStyle>
          <a:p xmlns:a="http://schemas.openxmlformats.org/drawingml/2006/main">
            <a:pPr algn="l">
              <a:defRPr sz="788" b="1">
                <a:solidFill>
                  <a:srgbClr val="192936"/>
                </a:solidFill>
                <a:latin typeface="DejaVu Sans"/>
                <a:ea typeface="DejaVu Sans"/>
                <a:cs typeface="DejaVu Sans"/>
              </a:defRPr>
            </a:pPr>
            <a:r>
              <a:rPr sz="788" b="1">
                <a:solidFill>
                  <a:srgbClr val="192936"/>
                </a:solidFill>
                <a:latin typeface="DejaVu Sans"/>
                <a:ea typeface="DejaVu Sans"/>
                <a:cs typeface="DejaVu Sans"/>
              </a:rPr>
              <a:t>Count at most 3 Recent Work tokens.</a:t>
            </a:r>
          </a:p>
        </p:txBody>
      </p:sp>
    </p:spTree>
    <p:extLst>
      <p:ext uri="{BB962C8B-B14F-4D97-AF65-F5344CB8AC3E}">
        <p14:creationId xmlns:p14="http://schemas.microsoft.com/office/powerpoint/2010/main" val="128686930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Card border">
            <a:extLst xmlns:a="http://schemas.openxmlformats.org/drawingml/2006/main">
              <a:ext uri="{FF2B5EF4-FFF2-40B4-BE49-F238E27FC236}">
                <a16:creationId xmlns:a16="http://schemas.microsoft.com/office/drawing/2014/main" id="{0B0DE27B-DE96-47D5-B855-36FA57C249F2}"/>
              </a:ext>
            </a:extLst>
          </p:cNvPr>
          <p:cNvSpPr>
            <a:spLocks xmlns:a="http://schemas.openxmlformats.org/drawingml/2006/main" noGrp="1"/>
          </p:cNvSpPr>
          <p:nvPr/>
        </p:nvSpPr>
        <p:spPr>
          <a:xfrm xmlns:a="http://schemas.openxmlformats.org/drawingml/2006/main">
            <a:off x="9525" y="9525"/>
            <a:ext cx="3181350" cy="4552950"/>
          </a:xfrm>
          <a:prstGeom xmlns:a="http://schemas.openxmlformats.org/drawingml/2006/main" prst="rect">
            <a:avLst/>
          </a:prstGeom>
          <a:noFill xmlns:a="http://schemas.openxmlformats.org/drawingml/2006/main"/>
          <a:ln xmlns:a="http://schemas.openxmlformats.org/drawingml/2006/main" w="9525">
            <a:solidFill>
              <a:srgbClr val="D0D5D8"/>
            </a:solidFill>
          </a:ln>
        </p:spPr>
      </p:sp>
      <p:sp>
        <p:nvSpPr>
          <p:cNvPr id="2" name="Topic color band">
            <a:extLst xmlns:a="http://schemas.openxmlformats.org/drawingml/2006/main">
              <a:ext uri="{FF2B5EF4-FFF2-40B4-BE49-F238E27FC236}">
                <a16:creationId xmlns:a16="http://schemas.microsoft.com/office/drawing/2014/main" id="{B5AB9B4E-3181-40A6-BA99-A30DEDB38807}"/>
              </a:ext>
            </a:extLst>
          </p:cNvPr>
          <p:cNvSpPr>
            <a:spLocks xmlns:a="http://schemas.openxmlformats.org/drawingml/2006/main" noGrp="1"/>
          </p:cNvSpPr>
          <p:nvPr/>
        </p:nvSpPr>
        <p:spPr>
          <a:xfrm xmlns:a="http://schemas.openxmlformats.org/drawingml/2006/main">
            <a:off x="9525" y="9525"/>
            <a:ext cx="3181350" cy="400050"/>
          </a:xfrm>
          <a:prstGeom xmlns:a="http://schemas.openxmlformats.org/drawingml/2006/main" prst="rect">
            <a:avLst/>
          </a:prstGeom>
          <a:solidFill xmlns:a="http://schemas.openxmlformats.org/drawingml/2006/main">
            <a:srgbClr val="9B4F45"/>
          </a:solidFill>
          <a:ln xmlns:a="http://schemas.openxmlformats.org/drawingml/2006/main" w="0">
            <a:noFill/>
          </a:ln>
        </p:spPr>
      </p:sp>
      <p:sp>
        <p:nvSpPr>
          <p:cNvPr id="3" name="Game name">
            <a:extLst xmlns:a="http://schemas.openxmlformats.org/drawingml/2006/main">
              <a:ext uri="{FF2B5EF4-FFF2-40B4-BE49-F238E27FC236}">
                <a16:creationId xmlns:a16="http://schemas.microsoft.com/office/drawing/2014/main" id="{E86CA208-68EE-4AE0-88F9-AECC5269E0F8}"/>
              </a:ext>
            </a:extLst>
          </p:cNvPr>
          <p:cNvSpPr>
            <a:spLocks xmlns:a="http://schemas.openxmlformats.org/drawingml/2006/main" noGrp="1"/>
          </p:cNvSpPr>
          <p:nvPr/>
        </p:nvSpPr>
        <p:spPr>
          <a:xfrm xmlns:a="http://schemas.openxmlformats.org/drawingml/2006/main">
            <a:off x="190500" y="133350"/>
            <a:ext cx="1943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FFFFFF"/>
                </a:solidFill>
                <a:latin typeface="DejaVu Sans"/>
                <a:ea typeface="DejaVu Sans"/>
                <a:cs typeface="DejaVu Sans"/>
              </a:defRPr>
            </a:defPPr>
          </a:lstStyle>
          <a:p xmlns:a="http://schemas.openxmlformats.org/drawingml/2006/main">
            <a:pPr algn="l">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GRANT CONTROL</a:t>
            </a:r>
          </a:p>
        </p:txBody>
      </p:sp>
      <p:sp>
        <p:nvSpPr>
          <p:cNvPr id="4" name="Card identifier">
            <a:extLst xmlns:a="http://schemas.openxmlformats.org/drawingml/2006/main">
              <a:ext uri="{FF2B5EF4-FFF2-40B4-BE49-F238E27FC236}">
                <a16:creationId xmlns:a16="http://schemas.microsoft.com/office/drawing/2014/main" id="{68FD447A-2C5A-460E-B92D-6625DE1933EC}"/>
              </a:ext>
            </a:extLst>
          </p:cNvPr>
          <p:cNvSpPr>
            <a:spLocks xmlns:a="http://schemas.openxmlformats.org/drawingml/2006/main" noGrp="1"/>
          </p:cNvSpPr>
          <p:nvPr/>
        </p:nvSpPr>
        <p:spPr>
          <a:xfrm xmlns:a="http://schemas.openxmlformats.org/drawingml/2006/main">
            <a:off x="2371725" y="142875"/>
            <a:ext cx="6381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788" b="1">
                <a:solidFill>
                  <a:srgbClr val="FFFFFF"/>
                </a:solidFill>
                <a:latin typeface="DejaVu Sans"/>
                <a:ea typeface="DejaVu Sans"/>
                <a:cs typeface="DejaVu Sans"/>
              </a:defRPr>
            </a:defPPr>
          </a:lstStyle>
          <a:p xmlns:a="http://schemas.openxmlformats.org/drawingml/2006/main">
            <a:pPr algn="r">
              <a:defRPr sz="788" b="1">
                <a:solidFill>
                  <a:srgbClr val="FFFFFF"/>
                </a:solidFill>
                <a:latin typeface="DejaVu Sans"/>
                <a:ea typeface="DejaVu Sans"/>
                <a:cs typeface="DejaVu Sans"/>
              </a:defRPr>
            </a:pPr>
            <a:r>
              <a:rPr sz="788" b="1">
                <a:solidFill>
                  <a:srgbClr val="FFFFFF"/>
                </a:solidFill>
                <a:latin typeface="DejaVu Sans"/>
                <a:ea typeface="DejaVu Sans"/>
                <a:cs typeface="DejaVu Sans"/>
              </a:rPr>
              <a:t>MAS-02</a:t>
            </a:r>
          </a:p>
        </p:txBody>
      </p:sp>
      <p:sp>
        <p:nvSpPr>
          <p:cNvPr id="5" name="Card category">
            <a:extLst xmlns:a="http://schemas.openxmlformats.org/drawingml/2006/main">
              <a:ext uri="{FF2B5EF4-FFF2-40B4-BE49-F238E27FC236}">
                <a16:creationId xmlns:a16="http://schemas.microsoft.com/office/drawing/2014/main" id="{2441A2EE-C843-427E-B882-F861474D351C}"/>
              </a:ext>
            </a:extLst>
          </p:cNvPr>
          <p:cNvSpPr>
            <a:spLocks xmlns:a="http://schemas.openxmlformats.org/drawingml/2006/main" noGrp="1"/>
          </p:cNvSpPr>
          <p:nvPr/>
        </p:nvSpPr>
        <p:spPr>
          <a:xfrm xmlns:a="http://schemas.openxmlformats.org/drawingml/2006/main">
            <a:off x="190500" y="523875"/>
            <a:ext cx="2800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9B4F45"/>
                </a:solidFill>
                <a:latin typeface="DejaVu Sans"/>
                <a:ea typeface="DejaVu Sans"/>
                <a:cs typeface="DejaVu Sans"/>
              </a:defRPr>
            </a:defPPr>
          </a:lstStyle>
          <a:p xmlns:a="http://schemas.openxmlformats.org/drawingml/2006/main">
            <a:pPr algn="l">
              <a:defRPr sz="788" b="1">
                <a:solidFill>
                  <a:srgbClr val="9B4F45"/>
                </a:solidFill>
                <a:latin typeface="DejaVu Sans"/>
                <a:ea typeface="DejaVu Sans"/>
                <a:cs typeface="DejaVu Sans"/>
              </a:defRPr>
            </a:pPr>
            <a:r>
              <a:rPr sz="788" b="1">
                <a:solidFill>
                  <a:srgbClr val="9B4F45"/>
                </a:solidFill>
                <a:latin typeface="DejaVu Sans"/>
                <a:ea typeface="DejaVu Sans"/>
                <a:cs typeface="DejaVu Sans"/>
              </a:rPr>
              <a:t>FUNDING CALL</a:t>
            </a:r>
          </a:p>
        </p:txBody>
      </p:sp>
      <p:sp>
        <p:nvSpPr>
          <p:cNvPr id="6" name="Primary topic">
            <a:extLst xmlns:a="http://schemas.openxmlformats.org/drawingml/2006/main">
              <a:ext uri="{FF2B5EF4-FFF2-40B4-BE49-F238E27FC236}">
                <a16:creationId xmlns:a16="http://schemas.microsoft.com/office/drawing/2014/main" id="{B231E925-2C75-49FA-A8D3-DEDFF9423F4D}"/>
              </a:ext>
            </a:extLst>
          </p:cNvPr>
          <p:cNvSpPr>
            <a:spLocks xmlns:a="http://schemas.openxmlformats.org/drawingml/2006/main" noGrp="1"/>
          </p:cNvSpPr>
          <p:nvPr/>
        </p:nvSpPr>
        <p:spPr>
          <a:xfrm xmlns:a="http://schemas.openxmlformats.org/drawingml/2006/main">
            <a:off x="190500" y="733425"/>
            <a:ext cx="2819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9B4F45"/>
                </a:solidFill>
                <a:latin typeface="DejaVu Sans"/>
                <a:ea typeface="DejaVu Sans"/>
                <a:cs typeface="DejaVu Sans"/>
              </a:defRPr>
            </a:defPPr>
          </a:lstStyle>
          <a:p xmlns:a="http://schemas.openxmlformats.org/drawingml/2006/main">
            <a:pPr algn="l">
              <a:defRPr sz="975" b="1">
                <a:solidFill>
                  <a:srgbClr val="9B4F45"/>
                </a:solidFill>
                <a:latin typeface="DejaVu Sans"/>
                <a:ea typeface="DejaVu Sans"/>
                <a:cs typeface="DejaVu Sans"/>
              </a:defRPr>
            </a:pPr>
            <a:r>
              <a:rPr sz="975" b="1">
                <a:solidFill>
                  <a:srgbClr val="9B4F45"/>
                </a:solidFill>
                <a:latin typeface="DejaVu Sans"/>
                <a:ea typeface="DejaVu Sans"/>
                <a:cs typeface="DejaVu Sans"/>
              </a:rPr>
              <a:t>Multi-Agent Systems</a:t>
            </a:r>
          </a:p>
        </p:txBody>
      </p:sp>
      <p:sp>
        <p:nvSpPr>
          <p:cNvPr id="7" name="Call title">
            <a:extLst xmlns:a="http://schemas.openxmlformats.org/drawingml/2006/main">
              <a:ext uri="{FF2B5EF4-FFF2-40B4-BE49-F238E27FC236}">
                <a16:creationId xmlns:a16="http://schemas.microsoft.com/office/drawing/2014/main" id="{A3E2D78D-A9D4-4C2F-8916-6A746053D28F}"/>
              </a:ext>
            </a:extLst>
          </p:cNvPr>
          <p:cNvSpPr>
            <a:spLocks xmlns:a="http://schemas.openxmlformats.org/drawingml/2006/main" noGrp="1"/>
          </p:cNvSpPr>
          <p:nvPr/>
        </p:nvSpPr>
        <p:spPr>
          <a:xfrm xmlns:a="http://schemas.openxmlformats.org/drawingml/2006/main">
            <a:off x="190500" y="1028700"/>
            <a:ext cx="281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92936"/>
                </a:solidFill>
                <a:latin typeface="DejaVu Sans"/>
                <a:ea typeface="DejaVu Sans"/>
                <a:cs typeface="DejaVu Sans"/>
              </a:defRPr>
            </a:defPPr>
          </a:lstStyle>
          <a:p xmlns:a="http://schemas.openxmlformats.org/drawingml/2006/main">
            <a:pPr algn="l">
              <a:defRPr sz="1500" b="1">
                <a:solidFill>
                  <a:srgbClr val="192936"/>
                </a:solidFill>
                <a:latin typeface="DejaVu Sans"/>
                <a:ea typeface="DejaVu Sans"/>
                <a:cs typeface="DejaVu Sans"/>
              </a:defRPr>
            </a:pPr>
            <a:r>
              <a:rPr sz="1500" b="1">
                <a:solidFill>
                  <a:srgbClr val="192936"/>
                </a:solidFill>
                <a:latin typeface="DejaVu Sans"/>
                <a:ea typeface="DejaVu Sans"/>
                <a:cs typeface="DejaVu Sans"/>
              </a:rPr>
              <a:t>Resilient Autonomous Teams</a:t>
            </a:r>
          </a:p>
        </p:txBody>
      </p:sp>
      <p:sp>
        <p:nvSpPr>
          <p:cNvPr id="8" name="Research scope">
            <a:extLst xmlns:a="http://schemas.openxmlformats.org/drawingml/2006/main">
              <a:ext uri="{FF2B5EF4-FFF2-40B4-BE49-F238E27FC236}">
                <a16:creationId xmlns:a16="http://schemas.microsoft.com/office/drawing/2014/main" id="{F78A64D4-3C37-447C-BCC6-3D7649960B0D}"/>
              </a:ext>
            </a:extLst>
          </p:cNvPr>
          <p:cNvSpPr>
            <a:spLocks xmlns:a="http://schemas.openxmlformats.org/drawingml/2006/main" noGrp="1"/>
          </p:cNvSpPr>
          <p:nvPr/>
        </p:nvSpPr>
        <p:spPr>
          <a:xfrm xmlns:a="http://schemas.openxmlformats.org/drawingml/2006/main">
            <a:off x="190500" y="1628775"/>
            <a:ext cx="2819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0">
                <a:solidFill>
                  <a:srgbClr val="52616A"/>
                </a:solidFill>
                <a:latin typeface="DejaVu Sans"/>
                <a:ea typeface="DejaVu Sans"/>
                <a:cs typeface="DejaVu Sans"/>
              </a:defRPr>
            </a:defPPr>
          </a:lstStyle>
          <a:p xmlns:a="http://schemas.openxmlformats.org/drawingml/2006/main">
            <a:pPr algn="l">
              <a:defRPr sz="825" b="0">
                <a:solidFill>
                  <a:srgbClr val="52616A"/>
                </a:solidFill>
                <a:latin typeface="DejaVu Sans"/>
                <a:ea typeface="DejaVu Sans"/>
                <a:cs typeface="DejaVu Sans"/>
              </a:defRPr>
            </a:pPr>
            <a:r>
              <a:rPr sz="825" b="0">
                <a:solidFill>
                  <a:srgbClr val="52616A"/>
                </a:solidFill>
                <a:latin typeface="DejaVu Sans"/>
                <a:ea typeface="DejaVu Sans"/>
                <a:cs typeface="DejaVu Sans"/>
              </a:rPr>
              <a:t>Develop coordination methods for autonomous agents facing communication loss. Study how the team maintains useful collective behavior.</a:t>
            </a:r>
          </a:p>
        </p:txBody>
      </p:sp>
      <p:sp>
        <p:nvSpPr>
          <p:cNvPr id="9" name="Statistics divider">
            <a:extLst xmlns:a="http://schemas.openxmlformats.org/drawingml/2006/main">
              <a:ext uri="{FF2B5EF4-FFF2-40B4-BE49-F238E27FC236}">
                <a16:creationId xmlns:a16="http://schemas.microsoft.com/office/drawing/2014/main" id="{1D3D7A37-7C74-4017-9D6D-EE8FDBC04EA3}"/>
              </a:ext>
            </a:extLst>
          </p:cNvPr>
          <p:cNvSpPr>
            <a:spLocks xmlns:a="http://schemas.openxmlformats.org/drawingml/2006/main" noGrp="1"/>
          </p:cNvSpPr>
          <p:nvPr/>
        </p:nvSpPr>
        <p:spPr>
          <a:xfrm xmlns:a="http://schemas.openxmlformats.org/drawingml/2006/main">
            <a:off x="190500" y="216217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0" name="Funding award label">
            <a:extLst xmlns:a="http://schemas.openxmlformats.org/drawingml/2006/main">
              <a:ext uri="{FF2B5EF4-FFF2-40B4-BE49-F238E27FC236}">
                <a16:creationId xmlns:a16="http://schemas.microsoft.com/office/drawing/2014/main" id="{B78BFCD9-E9C2-49BD-9433-B81103C5B26C}"/>
              </a:ext>
            </a:extLst>
          </p:cNvPr>
          <p:cNvSpPr>
            <a:spLocks xmlns:a="http://schemas.openxmlformats.org/drawingml/2006/main" noGrp="1"/>
          </p:cNvSpPr>
          <p:nvPr/>
        </p:nvSpPr>
        <p:spPr>
          <a:xfrm xmlns:a="http://schemas.openxmlformats.org/drawingml/2006/main">
            <a:off x="190500"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FUNDING AWARD</a:t>
            </a:r>
          </a:p>
        </p:txBody>
      </p:sp>
      <p:sp>
        <p:nvSpPr>
          <p:cNvPr id="11" name="Gray cube label">
            <a:extLst xmlns:a="http://schemas.openxmlformats.org/drawingml/2006/main">
              <a:ext uri="{FF2B5EF4-FFF2-40B4-BE49-F238E27FC236}">
                <a16:creationId xmlns:a16="http://schemas.microsoft.com/office/drawing/2014/main" id="{ABB1ABBC-CF4A-4BD3-8A9C-B39C181B911B}"/>
              </a:ext>
            </a:extLst>
          </p:cNvPr>
          <p:cNvSpPr>
            <a:spLocks xmlns:a="http://schemas.openxmlformats.org/drawingml/2006/main" noGrp="1"/>
          </p:cNvSpPr>
          <p:nvPr/>
        </p:nvSpPr>
        <p:spPr>
          <a:xfrm xmlns:a="http://schemas.openxmlformats.org/drawingml/2006/main">
            <a:off x="1685925"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OUTSIDE / NO-AWARD</a:t>
            </a:r>
          </a:p>
        </p:txBody>
      </p:sp>
      <p:sp>
        <p:nvSpPr>
          <p:cNvPr id="12" name="Funding award value">
            <a:extLst xmlns:a="http://schemas.openxmlformats.org/drawingml/2006/main">
              <a:ext uri="{FF2B5EF4-FFF2-40B4-BE49-F238E27FC236}">
                <a16:creationId xmlns:a16="http://schemas.microsoft.com/office/drawing/2014/main" id="{5A951A44-4C36-4880-99D4-77D809FD8827}"/>
              </a:ext>
            </a:extLst>
          </p:cNvPr>
          <p:cNvSpPr>
            <a:spLocks xmlns:a="http://schemas.openxmlformats.org/drawingml/2006/main" noGrp="1"/>
          </p:cNvSpPr>
          <p:nvPr/>
        </p:nvSpPr>
        <p:spPr>
          <a:xfrm xmlns:a="http://schemas.openxmlformats.org/drawingml/2006/main">
            <a:off x="190500"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9B4F45"/>
                </a:solidFill>
                <a:latin typeface="DejaVu Sans"/>
                <a:ea typeface="DejaVu Sans"/>
                <a:cs typeface="DejaVu Sans"/>
              </a:defRPr>
            </a:defPPr>
          </a:lstStyle>
          <a:p xmlns:a="http://schemas.openxmlformats.org/drawingml/2006/main">
            <a:pPr algn="l">
              <a:defRPr sz="2100" b="1">
                <a:solidFill>
                  <a:srgbClr val="9B4F45"/>
                </a:solidFill>
                <a:latin typeface="DejaVu Sans"/>
                <a:ea typeface="DejaVu Sans"/>
                <a:cs typeface="DejaVu Sans"/>
              </a:defRPr>
            </a:pPr>
            <a:r>
              <a:rPr sz="2100" b="1">
                <a:solidFill>
                  <a:srgbClr val="9B4F45"/>
                </a:solidFill>
                <a:latin typeface="DejaVu Sans"/>
                <a:ea typeface="DejaVu Sans"/>
                <a:cs typeface="DejaVu Sans"/>
              </a:rPr>
              <a:t>5</a:t>
            </a:r>
          </a:p>
        </p:txBody>
      </p:sp>
      <p:sp>
        <p:nvSpPr>
          <p:cNvPr id="13" name="Funding award unit">
            <a:extLst xmlns:a="http://schemas.openxmlformats.org/drawingml/2006/main">
              <a:ext uri="{FF2B5EF4-FFF2-40B4-BE49-F238E27FC236}">
                <a16:creationId xmlns:a16="http://schemas.microsoft.com/office/drawing/2014/main" id="{4CC6ED21-8707-4DC9-B625-D45EB57A7EB6}"/>
              </a:ext>
            </a:extLst>
          </p:cNvPr>
          <p:cNvSpPr>
            <a:spLocks xmlns:a="http://schemas.openxmlformats.org/drawingml/2006/main" noGrp="1"/>
          </p:cNvSpPr>
          <p:nvPr/>
        </p:nvSpPr>
        <p:spPr>
          <a:xfrm xmlns:a="http://schemas.openxmlformats.org/drawingml/2006/main">
            <a:off x="600075" y="2543175"/>
            <a:ext cx="904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192936"/>
                </a:solidFill>
                <a:latin typeface="DejaVu Sans"/>
                <a:ea typeface="DejaVu Sans"/>
                <a:cs typeface="DejaVu Sans"/>
              </a:defRPr>
            </a:defPPr>
          </a:lstStyle>
          <a:p xmlns:a="http://schemas.openxmlformats.org/drawingml/2006/main">
            <a:pPr algn="l">
              <a:defRPr sz="900" b="1">
                <a:solidFill>
                  <a:srgbClr val="192936"/>
                </a:solidFill>
                <a:latin typeface="DejaVu Sans"/>
                <a:ea typeface="DejaVu Sans"/>
                <a:cs typeface="DejaVu Sans"/>
              </a:defRPr>
            </a:pPr>
            <a:r>
              <a:rPr sz="900" b="1">
                <a:solidFill>
                  <a:srgbClr val="192936"/>
                </a:solidFill>
                <a:latin typeface="DejaVu Sans"/>
                <a:ea typeface="DejaVu Sans"/>
                <a:cs typeface="DejaVu Sans"/>
              </a:rPr>
              <a:t>Funding</a:t>
            </a:r>
          </a:p>
        </p:txBody>
      </p:sp>
      <p:sp>
        <p:nvSpPr>
          <p:cNvPr id="14" name="Gray cube value">
            <a:extLst xmlns:a="http://schemas.openxmlformats.org/drawingml/2006/main">
              <a:ext uri="{FF2B5EF4-FFF2-40B4-BE49-F238E27FC236}">
                <a16:creationId xmlns:a16="http://schemas.microsoft.com/office/drawing/2014/main" id="{9944E154-EB6B-488D-B967-F6978D23963E}"/>
              </a:ext>
            </a:extLst>
          </p:cNvPr>
          <p:cNvSpPr>
            <a:spLocks xmlns:a="http://schemas.openxmlformats.org/drawingml/2006/main" noGrp="1"/>
          </p:cNvSpPr>
          <p:nvPr/>
        </p:nvSpPr>
        <p:spPr>
          <a:xfrm xmlns:a="http://schemas.openxmlformats.org/drawingml/2006/main">
            <a:off x="1685925"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2616A"/>
                </a:solidFill>
                <a:latin typeface="DejaVu Sans"/>
                <a:ea typeface="DejaVu Sans"/>
                <a:cs typeface="DejaVu Sans"/>
              </a:defRPr>
            </a:defPPr>
          </a:lstStyle>
          <a:p xmlns:a="http://schemas.openxmlformats.org/drawingml/2006/main">
            <a:pPr algn="l">
              <a:defRPr sz="2100" b="1">
                <a:solidFill>
                  <a:srgbClr val="52616A"/>
                </a:solidFill>
                <a:latin typeface="DejaVu Sans"/>
                <a:ea typeface="DejaVu Sans"/>
                <a:cs typeface="DejaVu Sans"/>
              </a:defRPr>
            </a:pPr>
            <a:r>
              <a:rPr sz="2100" b="1">
                <a:solidFill>
                  <a:srgbClr val="52616A"/>
                </a:solidFill>
                <a:latin typeface="DejaVu Sans"/>
                <a:ea typeface="DejaVu Sans"/>
                <a:cs typeface="DejaVu Sans"/>
              </a:rPr>
              <a:t>4</a:t>
            </a:r>
          </a:p>
        </p:txBody>
      </p:sp>
      <p:sp>
        <p:nvSpPr>
          <p:cNvPr id="15" name="Gray cube unit">
            <a:extLst xmlns:a="http://schemas.openxmlformats.org/drawingml/2006/main">
              <a:ext uri="{FF2B5EF4-FFF2-40B4-BE49-F238E27FC236}">
                <a16:creationId xmlns:a16="http://schemas.microsoft.com/office/drawing/2014/main" id="{78AB9C7F-8DEC-4566-B790-B81F64BC6BDD}"/>
              </a:ext>
            </a:extLst>
          </p:cNvPr>
          <p:cNvSpPr>
            <a:spLocks xmlns:a="http://schemas.openxmlformats.org/drawingml/2006/main" noGrp="1"/>
          </p:cNvSpPr>
          <p:nvPr/>
        </p:nvSpPr>
        <p:spPr>
          <a:xfrm xmlns:a="http://schemas.openxmlformats.org/drawingml/2006/main">
            <a:off x="2095500" y="2543175"/>
            <a:ext cx="914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1">
                <a:solidFill>
                  <a:srgbClr val="52616A"/>
                </a:solidFill>
                <a:latin typeface="DejaVu Sans"/>
                <a:ea typeface="DejaVu Sans"/>
                <a:cs typeface="DejaVu Sans"/>
              </a:defRPr>
            </a:defPPr>
          </a:lstStyle>
          <a:p xmlns:a="http://schemas.openxmlformats.org/drawingml/2006/main">
            <a:pPr algn="l">
              <a:defRPr sz="863" b="1">
                <a:solidFill>
                  <a:srgbClr val="52616A"/>
                </a:solidFill>
                <a:latin typeface="DejaVu Sans"/>
                <a:ea typeface="DejaVu Sans"/>
                <a:cs typeface="DejaVu Sans"/>
              </a:defRPr>
            </a:pPr>
            <a:r>
              <a:rPr sz="863" b="1">
                <a:solidFill>
                  <a:srgbClr val="52616A"/>
                </a:solidFill>
                <a:latin typeface="DejaVu Sans"/>
                <a:ea typeface="DejaVu Sans"/>
                <a:cs typeface="DejaVu Sans"/>
              </a:rPr>
              <a:t>gray cubes</a:t>
            </a:r>
          </a:p>
        </p:txBody>
      </p:sp>
      <p:sp>
        <p:nvSpPr>
          <p:cNvPr id="16" name="Eligibility divider">
            <a:extLst xmlns:a="http://schemas.openxmlformats.org/drawingml/2006/main">
              <a:ext uri="{FF2B5EF4-FFF2-40B4-BE49-F238E27FC236}">
                <a16:creationId xmlns:a16="http://schemas.microsoft.com/office/drawing/2014/main" id="{DA608D96-0368-4469-9B18-89861D694213}"/>
              </a:ext>
            </a:extLst>
          </p:cNvPr>
          <p:cNvSpPr>
            <a:spLocks xmlns:a="http://schemas.openxmlformats.org/drawingml/2006/main" noGrp="1"/>
          </p:cNvSpPr>
          <p:nvPr/>
        </p:nvSpPr>
        <p:spPr>
          <a:xfrm xmlns:a="http://schemas.openxmlformats.org/drawingml/2006/main">
            <a:off x="190500" y="282892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7" name="Without certification heading">
            <a:extLst xmlns:a="http://schemas.openxmlformats.org/drawingml/2006/main">
              <a:ext uri="{FF2B5EF4-FFF2-40B4-BE49-F238E27FC236}">
                <a16:creationId xmlns:a16="http://schemas.microsoft.com/office/drawing/2014/main" id="{E8153B24-A8C3-4F22-9E99-328EDEC37FE1}"/>
              </a:ext>
            </a:extLst>
          </p:cNvPr>
          <p:cNvSpPr>
            <a:spLocks xmlns:a="http://schemas.openxmlformats.org/drawingml/2006/main" noGrp="1"/>
          </p:cNvSpPr>
          <p:nvPr/>
        </p:nvSpPr>
        <p:spPr>
          <a:xfrm xmlns:a="http://schemas.openxmlformats.org/drawingml/2006/main">
            <a:off x="190500" y="2943225"/>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1">
                <a:solidFill>
                  <a:srgbClr val="9B4F45"/>
                </a:solidFill>
                <a:latin typeface="DejaVu Sans"/>
                <a:ea typeface="DejaVu Sans"/>
                <a:cs typeface="DejaVu Sans"/>
              </a:defRPr>
            </a:defPPr>
          </a:lstStyle>
          <a:p xmlns:a="http://schemas.openxmlformats.org/drawingml/2006/main">
            <a:pPr algn="l">
              <a:defRPr sz="825" b="1">
                <a:solidFill>
                  <a:srgbClr val="9B4F45"/>
                </a:solidFill>
                <a:latin typeface="DejaVu Sans"/>
                <a:ea typeface="DejaVu Sans"/>
                <a:cs typeface="DejaVu Sans"/>
              </a:defRPr>
            </a:pPr>
            <a:r>
              <a:rPr sz="825" b="1">
                <a:solidFill>
                  <a:srgbClr val="9B4F45"/>
                </a:solidFill>
                <a:latin typeface="DejaVu Sans"/>
                <a:ea typeface="DejaVu Sans"/>
                <a:cs typeface="DejaVu Sans"/>
              </a:rPr>
              <a:t>No Certified Expertise in Multi-Agent Systems</a:t>
            </a:r>
          </a:p>
        </p:txBody>
      </p:sp>
      <p:sp>
        <p:nvSpPr>
          <p:cNvPr id="18" name="Without certification rule">
            <a:extLst xmlns:a="http://schemas.openxmlformats.org/drawingml/2006/main">
              <a:ext uri="{FF2B5EF4-FFF2-40B4-BE49-F238E27FC236}">
                <a16:creationId xmlns:a16="http://schemas.microsoft.com/office/drawing/2014/main" id="{CFCBC589-5423-49F2-ABA0-AB1D08025690}"/>
              </a:ext>
            </a:extLst>
          </p:cNvPr>
          <p:cNvSpPr>
            <a:spLocks xmlns:a="http://schemas.openxmlformats.org/drawingml/2006/main" noGrp="1"/>
          </p:cNvSpPr>
          <p:nvPr/>
        </p:nvSpPr>
        <p:spPr>
          <a:xfrm xmlns:a="http://schemas.openxmlformats.org/drawingml/2006/main">
            <a:off x="190500" y="3152775"/>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need at least 1 Multi-Agent Systems Recent Work token to apply. Only Multi-Agent Systems tokens count.</a:t>
            </a:r>
          </a:p>
        </p:txBody>
      </p:sp>
      <p:sp>
        <p:nvSpPr>
          <p:cNvPr id="19" name="With certification heading">
            <a:extLst xmlns:a="http://schemas.openxmlformats.org/drawingml/2006/main">
              <a:ext uri="{FF2B5EF4-FFF2-40B4-BE49-F238E27FC236}">
                <a16:creationId xmlns:a16="http://schemas.microsoft.com/office/drawing/2014/main" id="{A6FC95A3-B7AE-4882-8193-BB71C6EDDF8D}"/>
              </a:ext>
            </a:extLst>
          </p:cNvPr>
          <p:cNvSpPr>
            <a:spLocks xmlns:a="http://schemas.openxmlformats.org/drawingml/2006/main" noGrp="1"/>
          </p:cNvSpPr>
          <p:nvPr/>
        </p:nvSpPr>
        <p:spPr>
          <a:xfrm xmlns:a="http://schemas.openxmlformats.org/drawingml/2006/main">
            <a:off x="190500" y="3619500"/>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9B4F45"/>
                </a:solidFill>
                <a:latin typeface="DejaVu Sans"/>
                <a:ea typeface="DejaVu Sans"/>
                <a:cs typeface="DejaVu Sans"/>
              </a:defRPr>
            </a:defPPr>
          </a:lstStyle>
          <a:p xmlns:a="http://schemas.openxmlformats.org/drawingml/2006/main">
            <a:pPr algn="l">
              <a:defRPr sz="788" b="1">
                <a:solidFill>
                  <a:srgbClr val="9B4F45"/>
                </a:solidFill>
                <a:latin typeface="DejaVu Sans"/>
                <a:ea typeface="DejaVu Sans"/>
                <a:cs typeface="DejaVu Sans"/>
              </a:defRPr>
            </a:pPr>
            <a:r>
              <a:rPr sz="788" b="1">
                <a:solidFill>
                  <a:srgbClr val="9B4F45"/>
                </a:solidFill>
                <a:latin typeface="DejaVu Sans"/>
                <a:ea typeface="DejaVu Sans"/>
                <a:cs typeface="DejaVu Sans"/>
              </a:rPr>
              <a:t>With Certified Expertise in Multi-Agent Systems</a:t>
            </a:r>
          </a:p>
        </p:txBody>
      </p:sp>
      <p:sp>
        <p:nvSpPr>
          <p:cNvPr id="20" name="With certification rule">
            <a:extLst xmlns:a="http://schemas.openxmlformats.org/drawingml/2006/main">
              <a:ext uri="{FF2B5EF4-FFF2-40B4-BE49-F238E27FC236}">
                <a16:creationId xmlns:a16="http://schemas.microsoft.com/office/drawing/2014/main" id="{5CB0FA1C-DD77-4E6F-BD35-E9AED3D3CF7D}"/>
              </a:ext>
            </a:extLst>
          </p:cNvPr>
          <p:cNvSpPr>
            <a:spLocks xmlns:a="http://schemas.openxmlformats.org/drawingml/2006/main" noGrp="1"/>
          </p:cNvSpPr>
          <p:nvPr/>
        </p:nvSpPr>
        <p:spPr>
          <a:xfrm xmlns:a="http://schemas.openxmlformats.org/drawingml/2006/main">
            <a:off x="190500" y="3829050"/>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may apply without Recent Work. Recent Work from ANY topic can count. Your expertise badge is permanent.</a:t>
            </a:r>
          </a:p>
        </p:txBody>
      </p:sp>
      <p:sp>
        <p:nvSpPr>
          <p:cNvPr id="21" name="Footer divider">
            <a:extLst xmlns:a="http://schemas.openxmlformats.org/drawingml/2006/main">
              <a:ext uri="{FF2B5EF4-FFF2-40B4-BE49-F238E27FC236}">
                <a16:creationId xmlns:a16="http://schemas.microsoft.com/office/drawing/2014/main" id="{AA78B3AC-5CDB-4A86-95A6-DFCD140C3EA2}"/>
              </a:ext>
            </a:extLst>
          </p:cNvPr>
          <p:cNvSpPr>
            <a:spLocks xmlns:a="http://schemas.openxmlformats.org/drawingml/2006/main" noGrp="1"/>
          </p:cNvSpPr>
          <p:nvPr/>
        </p:nvSpPr>
        <p:spPr>
          <a:xfrm xmlns:a="http://schemas.openxmlformats.org/drawingml/2006/main">
            <a:off x="190500" y="4286250"/>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22" name="Recent Work cap">
            <a:extLst xmlns:a="http://schemas.openxmlformats.org/drawingml/2006/main">
              <a:ext uri="{FF2B5EF4-FFF2-40B4-BE49-F238E27FC236}">
                <a16:creationId xmlns:a16="http://schemas.microsoft.com/office/drawing/2014/main" id="{133C84EF-9E2C-400E-A885-82374C16C7AC}"/>
              </a:ext>
            </a:extLst>
          </p:cNvPr>
          <p:cNvSpPr>
            <a:spLocks xmlns:a="http://schemas.openxmlformats.org/drawingml/2006/main" noGrp="1"/>
          </p:cNvSpPr>
          <p:nvPr/>
        </p:nvSpPr>
        <p:spPr>
          <a:xfrm xmlns:a="http://schemas.openxmlformats.org/drawingml/2006/main">
            <a:off x="190500" y="4371975"/>
            <a:ext cx="28194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192936"/>
                </a:solidFill>
                <a:latin typeface="DejaVu Sans"/>
                <a:ea typeface="DejaVu Sans"/>
                <a:cs typeface="DejaVu Sans"/>
              </a:defRPr>
            </a:defPPr>
          </a:lstStyle>
          <a:p xmlns:a="http://schemas.openxmlformats.org/drawingml/2006/main">
            <a:pPr algn="l">
              <a:defRPr sz="788" b="1">
                <a:solidFill>
                  <a:srgbClr val="192936"/>
                </a:solidFill>
                <a:latin typeface="DejaVu Sans"/>
                <a:ea typeface="DejaVu Sans"/>
                <a:cs typeface="DejaVu Sans"/>
              </a:defRPr>
            </a:pPr>
            <a:r>
              <a:rPr sz="788" b="1">
                <a:solidFill>
                  <a:srgbClr val="192936"/>
                </a:solidFill>
                <a:latin typeface="DejaVu Sans"/>
                <a:ea typeface="DejaVu Sans"/>
                <a:cs typeface="DejaVu Sans"/>
              </a:rPr>
              <a:t>Count at most 3 Recent Work tokens.</a:t>
            </a:r>
          </a:p>
        </p:txBody>
      </p:sp>
    </p:spTree>
    <p:extLst>
      <p:ext uri="{BB962C8B-B14F-4D97-AF65-F5344CB8AC3E}">
        <p14:creationId xmlns:p14="http://schemas.microsoft.com/office/powerpoint/2010/main" val="90657358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Card border">
            <a:extLst xmlns:a="http://schemas.openxmlformats.org/drawingml/2006/main">
              <a:ext uri="{FF2B5EF4-FFF2-40B4-BE49-F238E27FC236}">
                <a16:creationId xmlns:a16="http://schemas.microsoft.com/office/drawing/2014/main" id="{DB472520-0852-41D5-9AC3-7CEBB0C30871}"/>
              </a:ext>
            </a:extLst>
          </p:cNvPr>
          <p:cNvSpPr>
            <a:spLocks xmlns:a="http://schemas.openxmlformats.org/drawingml/2006/main" noGrp="1"/>
          </p:cNvSpPr>
          <p:nvPr/>
        </p:nvSpPr>
        <p:spPr>
          <a:xfrm xmlns:a="http://schemas.openxmlformats.org/drawingml/2006/main">
            <a:off x="9525" y="9525"/>
            <a:ext cx="3181350" cy="4552950"/>
          </a:xfrm>
          <a:prstGeom xmlns:a="http://schemas.openxmlformats.org/drawingml/2006/main" prst="rect">
            <a:avLst/>
          </a:prstGeom>
          <a:noFill xmlns:a="http://schemas.openxmlformats.org/drawingml/2006/main"/>
          <a:ln xmlns:a="http://schemas.openxmlformats.org/drawingml/2006/main" w="9525">
            <a:solidFill>
              <a:srgbClr val="D0D5D8"/>
            </a:solidFill>
          </a:ln>
        </p:spPr>
      </p:sp>
      <p:sp>
        <p:nvSpPr>
          <p:cNvPr id="2" name="Topic color band">
            <a:extLst xmlns:a="http://schemas.openxmlformats.org/drawingml/2006/main">
              <a:ext uri="{FF2B5EF4-FFF2-40B4-BE49-F238E27FC236}">
                <a16:creationId xmlns:a16="http://schemas.microsoft.com/office/drawing/2014/main" id="{27B4A2A5-4B7E-45CF-A305-A94357C90F4C}"/>
              </a:ext>
            </a:extLst>
          </p:cNvPr>
          <p:cNvSpPr>
            <a:spLocks xmlns:a="http://schemas.openxmlformats.org/drawingml/2006/main" noGrp="1"/>
          </p:cNvSpPr>
          <p:nvPr/>
        </p:nvSpPr>
        <p:spPr>
          <a:xfrm xmlns:a="http://schemas.openxmlformats.org/drawingml/2006/main">
            <a:off x="9525" y="9525"/>
            <a:ext cx="3181350" cy="400050"/>
          </a:xfrm>
          <a:prstGeom xmlns:a="http://schemas.openxmlformats.org/drawingml/2006/main" prst="rect">
            <a:avLst/>
          </a:prstGeom>
          <a:solidFill xmlns:a="http://schemas.openxmlformats.org/drawingml/2006/main">
            <a:srgbClr val="9B4F45"/>
          </a:solidFill>
          <a:ln xmlns:a="http://schemas.openxmlformats.org/drawingml/2006/main" w="0">
            <a:noFill/>
          </a:ln>
        </p:spPr>
      </p:sp>
      <p:sp>
        <p:nvSpPr>
          <p:cNvPr id="3" name="Game name">
            <a:extLst xmlns:a="http://schemas.openxmlformats.org/drawingml/2006/main">
              <a:ext uri="{FF2B5EF4-FFF2-40B4-BE49-F238E27FC236}">
                <a16:creationId xmlns:a16="http://schemas.microsoft.com/office/drawing/2014/main" id="{E1AE3E7E-7418-4C30-B48F-32990CF65EA1}"/>
              </a:ext>
            </a:extLst>
          </p:cNvPr>
          <p:cNvSpPr>
            <a:spLocks xmlns:a="http://schemas.openxmlformats.org/drawingml/2006/main" noGrp="1"/>
          </p:cNvSpPr>
          <p:nvPr/>
        </p:nvSpPr>
        <p:spPr>
          <a:xfrm xmlns:a="http://schemas.openxmlformats.org/drawingml/2006/main">
            <a:off x="190500" y="133350"/>
            <a:ext cx="1943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FFFFFF"/>
                </a:solidFill>
                <a:latin typeface="DejaVu Sans"/>
                <a:ea typeface="DejaVu Sans"/>
                <a:cs typeface="DejaVu Sans"/>
              </a:defRPr>
            </a:defPPr>
          </a:lstStyle>
          <a:p xmlns:a="http://schemas.openxmlformats.org/drawingml/2006/main">
            <a:pPr algn="l">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GRANT CONTROL</a:t>
            </a:r>
          </a:p>
        </p:txBody>
      </p:sp>
      <p:sp>
        <p:nvSpPr>
          <p:cNvPr id="4" name="Card identifier">
            <a:extLst xmlns:a="http://schemas.openxmlformats.org/drawingml/2006/main">
              <a:ext uri="{FF2B5EF4-FFF2-40B4-BE49-F238E27FC236}">
                <a16:creationId xmlns:a16="http://schemas.microsoft.com/office/drawing/2014/main" id="{88494AFC-518D-4178-AAEB-E9C79E06846B}"/>
              </a:ext>
            </a:extLst>
          </p:cNvPr>
          <p:cNvSpPr>
            <a:spLocks xmlns:a="http://schemas.openxmlformats.org/drawingml/2006/main" noGrp="1"/>
          </p:cNvSpPr>
          <p:nvPr/>
        </p:nvSpPr>
        <p:spPr>
          <a:xfrm xmlns:a="http://schemas.openxmlformats.org/drawingml/2006/main">
            <a:off x="2371725" y="142875"/>
            <a:ext cx="6381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788" b="1">
                <a:solidFill>
                  <a:srgbClr val="FFFFFF"/>
                </a:solidFill>
                <a:latin typeface="DejaVu Sans"/>
                <a:ea typeface="DejaVu Sans"/>
                <a:cs typeface="DejaVu Sans"/>
              </a:defRPr>
            </a:defPPr>
          </a:lstStyle>
          <a:p xmlns:a="http://schemas.openxmlformats.org/drawingml/2006/main">
            <a:pPr algn="r">
              <a:defRPr sz="788" b="1">
                <a:solidFill>
                  <a:srgbClr val="FFFFFF"/>
                </a:solidFill>
                <a:latin typeface="DejaVu Sans"/>
                <a:ea typeface="DejaVu Sans"/>
                <a:cs typeface="DejaVu Sans"/>
              </a:defRPr>
            </a:pPr>
            <a:r>
              <a:rPr sz="788" b="1">
                <a:solidFill>
                  <a:srgbClr val="FFFFFF"/>
                </a:solidFill>
                <a:latin typeface="DejaVu Sans"/>
                <a:ea typeface="DejaVu Sans"/>
                <a:cs typeface="DejaVu Sans"/>
              </a:rPr>
              <a:t>MAS-03</a:t>
            </a:r>
          </a:p>
        </p:txBody>
      </p:sp>
      <p:sp>
        <p:nvSpPr>
          <p:cNvPr id="5" name="Card category">
            <a:extLst xmlns:a="http://schemas.openxmlformats.org/drawingml/2006/main">
              <a:ext uri="{FF2B5EF4-FFF2-40B4-BE49-F238E27FC236}">
                <a16:creationId xmlns:a16="http://schemas.microsoft.com/office/drawing/2014/main" id="{891630A9-AA08-456D-9B07-F548186845BD}"/>
              </a:ext>
            </a:extLst>
          </p:cNvPr>
          <p:cNvSpPr>
            <a:spLocks xmlns:a="http://schemas.openxmlformats.org/drawingml/2006/main" noGrp="1"/>
          </p:cNvSpPr>
          <p:nvPr/>
        </p:nvSpPr>
        <p:spPr>
          <a:xfrm xmlns:a="http://schemas.openxmlformats.org/drawingml/2006/main">
            <a:off x="190500" y="523875"/>
            <a:ext cx="2800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9B4F45"/>
                </a:solidFill>
                <a:latin typeface="DejaVu Sans"/>
                <a:ea typeface="DejaVu Sans"/>
                <a:cs typeface="DejaVu Sans"/>
              </a:defRPr>
            </a:defPPr>
          </a:lstStyle>
          <a:p xmlns:a="http://schemas.openxmlformats.org/drawingml/2006/main">
            <a:pPr algn="l">
              <a:defRPr sz="788" b="1">
                <a:solidFill>
                  <a:srgbClr val="9B4F45"/>
                </a:solidFill>
                <a:latin typeface="DejaVu Sans"/>
                <a:ea typeface="DejaVu Sans"/>
                <a:cs typeface="DejaVu Sans"/>
              </a:defRPr>
            </a:pPr>
            <a:r>
              <a:rPr sz="788" b="1">
                <a:solidFill>
                  <a:srgbClr val="9B4F45"/>
                </a:solidFill>
                <a:latin typeface="DejaVu Sans"/>
                <a:ea typeface="DejaVu Sans"/>
                <a:cs typeface="DejaVu Sans"/>
              </a:rPr>
              <a:t>FUNDING CALL</a:t>
            </a:r>
          </a:p>
        </p:txBody>
      </p:sp>
      <p:sp>
        <p:nvSpPr>
          <p:cNvPr id="6" name="Primary topic">
            <a:extLst xmlns:a="http://schemas.openxmlformats.org/drawingml/2006/main">
              <a:ext uri="{FF2B5EF4-FFF2-40B4-BE49-F238E27FC236}">
                <a16:creationId xmlns:a16="http://schemas.microsoft.com/office/drawing/2014/main" id="{4FFE2C1A-DEE1-454B-82C9-876E95487272}"/>
              </a:ext>
            </a:extLst>
          </p:cNvPr>
          <p:cNvSpPr>
            <a:spLocks xmlns:a="http://schemas.openxmlformats.org/drawingml/2006/main" noGrp="1"/>
          </p:cNvSpPr>
          <p:nvPr/>
        </p:nvSpPr>
        <p:spPr>
          <a:xfrm xmlns:a="http://schemas.openxmlformats.org/drawingml/2006/main">
            <a:off x="190500" y="733425"/>
            <a:ext cx="2819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9B4F45"/>
                </a:solidFill>
                <a:latin typeface="DejaVu Sans"/>
                <a:ea typeface="DejaVu Sans"/>
                <a:cs typeface="DejaVu Sans"/>
              </a:defRPr>
            </a:defPPr>
          </a:lstStyle>
          <a:p xmlns:a="http://schemas.openxmlformats.org/drawingml/2006/main">
            <a:pPr algn="l">
              <a:defRPr sz="975" b="1">
                <a:solidFill>
                  <a:srgbClr val="9B4F45"/>
                </a:solidFill>
                <a:latin typeface="DejaVu Sans"/>
                <a:ea typeface="DejaVu Sans"/>
                <a:cs typeface="DejaVu Sans"/>
              </a:defRPr>
            </a:pPr>
            <a:r>
              <a:rPr sz="975" b="1">
                <a:solidFill>
                  <a:srgbClr val="9B4F45"/>
                </a:solidFill>
                <a:latin typeface="DejaVu Sans"/>
                <a:ea typeface="DejaVu Sans"/>
                <a:cs typeface="DejaVu Sans"/>
              </a:rPr>
              <a:t>Multi-Agent Systems</a:t>
            </a:r>
          </a:p>
        </p:txBody>
      </p:sp>
      <p:sp>
        <p:nvSpPr>
          <p:cNvPr id="7" name="Call title">
            <a:extLst xmlns:a="http://schemas.openxmlformats.org/drawingml/2006/main">
              <a:ext uri="{FF2B5EF4-FFF2-40B4-BE49-F238E27FC236}">
                <a16:creationId xmlns:a16="http://schemas.microsoft.com/office/drawing/2014/main" id="{34C4E16E-F7C7-480C-9697-6DA8CE27543E}"/>
              </a:ext>
            </a:extLst>
          </p:cNvPr>
          <p:cNvSpPr>
            <a:spLocks xmlns:a="http://schemas.openxmlformats.org/drawingml/2006/main" noGrp="1"/>
          </p:cNvSpPr>
          <p:nvPr/>
        </p:nvSpPr>
        <p:spPr>
          <a:xfrm xmlns:a="http://schemas.openxmlformats.org/drawingml/2006/main">
            <a:off x="190500" y="1028700"/>
            <a:ext cx="281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92936"/>
                </a:solidFill>
                <a:latin typeface="DejaVu Sans"/>
                <a:ea typeface="DejaVu Sans"/>
                <a:cs typeface="DejaVu Sans"/>
              </a:defRPr>
            </a:defPPr>
          </a:lstStyle>
          <a:p xmlns:a="http://schemas.openxmlformats.org/drawingml/2006/main">
            <a:pPr algn="l">
              <a:defRPr sz="1500" b="1">
                <a:solidFill>
                  <a:srgbClr val="192936"/>
                </a:solidFill>
                <a:latin typeface="DejaVu Sans"/>
                <a:ea typeface="DejaVu Sans"/>
                <a:cs typeface="DejaVu Sans"/>
              </a:defRPr>
            </a:pPr>
            <a:r>
              <a:rPr sz="1500" b="1">
                <a:solidFill>
                  <a:srgbClr val="192936"/>
                </a:solidFill>
                <a:latin typeface="DejaVu Sans"/>
                <a:ea typeface="DejaVu Sans"/>
                <a:cs typeface="DejaVu Sans"/>
              </a:rPr>
              <a:t>Distributed Monitoring With Robot Teams</a:t>
            </a:r>
          </a:p>
        </p:txBody>
      </p:sp>
      <p:sp>
        <p:nvSpPr>
          <p:cNvPr id="8" name="Research scope">
            <a:extLst xmlns:a="http://schemas.openxmlformats.org/drawingml/2006/main">
              <a:ext uri="{FF2B5EF4-FFF2-40B4-BE49-F238E27FC236}">
                <a16:creationId xmlns:a16="http://schemas.microsoft.com/office/drawing/2014/main" id="{E16E3285-6CF6-4139-BDF6-119B4A1E5C58}"/>
              </a:ext>
            </a:extLst>
          </p:cNvPr>
          <p:cNvSpPr>
            <a:spLocks xmlns:a="http://schemas.openxmlformats.org/drawingml/2006/main" noGrp="1"/>
          </p:cNvSpPr>
          <p:nvPr/>
        </p:nvSpPr>
        <p:spPr>
          <a:xfrm xmlns:a="http://schemas.openxmlformats.org/drawingml/2006/main">
            <a:off x="190500" y="1628775"/>
            <a:ext cx="2819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0">
                <a:solidFill>
                  <a:srgbClr val="52616A"/>
                </a:solidFill>
                <a:latin typeface="DejaVu Sans"/>
                <a:ea typeface="DejaVu Sans"/>
                <a:cs typeface="DejaVu Sans"/>
              </a:defRPr>
            </a:defPPr>
          </a:lstStyle>
          <a:p xmlns:a="http://schemas.openxmlformats.org/drawingml/2006/main">
            <a:pPr algn="l">
              <a:defRPr sz="825" b="0">
                <a:solidFill>
                  <a:srgbClr val="52616A"/>
                </a:solidFill>
                <a:latin typeface="DejaVu Sans"/>
                <a:ea typeface="DejaVu Sans"/>
                <a:cs typeface="DejaVu Sans"/>
              </a:defRPr>
            </a:pPr>
            <a:r>
              <a:rPr sz="825" b="0">
                <a:solidFill>
                  <a:srgbClr val="52616A"/>
                </a:solidFill>
                <a:latin typeface="DejaVu Sans"/>
                <a:ea typeface="DejaVu Sans"/>
                <a:cs typeface="DejaVu Sans"/>
              </a:rPr>
              <a:t>Develop distributed coordination for robots monitoring a large environment. Study local information sharing and the effect of network connectivity.</a:t>
            </a:r>
          </a:p>
        </p:txBody>
      </p:sp>
      <p:sp>
        <p:nvSpPr>
          <p:cNvPr id="9" name="Statistics divider">
            <a:extLst xmlns:a="http://schemas.openxmlformats.org/drawingml/2006/main">
              <a:ext uri="{FF2B5EF4-FFF2-40B4-BE49-F238E27FC236}">
                <a16:creationId xmlns:a16="http://schemas.microsoft.com/office/drawing/2014/main" id="{66EB777F-5865-40E2-A5F5-C21108FDFFF5}"/>
              </a:ext>
            </a:extLst>
          </p:cNvPr>
          <p:cNvSpPr>
            <a:spLocks xmlns:a="http://schemas.openxmlformats.org/drawingml/2006/main" noGrp="1"/>
          </p:cNvSpPr>
          <p:nvPr/>
        </p:nvSpPr>
        <p:spPr>
          <a:xfrm xmlns:a="http://schemas.openxmlformats.org/drawingml/2006/main">
            <a:off x="190500" y="216217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0" name="Funding award label">
            <a:extLst xmlns:a="http://schemas.openxmlformats.org/drawingml/2006/main">
              <a:ext uri="{FF2B5EF4-FFF2-40B4-BE49-F238E27FC236}">
                <a16:creationId xmlns:a16="http://schemas.microsoft.com/office/drawing/2014/main" id="{6066C277-D628-4751-B6E3-FE8AB8C94D57}"/>
              </a:ext>
            </a:extLst>
          </p:cNvPr>
          <p:cNvSpPr>
            <a:spLocks xmlns:a="http://schemas.openxmlformats.org/drawingml/2006/main" noGrp="1"/>
          </p:cNvSpPr>
          <p:nvPr/>
        </p:nvSpPr>
        <p:spPr>
          <a:xfrm xmlns:a="http://schemas.openxmlformats.org/drawingml/2006/main">
            <a:off x="190500"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FUNDING AWARD</a:t>
            </a:r>
          </a:p>
        </p:txBody>
      </p:sp>
      <p:sp>
        <p:nvSpPr>
          <p:cNvPr id="11" name="Gray cube label">
            <a:extLst xmlns:a="http://schemas.openxmlformats.org/drawingml/2006/main">
              <a:ext uri="{FF2B5EF4-FFF2-40B4-BE49-F238E27FC236}">
                <a16:creationId xmlns:a16="http://schemas.microsoft.com/office/drawing/2014/main" id="{771D6DB8-8394-45E3-AC25-C7204DD63F62}"/>
              </a:ext>
            </a:extLst>
          </p:cNvPr>
          <p:cNvSpPr>
            <a:spLocks xmlns:a="http://schemas.openxmlformats.org/drawingml/2006/main" noGrp="1"/>
          </p:cNvSpPr>
          <p:nvPr/>
        </p:nvSpPr>
        <p:spPr>
          <a:xfrm xmlns:a="http://schemas.openxmlformats.org/drawingml/2006/main">
            <a:off x="1685925"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OUTSIDE / NO-AWARD</a:t>
            </a:r>
          </a:p>
        </p:txBody>
      </p:sp>
      <p:sp>
        <p:nvSpPr>
          <p:cNvPr id="12" name="Funding award value">
            <a:extLst xmlns:a="http://schemas.openxmlformats.org/drawingml/2006/main">
              <a:ext uri="{FF2B5EF4-FFF2-40B4-BE49-F238E27FC236}">
                <a16:creationId xmlns:a16="http://schemas.microsoft.com/office/drawing/2014/main" id="{3DB812CB-4CF7-4909-9388-E30D7CB9B4C5}"/>
              </a:ext>
            </a:extLst>
          </p:cNvPr>
          <p:cNvSpPr>
            <a:spLocks xmlns:a="http://schemas.openxmlformats.org/drawingml/2006/main" noGrp="1"/>
          </p:cNvSpPr>
          <p:nvPr/>
        </p:nvSpPr>
        <p:spPr>
          <a:xfrm xmlns:a="http://schemas.openxmlformats.org/drawingml/2006/main">
            <a:off x="190500"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9B4F45"/>
                </a:solidFill>
                <a:latin typeface="DejaVu Sans"/>
                <a:ea typeface="DejaVu Sans"/>
                <a:cs typeface="DejaVu Sans"/>
              </a:defRPr>
            </a:defPPr>
          </a:lstStyle>
          <a:p xmlns:a="http://schemas.openxmlformats.org/drawingml/2006/main">
            <a:pPr algn="l">
              <a:defRPr sz="2100" b="1">
                <a:solidFill>
                  <a:srgbClr val="9B4F45"/>
                </a:solidFill>
                <a:latin typeface="DejaVu Sans"/>
                <a:ea typeface="DejaVu Sans"/>
                <a:cs typeface="DejaVu Sans"/>
              </a:defRPr>
            </a:pPr>
            <a:r>
              <a:rPr sz="2100" b="1">
                <a:solidFill>
                  <a:srgbClr val="9B4F45"/>
                </a:solidFill>
                <a:latin typeface="DejaVu Sans"/>
                <a:ea typeface="DejaVu Sans"/>
                <a:cs typeface="DejaVu Sans"/>
              </a:rPr>
              <a:t>6</a:t>
            </a:r>
          </a:p>
        </p:txBody>
      </p:sp>
      <p:sp>
        <p:nvSpPr>
          <p:cNvPr id="13" name="Funding award unit">
            <a:extLst xmlns:a="http://schemas.openxmlformats.org/drawingml/2006/main">
              <a:ext uri="{FF2B5EF4-FFF2-40B4-BE49-F238E27FC236}">
                <a16:creationId xmlns:a16="http://schemas.microsoft.com/office/drawing/2014/main" id="{251A4E06-18D1-490F-B5B5-4A2F98A33D79}"/>
              </a:ext>
            </a:extLst>
          </p:cNvPr>
          <p:cNvSpPr>
            <a:spLocks xmlns:a="http://schemas.openxmlformats.org/drawingml/2006/main" noGrp="1"/>
          </p:cNvSpPr>
          <p:nvPr/>
        </p:nvSpPr>
        <p:spPr>
          <a:xfrm xmlns:a="http://schemas.openxmlformats.org/drawingml/2006/main">
            <a:off x="600075" y="2543175"/>
            <a:ext cx="904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192936"/>
                </a:solidFill>
                <a:latin typeface="DejaVu Sans"/>
                <a:ea typeface="DejaVu Sans"/>
                <a:cs typeface="DejaVu Sans"/>
              </a:defRPr>
            </a:defPPr>
          </a:lstStyle>
          <a:p xmlns:a="http://schemas.openxmlformats.org/drawingml/2006/main">
            <a:pPr algn="l">
              <a:defRPr sz="900" b="1">
                <a:solidFill>
                  <a:srgbClr val="192936"/>
                </a:solidFill>
                <a:latin typeface="DejaVu Sans"/>
                <a:ea typeface="DejaVu Sans"/>
                <a:cs typeface="DejaVu Sans"/>
              </a:defRPr>
            </a:pPr>
            <a:r>
              <a:rPr sz="900" b="1">
                <a:solidFill>
                  <a:srgbClr val="192936"/>
                </a:solidFill>
                <a:latin typeface="DejaVu Sans"/>
                <a:ea typeface="DejaVu Sans"/>
                <a:cs typeface="DejaVu Sans"/>
              </a:rPr>
              <a:t>Funding</a:t>
            </a:r>
          </a:p>
        </p:txBody>
      </p:sp>
      <p:sp>
        <p:nvSpPr>
          <p:cNvPr id="14" name="Gray cube value">
            <a:extLst xmlns:a="http://schemas.openxmlformats.org/drawingml/2006/main">
              <a:ext uri="{FF2B5EF4-FFF2-40B4-BE49-F238E27FC236}">
                <a16:creationId xmlns:a16="http://schemas.microsoft.com/office/drawing/2014/main" id="{3C518FD9-5C18-4AD4-A145-FB1A154F5D80}"/>
              </a:ext>
            </a:extLst>
          </p:cNvPr>
          <p:cNvSpPr>
            <a:spLocks xmlns:a="http://schemas.openxmlformats.org/drawingml/2006/main" noGrp="1"/>
          </p:cNvSpPr>
          <p:nvPr/>
        </p:nvSpPr>
        <p:spPr>
          <a:xfrm xmlns:a="http://schemas.openxmlformats.org/drawingml/2006/main">
            <a:off x="1685925"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2616A"/>
                </a:solidFill>
                <a:latin typeface="DejaVu Sans"/>
                <a:ea typeface="DejaVu Sans"/>
                <a:cs typeface="DejaVu Sans"/>
              </a:defRPr>
            </a:defPPr>
          </a:lstStyle>
          <a:p xmlns:a="http://schemas.openxmlformats.org/drawingml/2006/main">
            <a:pPr algn="l">
              <a:defRPr sz="2100" b="1">
                <a:solidFill>
                  <a:srgbClr val="52616A"/>
                </a:solidFill>
                <a:latin typeface="DejaVu Sans"/>
                <a:ea typeface="DejaVu Sans"/>
                <a:cs typeface="DejaVu Sans"/>
              </a:defRPr>
            </a:pPr>
            <a:r>
              <a:rPr sz="2100" b="1">
                <a:solidFill>
                  <a:srgbClr val="52616A"/>
                </a:solidFill>
                <a:latin typeface="DejaVu Sans"/>
                <a:ea typeface="DejaVu Sans"/>
                <a:cs typeface="DejaVu Sans"/>
              </a:rPr>
              <a:t>5</a:t>
            </a:r>
          </a:p>
        </p:txBody>
      </p:sp>
      <p:sp>
        <p:nvSpPr>
          <p:cNvPr id="15" name="Gray cube unit">
            <a:extLst xmlns:a="http://schemas.openxmlformats.org/drawingml/2006/main">
              <a:ext uri="{FF2B5EF4-FFF2-40B4-BE49-F238E27FC236}">
                <a16:creationId xmlns:a16="http://schemas.microsoft.com/office/drawing/2014/main" id="{26451E59-543F-4CE1-B557-EAC9725227C4}"/>
              </a:ext>
            </a:extLst>
          </p:cNvPr>
          <p:cNvSpPr>
            <a:spLocks xmlns:a="http://schemas.openxmlformats.org/drawingml/2006/main" noGrp="1"/>
          </p:cNvSpPr>
          <p:nvPr/>
        </p:nvSpPr>
        <p:spPr>
          <a:xfrm xmlns:a="http://schemas.openxmlformats.org/drawingml/2006/main">
            <a:off x="2095500" y="2543175"/>
            <a:ext cx="914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1">
                <a:solidFill>
                  <a:srgbClr val="52616A"/>
                </a:solidFill>
                <a:latin typeface="DejaVu Sans"/>
                <a:ea typeface="DejaVu Sans"/>
                <a:cs typeface="DejaVu Sans"/>
              </a:defRPr>
            </a:defPPr>
          </a:lstStyle>
          <a:p xmlns:a="http://schemas.openxmlformats.org/drawingml/2006/main">
            <a:pPr algn="l">
              <a:defRPr sz="863" b="1">
                <a:solidFill>
                  <a:srgbClr val="52616A"/>
                </a:solidFill>
                <a:latin typeface="DejaVu Sans"/>
                <a:ea typeface="DejaVu Sans"/>
                <a:cs typeface="DejaVu Sans"/>
              </a:defRPr>
            </a:pPr>
            <a:r>
              <a:rPr sz="863" b="1">
                <a:solidFill>
                  <a:srgbClr val="52616A"/>
                </a:solidFill>
                <a:latin typeface="DejaVu Sans"/>
                <a:ea typeface="DejaVu Sans"/>
                <a:cs typeface="DejaVu Sans"/>
              </a:rPr>
              <a:t>gray cubes</a:t>
            </a:r>
          </a:p>
        </p:txBody>
      </p:sp>
      <p:sp>
        <p:nvSpPr>
          <p:cNvPr id="16" name="Eligibility divider">
            <a:extLst xmlns:a="http://schemas.openxmlformats.org/drawingml/2006/main">
              <a:ext uri="{FF2B5EF4-FFF2-40B4-BE49-F238E27FC236}">
                <a16:creationId xmlns:a16="http://schemas.microsoft.com/office/drawing/2014/main" id="{4CB0E436-F45B-42DD-8F85-F99DF7424CC7}"/>
              </a:ext>
            </a:extLst>
          </p:cNvPr>
          <p:cNvSpPr>
            <a:spLocks xmlns:a="http://schemas.openxmlformats.org/drawingml/2006/main" noGrp="1"/>
          </p:cNvSpPr>
          <p:nvPr/>
        </p:nvSpPr>
        <p:spPr>
          <a:xfrm xmlns:a="http://schemas.openxmlformats.org/drawingml/2006/main">
            <a:off x="190500" y="282892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7" name="Without certification heading">
            <a:extLst xmlns:a="http://schemas.openxmlformats.org/drawingml/2006/main">
              <a:ext uri="{FF2B5EF4-FFF2-40B4-BE49-F238E27FC236}">
                <a16:creationId xmlns:a16="http://schemas.microsoft.com/office/drawing/2014/main" id="{3DA22D44-049A-47A7-89AE-308DBB213419}"/>
              </a:ext>
            </a:extLst>
          </p:cNvPr>
          <p:cNvSpPr>
            <a:spLocks xmlns:a="http://schemas.openxmlformats.org/drawingml/2006/main" noGrp="1"/>
          </p:cNvSpPr>
          <p:nvPr/>
        </p:nvSpPr>
        <p:spPr>
          <a:xfrm xmlns:a="http://schemas.openxmlformats.org/drawingml/2006/main">
            <a:off x="190500" y="2943225"/>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1">
                <a:solidFill>
                  <a:srgbClr val="9B4F45"/>
                </a:solidFill>
                <a:latin typeface="DejaVu Sans"/>
                <a:ea typeface="DejaVu Sans"/>
                <a:cs typeface="DejaVu Sans"/>
              </a:defRPr>
            </a:defPPr>
          </a:lstStyle>
          <a:p xmlns:a="http://schemas.openxmlformats.org/drawingml/2006/main">
            <a:pPr algn="l">
              <a:defRPr sz="825" b="1">
                <a:solidFill>
                  <a:srgbClr val="9B4F45"/>
                </a:solidFill>
                <a:latin typeface="DejaVu Sans"/>
                <a:ea typeface="DejaVu Sans"/>
                <a:cs typeface="DejaVu Sans"/>
              </a:defRPr>
            </a:pPr>
            <a:r>
              <a:rPr sz="825" b="1">
                <a:solidFill>
                  <a:srgbClr val="9B4F45"/>
                </a:solidFill>
                <a:latin typeface="DejaVu Sans"/>
                <a:ea typeface="DejaVu Sans"/>
                <a:cs typeface="DejaVu Sans"/>
              </a:rPr>
              <a:t>No Certified Expertise in Multi-Agent Systems</a:t>
            </a:r>
          </a:p>
        </p:txBody>
      </p:sp>
      <p:sp>
        <p:nvSpPr>
          <p:cNvPr id="18" name="Without certification rule">
            <a:extLst xmlns:a="http://schemas.openxmlformats.org/drawingml/2006/main">
              <a:ext uri="{FF2B5EF4-FFF2-40B4-BE49-F238E27FC236}">
                <a16:creationId xmlns:a16="http://schemas.microsoft.com/office/drawing/2014/main" id="{5072E6FA-4E1D-45E4-926D-81D6F1CE6F1F}"/>
              </a:ext>
            </a:extLst>
          </p:cNvPr>
          <p:cNvSpPr>
            <a:spLocks xmlns:a="http://schemas.openxmlformats.org/drawingml/2006/main" noGrp="1"/>
          </p:cNvSpPr>
          <p:nvPr/>
        </p:nvSpPr>
        <p:spPr>
          <a:xfrm xmlns:a="http://schemas.openxmlformats.org/drawingml/2006/main">
            <a:off x="190500" y="3152775"/>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need at least 1 Multi-Agent Systems Recent Work token to apply. Only Multi-Agent Systems tokens count.</a:t>
            </a:r>
          </a:p>
        </p:txBody>
      </p:sp>
      <p:sp>
        <p:nvSpPr>
          <p:cNvPr id="19" name="With certification heading">
            <a:extLst xmlns:a="http://schemas.openxmlformats.org/drawingml/2006/main">
              <a:ext uri="{FF2B5EF4-FFF2-40B4-BE49-F238E27FC236}">
                <a16:creationId xmlns:a16="http://schemas.microsoft.com/office/drawing/2014/main" id="{540D5413-3307-4565-B2D9-237EED2DB5C7}"/>
              </a:ext>
            </a:extLst>
          </p:cNvPr>
          <p:cNvSpPr>
            <a:spLocks xmlns:a="http://schemas.openxmlformats.org/drawingml/2006/main" noGrp="1"/>
          </p:cNvSpPr>
          <p:nvPr/>
        </p:nvSpPr>
        <p:spPr>
          <a:xfrm xmlns:a="http://schemas.openxmlformats.org/drawingml/2006/main">
            <a:off x="190500" y="3619500"/>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9B4F45"/>
                </a:solidFill>
                <a:latin typeface="DejaVu Sans"/>
                <a:ea typeface="DejaVu Sans"/>
                <a:cs typeface="DejaVu Sans"/>
              </a:defRPr>
            </a:defPPr>
          </a:lstStyle>
          <a:p xmlns:a="http://schemas.openxmlformats.org/drawingml/2006/main">
            <a:pPr algn="l">
              <a:defRPr sz="788" b="1">
                <a:solidFill>
                  <a:srgbClr val="9B4F45"/>
                </a:solidFill>
                <a:latin typeface="DejaVu Sans"/>
                <a:ea typeface="DejaVu Sans"/>
                <a:cs typeface="DejaVu Sans"/>
              </a:defRPr>
            </a:pPr>
            <a:r>
              <a:rPr sz="788" b="1">
                <a:solidFill>
                  <a:srgbClr val="9B4F45"/>
                </a:solidFill>
                <a:latin typeface="DejaVu Sans"/>
                <a:ea typeface="DejaVu Sans"/>
                <a:cs typeface="DejaVu Sans"/>
              </a:rPr>
              <a:t>With Certified Expertise in Multi-Agent Systems</a:t>
            </a:r>
          </a:p>
        </p:txBody>
      </p:sp>
      <p:sp>
        <p:nvSpPr>
          <p:cNvPr id="20" name="With certification rule">
            <a:extLst xmlns:a="http://schemas.openxmlformats.org/drawingml/2006/main">
              <a:ext uri="{FF2B5EF4-FFF2-40B4-BE49-F238E27FC236}">
                <a16:creationId xmlns:a16="http://schemas.microsoft.com/office/drawing/2014/main" id="{123553F4-15C1-4677-94C9-CBE1FBE168E1}"/>
              </a:ext>
            </a:extLst>
          </p:cNvPr>
          <p:cNvSpPr>
            <a:spLocks xmlns:a="http://schemas.openxmlformats.org/drawingml/2006/main" noGrp="1"/>
          </p:cNvSpPr>
          <p:nvPr/>
        </p:nvSpPr>
        <p:spPr>
          <a:xfrm xmlns:a="http://schemas.openxmlformats.org/drawingml/2006/main">
            <a:off x="190500" y="3829050"/>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may apply without Recent Work. Recent Work from ANY topic can count. Your expertise badge is permanent.</a:t>
            </a:r>
          </a:p>
        </p:txBody>
      </p:sp>
      <p:sp>
        <p:nvSpPr>
          <p:cNvPr id="21" name="Footer divider">
            <a:extLst xmlns:a="http://schemas.openxmlformats.org/drawingml/2006/main">
              <a:ext uri="{FF2B5EF4-FFF2-40B4-BE49-F238E27FC236}">
                <a16:creationId xmlns:a16="http://schemas.microsoft.com/office/drawing/2014/main" id="{6F07BC6F-5461-42DD-BF72-37C422B45A66}"/>
              </a:ext>
            </a:extLst>
          </p:cNvPr>
          <p:cNvSpPr>
            <a:spLocks xmlns:a="http://schemas.openxmlformats.org/drawingml/2006/main" noGrp="1"/>
          </p:cNvSpPr>
          <p:nvPr/>
        </p:nvSpPr>
        <p:spPr>
          <a:xfrm xmlns:a="http://schemas.openxmlformats.org/drawingml/2006/main">
            <a:off x="190500" y="4286250"/>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22" name="Recent Work cap">
            <a:extLst xmlns:a="http://schemas.openxmlformats.org/drawingml/2006/main">
              <a:ext uri="{FF2B5EF4-FFF2-40B4-BE49-F238E27FC236}">
                <a16:creationId xmlns:a16="http://schemas.microsoft.com/office/drawing/2014/main" id="{DAD1E044-4634-4778-AA0D-67FAE5BFE779}"/>
              </a:ext>
            </a:extLst>
          </p:cNvPr>
          <p:cNvSpPr>
            <a:spLocks xmlns:a="http://schemas.openxmlformats.org/drawingml/2006/main" noGrp="1"/>
          </p:cNvSpPr>
          <p:nvPr/>
        </p:nvSpPr>
        <p:spPr>
          <a:xfrm xmlns:a="http://schemas.openxmlformats.org/drawingml/2006/main">
            <a:off x="190500" y="4371975"/>
            <a:ext cx="28194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192936"/>
                </a:solidFill>
                <a:latin typeface="DejaVu Sans"/>
                <a:ea typeface="DejaVu Sans"/>
                <a:cs typeface="DejaVu Sans"/>
              </a:defRPr>
            </a:defPPr>
          </a:lstStyle>
          <a:p xmlns:a="http://schemas.openxmlformats.org/drawingml/2006/main">
            <a:pPr algn="l">
              <a:defRPr sz="788" b="1">
                <a:solidFill>
                  <a:srgbClr val="192936"/>
                </a:solidFill>
                <a:latin typeface="DejaVu Sans"/>
                <a:ea typeface="DejaVu Sans"/>
                <a:cs typeface="DejaVu Sans"/>
              </a:defRPr>
            </a:pPr>
            <a:r>
              <a:rPr sz="788" b="1">
                <a:solidFill>
                  <a:srgbClr val="192936"/>
                </a:solidFill>
                <a:latin typeface="DejaVu Sans"/>
                <a:ea typeface="DejaVu Sans"/>
                <a:cs typeface="DejaVu Sans"/>
              </a:rPr>
              <a:t>Count at most 3 Recent Work tokens.</a:t>
            </a:r>
          </a:p>
        </p:txBody>
      </p:sp>
    </p:spTree>
    <p:extLst>
      <p:ext uri="{BB962C8B-B14F-4D97-AF65-F5344CB8AC3E}">
        <p14:creationId xmlns:p14="http://schemas.microsoft.com/office/powerpoint/2010/main" val="126880700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Card border">
            <a:extLst xmlns:a="http://schemas.openxmlformats.org/drawingml/2006/main">
              <a:ext uri="{FF2B5EF4-FFF2-40B4-BE49-F238E27FC236}">
                <a16:creationId xmlns:a16="http://schemas.microsoft.com/office/drawing/2014/main" id="{73859180-5E1F-4EEB-9750-54F4B2FE7343}"/>
              </a:ext>
            </a:extLst>
          </p:cNvPr>
          <p:cNvSpPr>
            <a:spLocks xmlns:a="http://schemas.openxmlformats.org/drawingml/2006/main" noGrp="1"/>
          </p:cNvSpPr>
          <p:nvPr/>
        </p:nvSpPr>
        <p:spPr>
          <a:xfrm xmlns:a="http://schemas.openxmlformats.org/drawingml/2006/main">
            <a:off x="9525" y="9525"/>
            <a:ext cx="3181350" cy="4552950"/>
          </a:xfrm>
          <a:prstGeom xmlns:a="http://schemas.openxmlformats.org/drawingml/2006/main" prst="rect">
            <a:avLst/>
          </a:prstGeom>
          <a:noFill xmlns:a="http://schemas.openxmlformats.org/drawingml/2006/main"/>
          <a:ln xmlns:a="http://schemas.openxmlformats.org/drawingml/2006/main" w="9525">
            <a:solidFill>
              <a:srgbClr val="D0D5D8"/>
            </a:solidFill>
          </a:ln>
        </p:spPr>
      </p:sp>
      <p:sp>
        <p:nvSpPr>
          <p:cNvPr id="2" name="Topic color band">
            <a:extLst xmlns:a="http://schemas.openxmlformats.org/drawingml/2006/main">
              <a:ext uri="{FF2B5EF4-FFF2-40B4-BE49-F238E27FC236}">
                <a16:creationId xmlns:a16="http://schemas.microsoft.com/office/drawing/2014/main" id="{F6247E9E-C9F7-459F-88DE-B0F483D74598}"/>
              </a:ext>
            </a:extLst>
          </p:cNvPr>
          <p:cNvSpPr>
            <a:spLocks xmlns:a="http://schemas.openxmlformats.org/drawingml/2006/main" noGrp="1"/>
          </p:cNvSpPr>
          <p:nvPr/>
        </p:nvSpPr>
        <p:spPr>
          <a:xfrm xmlns:a="http://schemas.openxmlformats.org/drawingml/2006/main">
            <a:off x="9525" y="9525"/>
            <a:ext cx="3181350" cy="400050"/>
          </a:xfrm>
          <a:prstGeom xmlns:a="http://schemas.openxmlformats.org/drawingml/2006/main" prst="rect">
            <a:avLst/>
          </a:prstGeom>
          <a:solidFill xmlns:a="http://schemas.openxmlformats.org/drawingml/2006/main">
            <a:srgbClr val="52616A"/>
          </a:solidFill>
          <a:ln xmlns:a="http://schemas.openxmlformats.org/drawingml/2006/main" w="0">
            <a:noFill/>
          </a:ln>
        </p:spPr>
      </p:sp>
      <p:sp>
        <p:nvSpPr>
          <p:cNvPr id="3" name="Game name">
            <a:extLst xmlns:a="http://schemas.openxmlformats.org/drawingml/2006/main">
              <a:ext uri="{FF2B5EF4-FFF2-40B4-BE49-F238E27FC236}">
                <a16:creationId xmlns:a16="http://schemas.microsoft.com/office/drawing/2014/main" id="{98D6C9A0-965C-4E57-8B7E-90A78E2EE070}"/>
              </a:ext>
            </a:extLst>
          </p:cNvPr>
          <p:cNvSpPr>
            <a:spLocks xmlns:a="http://schemas.openxmlformats.org/drawingml/2006/main" noGrp="1"/>
          </p:cNvSpPr>
          <p:nvPr/>
        </p:nvSpPr>
        <p:spPr>
          <a:xfrm xmlns:a="http://schemas.openxmlformats.org/drawingml/2006/main">
            <a:off x="190500" y="133350"/>
            <a:ext cx="1943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FFFFFF"/>
                </a:solidFill>
                <a:latin typeface="DejaVu Sans"/>
                <a:ea typeface="DejaVu Sans"/>
                <a:cs typeface="DejaVu Sans"/>
              </a:defRPr>
            </a:defPPr>
          </a:lstStyle>
          <a:p xmlns:a="http://schemas.openxmlformats.org/drawingml/2006/main">
            <a:pPr algn="l">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GRANT CONTROL</a:t>
            </a:r>
          </a:p>
        </p:txBody>
      </p:sp>
      <p:sp>
        <p:nvSpPr>
          <p:cNvPr id="4" name="Card identifier">
            <a:extLst xmlns:a="http://schemas.openxmlformats.org/drawingml/2006/main">
              <a:ext uri="{FF2B5EF4-FFF2-40B4-BE49-F238E27FC236}">
                <a16:creationId xmlns:a16="http://schemas.microsoft.com/office/drawing/2014/main" id="{5258EAFE-5546-4820-8A27-A7C9294F49CB}"/>
              </a:ext>
            </a:extLst>
          </p:cNvPr>
          <p:cNvSpPr>
            <a:spLocks xmlns:a="http://schemas.openxmlformats.org/drawingml/2006/main" noGrp="1"/>
          </p:cNvSpPr>
          <p:nvPr/>
        </p:nvSpPr>
        <p:spPr>
          <a:xfrm xmlns:a="http://schemas.openxmlformats.org/drawingml/2006/main">
            <a:off x="2371725" y="142875"/>
            <a:ext cx="6381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788" b="1">
                <a:solidFill>
                  <a:srgbClr val="FFFFFF"/>
                </a:solidFill>
                <a:latin typeface="DejaVu Sans"/>
                <a:ea typeface="DejaVu Sans"/>
                <a:cs typeface="DejaVu Sans"/>
              </a:defRPr>
            </a:defPPr>
          </a:lstStyle>
          <a:p xmlns:a="http://schemas.openxmlformats.org/drawingml/2006/main">
            <a:pPr algn="r">
              <a:defRPr sz="788" b="1">
                <a:solidFill>
                  <a:srgbClr val="FFFFFF"/>
                </a:solidFill>
                <a:latin typeface="DejaVu Sans"/>
                <a:ea typeface="DejaVu Sans"/>
                <a:cs typeface="DejaVu Sans"/>
              </a:defRPr>
            </a:pPr>
            <a:r>
              <a:rPr sz="788" b="1">
                <a:solidFill>
                  <a:srgbClr val="FFFFFF"/>
                </a:solidFill>
                <a:latin typeface="DejaVu Sans"/>
                <a:ea typeface="DejaVu Sans"/>
                <a:cs typeface="DejaVu Sans"/>
              </a:rPr>
              <a:t>NEW-01</a:t>
            </a:r>
          </a:p>
        </p:txBody>
      </p:sp>
      <p:sp>
        <p:nvSpPr>
          <p:cNvPr id="5" name="Card category">
            <a:extLst xmlns:a="http://schemas.openxmlformats.org/drawingml/2006/main">
              <a:ext uri="{FF2B5EF4-FFF2-40B4-BE49-F238E27FC236}">
                <a16:creationId xmlns:a16="http://schemas.microsoft.com/office/drawing/2014/main" id="{FD52CE67-56BB-44F2-8F30-9A814EB65927}"/>
              </a:ext>
            </a:extLst>
          </p:cNvPr>
          <p:cNvSpPr>
            <a:spLocks xmlns:a="http://schemas.openxmlformats.org/drawingml/2006/main" noGrp="1"/>
          </p:cNvSpPr>
          <p:nvPr/>
        </p:nvSpPr>
        <p:spPr>
          <a:xfrm xmlns:a="http://schemas.openxmlformats.org/drawingml/2006/main">
            <a:off x="190500" y="523875"/>
            <a:ext cx="2800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52616A"/>
                </a:solidFill>
                <a:latin typeface="DejaVu Sans"/>
                <a:ea typeface="DejaVu Sans"/>
                <a:cs typeface="DejaVu Sans"/>
              </a:defRPr>
            </a:defPPr>
          </a:lstStyle>
          <a:p xmlns:a="http://schemas.openxmlformats.org/drawingml/2006/main">
            <a:pPr algn="l">
              <a:defRPr sz="788" b="1">
                <a:solidFill>
                  <a:srgbClr val="52616A"/>
                </a:solidFill>
                <a:latin typeface="DejaVu Sans"/>
                <a:ea typeface="DejaVu Sans"/>
                <a:cs typeface="DejaVu Sans"/>
              </a:defRPr>
            </a:pPr>
            <a:r>
              <a:rPr sz="788" b="1">
                <a:solidFill>
                  <a:srgbClr val="52616A"/>
                </a:solidFill>
                <a:latin typeface="DejaVu Sans"/>
                <a:ea typeface="DejaVu Sans"/>
                <a:cs typeface="DejaVu Sans"/>
              </a:rPr>
              <a:t>FUNDING CALL</a:t>
            </a:r>
          </a:p>
        </p:txBody>
      </p:sp>
      <p:sp>
        <p:nvSpPr>
          <p:cNvPr id="6" name="Primary topic">
            <a:extLst xmlns:a="http://schemas.openxmlformats.org/drawingml/2006/main">
              <a:ext uri="{FF2B5EF4-FFF2-40B4-BE49-F238E27FC236}">
                <a16:creationId xmlns:a16="http://schemas.microsoft.com/office/drawing/2014/main" id="{F9B6C9D1-AC20-46FF-858A-372546BC9D6D}"/>
              </a:ext>
            </a:extLst>
          </p:cNvPr>
          <p:cNvSpPr>
            <a:spLocks xmlns:a="http://schemas.openxmlformats.org/drawingml/2006/main" noGrp="1"/>
          </p:cNvSpPr>
          <p:nvPr/>
        </p:nvSpPr>
        <p:spPr>
          <a:xfrm xmlns:a="http://schemas.openxmlformats.org/drawingml/2006/main">
            <a:off x="190500" y="733425"/>
            <a:ext cx="2819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1">
                <a:solidFill>
                  <a:srgbClr val="52616A"/>
                </a:solidFill>
                <a:latin typeface="DejaVu Sans"/>
                <a:ea typeface="DejaVu Sans"/>
                <a:cs typeface="DejaVu Sans"/>
              </a:defRPr>
            </a:defPPr>
          </a:lstStyle>
          <a:p xmlns:a="http://schemas.openxmlformats.org/drawingml/2006/main">
            <a:pPr algn="l">
              <a:defRPr sz="975" b="1">
                <a:solidFill>
                  <a:srgbClr val="52616A"/>
                </a:solidFill>
                <a:latin typeface="DejaVu Sans"/>
                <a:ea typeface="DejaVu Sans"/>
                <a:cs typeface="DejaVu Sans"/>
              </a:defRPr>
            </a:pPr>
            <a:r>
              <a:rPr sz="975" b="1">
                <a:solidFill>
                  <a:srgbClr val="52616A"/>
                </a:solidFill>
                <a:latin typeface="DejaVu Sans"/>
                <a:ea typeface="DejaVu Sans"/>
                <a:cs typeface="DejaVu Sans"/>
              </a:rPr>
              <a:t>[Choose one control topic]</a:t>
            </a:r>
          </a:p>
        </p:txBody>
      </p:sp>
      <p:sp>
        <p:nvSpPr>
          <p:cNvPr id="7" name="Call title">
            <a:extLst xmlns:a="http://schemas.openxmlformats.org/drawingml/2006/main">
              <a:ext uri="{FF2B5EF4-FFF2-40B4-BE49-F238E27FC236}">
                <a16:creationId xmlns:a16="http://schemas.microsoft.com/office/drawing/2014/main" id="{B140DE46-6355-4521-ACA7-6F7C6838D738}"/>
              </a:ext>
            </a:extLst>
          </p:cNvPr>
          <p:cNvSpPr>
            <a:spLocks xmlns:a="http://schemas.openxmlformats.org/drawingml/2006/main" noGrp="1"/>
          </p:cNvSpPr>
          <p:nvPr/>
        </p:nvSpPr>
        <p:spPr>
          <a:xfrm xmlns:a="http://schemas.openxmlformats.org/drawingml/2006/main">
            <a:off x="190500" y="1028700"/>
            <a:ext cx="281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92936"/>
                </a:solidFill>
                <a:latin typeface="DejaVu Sans"/>
                <a:ea typeface="DejaVu Sans"/>
                <a:cs typeface="DejaVu Sans"/>
              </a:defRPr>
            </a:defPPr>
          </a:lstStyle>
          <a:p xmlns:a="http://schemas.openxmlformats.org/drawingml/2006/main">
            <a:pPr algn="l">
              <a:defRPr sz="1500" b="1">
                <a:solidFill>
                  <a:srgbClr val="192936"/>
                </a:solidFill>
                <a:latin typeface="DejaVu Sans"/>
                <a:ea typeface="DejaVu Sans"/>
                <a:cs typeface="DejaVu Sans"/>
              </a:defRPr>
            </a:pPr>
            <a:r>
              <a:rPr sz="1500" b="1">
                <a:solidFill>
                  <a:srgbClr val="192936"/>
                </a:solidFill>
                <a:latin typeface="DejaVu Sans"/>
                <a:ea typeface="DejaVu Sans"/>
                <a:cs typeface="DejaVu Sans"/>
              </a:rPr>
              <a:t>[Funding Call</a:t>
            </a:r>
          </a:p>
          <a:p xmlns:a="http://schemas.openxmlformats.org/drawingml/2006/main">
            <a:pPr algn="l">
              <a:defRPr sz="1500" b="1">
                <a:solidFill>
                  <a:srgbClr val="192936"/>
                </a:solidFill>
                <a:latin typeface="DejaVu Sans"/>
                <a:ea typeface="DejaVu Sans"/>
                <a:cs typeface="DejaVu Sans"/>
              </a:defRPr>
            </a:pPr>
            <a:r>
              <a:rPr sz="1500" b="1">
                <a:solidFill>
                  <a:srgbClr val="192936"/>
                </a:solidFill>
                <a:latin typeface="DejaVu Sans"/>
                <a:ea typeface="DejaVu Sans"/>
                <a:cs typeface="DejaVu Sans"/>
              </a:rPr>
              <a:t>Title]</a:t>
            </a:r>
          </a:p>
        </p:txBody>
      </p:sp>
      <p:sp>
        <p:nvSpPr>
          <p:cNvPr id="8" name="Research scope">
            <a:extLst xmlns:a="http://schemas.openxmlformats.org/drawingml/2006/main">
              <a:ext uri="{FF2B5EF4-FFF2-40B4-BE49-F238E27FC236}">
                <a16:creationId xmlns:a16="http://schemas.microsoft.com/office/drawing/2014/main" id="{E024CA32-7E44-46CD-A035-83DC3E812DBB}"/>
              </a:ext>
            </a:extLst>
          </p:cNvPr>
          <p:cNvSpPr>
            <a:spLocks xmlns:a="http://schemas.openxmlformats.org/drawingml/2006/main" noGrp="1"/>
          </p:cNvSpPr>
          <p:nvPr/>
        </p:nvSpPr>
        <p:spPr>
          <a:xfrm xmlns:a="http://schemas.openxmlformats.org/drawingml/2006/main">
            <a:off x="190500" y="1628775"/>
            <a:ext cx="2819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0">
                <a:solidFill>
                  <a:srgbClr val="52616A"/>
                </a:solidFill>
                <a:latin typeface="DejaVu Sans"/>
                <a:ea typeface="DejaVu Sans"/>
                <a:cs typeface="DejaVu Sans"/>
              </a:defRPr>
            </a:defPPr>
          </a:lstStyle>
          <a:p xmlns:a="http://schemas.openxmlformats.org/drawingml/2006/main">
            <a:pPr algn="l">
              <a:defRPr sz="825" b="0">
                <a:solidFill>
                  <a:srgbClr val="52616A"/>
                </a:solidFill>
                <a:latin typeface="DejaVu Sans"/>
                <a:ea typeface="DejaVu Sans"/>
                <a:cs typeface="DejaVu Sans"/>
              </a:defRPr>
            </a:pPr>
            <a:r>
              <a:rPr sz="825" b="0">
                <a:solidFill>
                  <a:srgbClr val="52616A"/>
                </a:solidFill>
                <a:latin typeface="DejaVu Sans"/>
                <a:ea typeface="DejaVu Sans"/>
                <a:cs typeface="DejaVu Sans"/>
              </a:rPr>
              <a:t>[Write a short research focus here. The focus gives context for the call.]</a:t>
            </a:r>
          </a:p>
        </p:txBody>
      </p:sp>
      <p:sp>
        <p:nvSpPr>
          <p:cNvPr id="9" name="Statistics divider">
            <a:extLst xmlns:a="http://schemas.openxmlformats.org/drawingml/2006/main">
              <a:ext uri="{FF2B5EF4-FFF2-40B4-BE49-F238E27FC236}">
                <a16:creationId xmlns:a16="http://schemas.microsoft.com/office/drawing/2014/main" id="{1DECC64D-C569-4381-AB33-43B5304A6589}"/>
              </a:ext>
            </a:extLst>
          </p:cNvPr>
          <p:cNvSpPr>
            <a:spLocks xmlns:a="http://schemas.openxmlformats.org/drawingml/2006/main" noGrp="1"/>
          </p:cNvSpPr>
          <p:nvPr/>
        </p:nvSpPr>
        <p:spPr>
          <a:xfrm xmlns:a="http://schemas.openxmlformats.org/drawingml/2006/main">
            <a:off x="190500" y="216217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0" name="Funding award label">
            <a:extLst xmlns:a="http://schemas.openxmlformats.org/drawingml/2006/main">
              <a:ext uri="{FF2B5EF4-FFF2-40B4-BE49-F238E27FC236}">
                <a16:creationId xmlns:a16="http://schemas.microsoft.com/office/drawing/2014/main" id="{999C53DF-65E8-4BF6-8F3B-DCDF3E52181D}"/>
              </a:ext>
            </a:extLst>
          </p:cNvPr>
          <p:cNvSpPr>
            <a:spLocks xmlns:a="http://schemas.openxmlformats.org/drawingml/2006/main" noGrp="1"/>
          </p:cNvSpPr>
          <p:nvPr/>
        </p:nvSpPr>
        <p:spPr>
          <a:xfrm xmlns:a="http://schemas.openxmlformats.org/drawingml/2006/main">
            <a:off x="190500"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FUNDING AWARD</a:t>
            </a:r>
          </a:p>
        </p:txBody>
      </p:sp>
      <p:sp>
        <p:nvSpPr>
          <p:cNvPr id="11" name="Gray cube label">
            <a:extLst xmlns:a="http://schemas.openxmlformats.org/drawingml/2006/main">
              <a:ext uri="{FF2B5EF4-FFF2-40B4-BE49-F238E27FC236}">
                <a16:creationId xmlns:a16="http://schemas.microsoft.com/office/drawing/2014/main" id="{E73271BA-2EA3-44F2-BD40-D55321052D96}"/>
              </a:ext>
            </a:extLst>
          </p:cNvPr>
          <p:cNvSpPr>
            <a:spLocks xmlns:a="http://schemas.openxmlformats.org/drawingml/2006/main" noGrp="1"/>
          </p:cNvSpPr>
          <p:nvPr/>
        </p:nvSpPr>
        <p:spPr>
          <a:xfrm xmlns:a="http://schemas.openxmlformats.org/drawingml/2006/main">
            <a:off x="1685925" y="2276475"/>
            <a:ext cx="13239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13" b="1">
                <a:solidFill>
                  <a:srgbClr val="52616A"/>
                </a:solidFill>
                <a:latin typeface="DejaVu Sans"/>
                <a:ea typeface="DejaVu Sans"/>
                <a:cs typeface="DejaVu Sans"/>
              </a:defRPr>
            </a:defPPr>
          </a:lstStyle>
          <a:p xmlns:a="http://schemas.openxmlformats.org/drawingml/2006/main">
            <a:pPr algn="l">
              <a:defRPr sz="713" b="1">
                <a:solidFill>
                  <a:srgbClr val="52616A"/>
                </a:solidFill>
                <a:latin typeface="DejaVu Sans"/>
                <a:ea typeface="DejaVu Sans"/>
                <a:cs typeface="DejaVu Sans"/>
              </a:defRPr>
            </a:pPr>
            <a:r>
              <a:rPr sz="713" b="1">
                <a:solidFill>
                  <a:srgbClr val="52616A"/>
                </a:solidFill>
                <a:latin typeface="DejaVu Sans"/>
                <a:ea typeface="DejaVu Sans"/>
                <a:cs typeface="DejaVu Sans"/>
              </a:rPr>
              <a:t>OUTSIDE / NO-AWARD</a:t>
            </a:r>
          </a:p>
        </p:txBody>
      </p:sp>
      <p:sp>
        <p:nvSpPr>
          <p:cNvPr id="12" name="Funding award value">
            <a:extLst xmlns:a="http://schemas.openxmlformats.org/drawingml/2006/main">
              <a:ext uri="{FF2B5EF4-FFF2-40B4-BE49-F238E27FC236}">
                <a16:creationId xmlns:a16="http://schemas.microsoft.com/office/drawing/2014/main" id="{A72BDCBA-8F7D-45D0-8EC1-D870E85C3354}"/>
              </a:ext>
            </a:extLst>
          </p:cNvPr>
          <p:cNvSpPr>
            <a:spLocks xmlns:a="http://schemas.openxmlformats.org/drawingml/2006/main" noGrp="1"/>
          </p:cNvSpPr>
          <p:nvPr/>
        </p:nvSpPr>
        <p:spPr>
          <a:xfrm xmlns:a="http://schemas.openxmlformats.org/drawingml/2006/main">
            <a:off x="190500"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2616A"/>
                </a:solidFill>
                <a:latin typeface="DejaVu Sans"/>
                <a:ea typeface="DejaVu Sans"/>
                <a:cs typeface="DejaVu Sans"/>
              </a:defRPr>
            </a:defPPr>
          </a:lstStyle>
          <a:p xmlns:a="http://schemas.openxmlformats.org/drawingml/2006/main">
            <a:pPr algn="l">
              <a:defRPr sz="2100" b="1">
                <a:solidFill>
                  <a:srgbClr val="52616A"/>
                </a:solidFill>
                <a:latin typeface="DejaVu Sans"/>
                <a:ea typeface="DejaVu Sans"/>
                <a:cs typeface="DejaVu Sans"/>
              </a:defRPr>
            </a:pPr>
            <a:r>
              <a:rPr sz="2100" b="1">
                <a:solidFill>
                  <a:srgbClr val="52616A"/>
                </a:solidFill>
                <a:latin typeface="DejaVu Sans"/>
                <a:ea typeface="DejaVu Sans"/>
                <a:cs typeface="DejaVu Sans"/>
              </a:rPr>
              <a:t>4</a:t>
            </a:r>
          </a:p>
        </p:txBody>
      </p:sp>
      <p:sp>
        <p:nvSpPr>
          <p:cNvPr id="13" name="Funding award unit">
            <a:extLst xmlns:a="http://schemas.openxmlformats.org/drawingml/2006/main">
              <a:ext uri="{FF2B5EF4-FFF2-40B4-BE49-F238E27FC236}">
                <a16:creationId xmlns:a16="http://schemas.microsoft.com/office/drawing/2014/main" id="{55FFCCFA-9ACD-4CBC-8904-8F4747F4F7E7}"/>
              </a:ext>
            </a:extLst>
          </p:cNvPr>
          <p:cNvSpPr>
            <a:spLocks xmlns:a="http://schemas.openxmlformats.org/drawingml/2006/main" noGrp="1"/>
          </p:cNvSpPr>
          <p:nvPr/>
        </p:nvSpPr>
        <p:spPr>
          <a:xfrm xmlns:a="http://schemas.openxmlformats.org/drawingml/2006/main">
            <a:off x="600075" y="2543175"/>
            <a:ext cx="904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192936"/>
                </a:solidFill>
                <a:latin typeface="DejaVu Sans"/>
                <a:ea typeface="DejaVu Sans"/>
                <a:cs typeface="DejaVu Sans"/>
              </a:defRPr>
            </a:defPPr>
          </a:lstStyle>
          <a:p xmlns:a="http://schemas.openxmlformats.org/drawingml/2006/main">
            <a:pPr algn="l">
              <a:defRPr sz="900" b="1">
                <a:solidFill>
                  <a:srgbClr val="192936"/>
                </a:solidFill>
                <a:latin typeface="DejaVu Sans"/>
                <a:ea typeface="DejaVu Sans"/>
                <a:cs typeface="DejaVu Sans"/>
              </a:defRPr>
            </a:pPr>
            <a:r>
              <a:rPr sz="900" b="1">
                <a:solidFill>
                  <a:srgbClr val="192936"/>
                </a:solidFill>
                <a:latin typeface="DejaVu Sans"/>
                <a:ea typeface="DejaVu Sans"/>
                <a:cs typeface="DejaVu Sans"/>
              </a:rPr>
              <a:t>Funding</a:t>
            </a:r>
          </a:p>
        </p:txBody>
      </p:sp>
      <p:sp>
        <p:nvSpPr>
          <p:cNvPr id="14" name="Gray cube value">
            <a:extLst xmlns:a="http://schemas.openxmlformats.org/drawingml/2006/main">
              <a:ext uri="{FF2B5EF4-FFF2-40B4-BE49-F238E27FC236}">
                <a16:creationId xmlns:a16="http://schemas.microsoft.com/office/drawing/2014/main" id="{408F944A-FBF2-4ED1-8EF4-F5599AA55A5A}"/>
              </a:ext>
            </a:extLst>
          </p:cNvPr>
          <p:cNvSpPr>
            <a:spLocks xmlns:a="http://schemas.openxmlformats.org/drawingml/2006/main" noGrp="1"/>
          </p:cNvSpPr>
          <p:nvPr/>
        </p:nvSpPr>
        <p:spPr>
          <a:xfrm xmlns:a="http://schemas.openxmlformats.org/drawingml/2006/main">
            <a:off x="1685925" y="2438400"/>
            <a:ext cx="38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2616A"/>
                </a:solidFill>
                <a:latin typeface="DejaVu Sans"/>
                <a:ea typeface="DejaVu Sans"/>
                <a:cs typeface="DejaVu Sans"/>
              </a:defRPr>
            </a:defPPr>
          </a:lstStyle>
          <a:p xmlns:a="http://schemas.openxmlformats.org/drawingml/2006/main">
            <a:pPr algn="l">
              <a:defRPr sz="2100" b="1">
                <a:solidFill>
                  <a:srgbClr val="52616A"/>
                </a:solidFill>
                <a:latin typeface="DejaVu Sans"/>
                <a:ea typeface="DejaVu Sans"/>
                <a:cs typeface="DejaVu Sans"/>
              </a:defRPr>
            </a:pPr>
            <a:r>
              <a:rPr sz="2100" b="1">
                <a:solidFill>
                  <a:srgbClr val="52616A"/>
                </a:solidFill>
                <a:latin typeface="DejaVu Sans"/>
                <a:ea typeface="DejaVu Sans"/>
                <a:cs typeface="DejaVu Sans"/>
              </a:rPr>
              <a:t>3</a:t>
            </a:r>
          </a:p>
        </p:txBody>
      </p:sp>
      <p:sp>
        <p:nvSpPr>
          <p:cNvPr id="15" name="Gray cube unit">
            <a:extLst xmlns:a="http://schemas.openxmlformats.org/drawingml/2006/main">
              <a:ext uri="{FF2B5EF4-FFF2-40B4-BE49-F238E27FC236}">
                <a16:creationId xmlns:a16="http://schemas.microsoft.com/office/drawing/2014/main" id="{CF33980A-A890-4F6E-9EB2-63002E0CE056}"/>
              </a:ext>
            </a:extLst>
          </p:cNvPr>
          <p:cNvSpPr>
            <a:spLocks xmlns:a="http://schemas.openxmlformats.org/drawingml/2006/main" noGrp="1"/>
          </p:cNvSpPr>
          <p:nvPr/>
        </p:nvSpPr>
        <p:spPr>
          <a:xfrm xmlns:a="http://schemas.openxmlformats.org/drawingml/2006/main">
            <a:off x="2095500" y="2543175"/>
            <a:ext cx="914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1">
                <a:solidFill>
                  <a:srgbClr val="52616A"/>
                </a:solidFill>
                <a:latin typeface="DejaVu Sans"/>
                <a:ea typeface="DejaVu Sans"/>
                <a:cs typeface="DejaVu Sans"/>
              </a:defRPr>
            </a:defPPr>
          </a:lstStyle>
          <a:p xmlns:a="http://schemas.openxmlformats.org/drawingml/2006/main">
            <a:pPr algn="l">
              <a:defRPr sz="863" b="1">
                <a:solidFill>
                  <a:srgbClr val="52616A"/>
                </a:solidFill>
                <a:latin typeface="DejaVu Sans"/>
                <a:ea typeface="DejaVu Sans"/>
                <a:cs typeface="DejaVu Sans"/>
              </a:defRPr>
            </a:pPr>
            <a:r>
              <a:rPr sz="863" b="1">
                <a:solidFill>
                  <a:srgbClr val="52616A"/>
                </a:solidFill>
                <a:latin typeface="DejaVu Sans"/>
                <a:ea typeface="DejaVu Sans"/>
                <a:cs typeface="DejaVu Sans"/>
              </a:rPr>
              <a:t>gray cubes</a:t>
            </a:r>
          </a:p>
        </p:txBody>
      </p:sp>
      <p:sp>
        <p:nvSpPr>
          <p:cNvPr id="16" name="Eligibility divider">
            <a:extLst xmlns:a="http://schemas.openxmlformats.org/drawingml/2006/main">
              <a:ext uri="{FF2B5EF4-FFF2-40B4-BE49-F238E27FC236}">
                <a16:creationId xmlns:a16="http://schemas.microsoft.com/office/drawing/2014/main" id="{FD9CB243-295C-4E35-A157-0929DAC58CFA}"/>
              </a:ext>
            </a:extLst>
          </p:cNvPr>
          <p:cNvSpPr>
            <a:spLocks xmlns:a="http://schemas.openxmlformats.org/drawingml/2006/main" noGrp="1"/>
          </p:cNvSpPr>
          <p:nvPr/>
        </p:nvSpPr>
        <p:spPr>
          <a:xfrm xmlns:a="http://schemas.openxmlformats.org/drawingml/2006/main">
            <a:off x="190500" y="282892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7" name="Without certification heading">
            <a:extLst xmlns:a="http://schemas.openxmlformats.org/drawingml/2006/main">
              <a:ext uri="{FF2B5EF4-FFF2-40B4-BE49-F238E27FC236}">
                <a16:creationId xmlns:a16="http://schemas.microsoft.com/office/drawing/2014/main" id="{5F041C60-1F7D-457A-9F52-9804C03F0E11}"/>
              </a:ext>
            </a:extLst>
          </p:cNvPr>
          <p:cNvSpPr>
            <a:spLocks xmlns:a="http://schemas.openxmlformats.org/drawingml/2006/main" noGrp="1"/>
          </p:cNvSpPr>
          <p:nvPr/>
        </p:nvSpPr>
        <p:spPr>
          <a:xfrm xmlns:a="http://schemas.openxmlformats.org/drawingml/2006/main">
            <a:off x="190500" y="2943225"/>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25" b="1">
                <a:solidFill>
                  <a:srgbClr val="52616A"/>
                </a:solidFill>
                <a:latin typeface="DejaVu Sans"/>
                <a:ea typeface="DejaVu Sans"/>
                <a:cs typeface="DejaVu Sans"/>
              </a:defRPr>
            </a:defPPr>
          </a:lstStyle>
          <a:p xmlns:a="http://schemas.openxmlformats.org/drawingml/2006/main">
            <a:pPr algn="l">
              <a:defRPr sz="825" b="1">
                <a:solidFill>
                  <a:srgbClr val="52616A"/>
                </a:solidFill>
                <a:latin typeface="DejaVu Sans"/>
                <a:ea typeface="DejaVu Sans"/>
                <a:cs typeface="DejaVu Sans"/>
              </a:defRPr>
            </a:pPr>
            <a:r>
              <a:rPr sz="825" b="1">
                <a:solidFill>
                  <a:srgbClr val="52616A"/>
                </a:solidFill>
                <a:latin typeface="DejaVu Sans"/>
                <a:ea typeface="DejaVu Sans"/>
                <a:cs typeface="DejaVu Sans"/>
              </a:rPr>
              <a:t>No Certified Expertise in the call topic</a:t>
            </a:r>
          </a:p>
        </p:txBody>
      </p:sp>
      <p:sp>
        <p:nvSpPr>
          <p:cNvPr id="18" name="Without certification rule">
            <a:extLst xmlns:a="http://schemas.openxmlformats.org/drawingml/2006/main">
              <a:ext uri="{FF2B5EF4-FFF2-40B4-BE49-F238E27FC236}">
                <a16:creationId xmlns:a16="http://schemas.microsoft.com/office/drawing/2014/main" id="{BD002698-E530-4DE9-95DD-E65A10C57AE0}"/>
              </a:ext>
            </a:extLst>
          </p:cNvPr>
          <p:cNvSpPr>
            <a:spLocks xmlns:a="http://schemas.openxmlformats.org/drawingml/2006/main" noGrp="1"/>
          </p:cNvSpPr>
          <p:nvPr/>
        </p:nvSpPr>
        <p:spPr>
          <a:xfrm xmlns:a="http://schemas.openxmlformats.org/drawingml/2006/main">
            <a:off x="190500" y="3152775"/>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need at least 1 Recent Work token in the call topic to apply. Only tokens in that topic count.</a:t>
            </a:r>
          </a:p>
        </p:txBody>
      </p:sp>
      <p:sp>
        <p:nvSpPr>
          <p:cNvPr id="19" name="With certification heading">
            <a:extLst xmlns:a="http://schemas.openxmlformats.org/drawingml/2006/main">
              <a:ext uri="{FF2B5EF4-FFF2-40B4-BE49-F238E27FC236}">
                <a16:creationId xmlns:a16="http://schemas.microsoft.com/office/drawing/2014/main" id="{2CD8D0F9-8444-4A32-B2AC-6711CB52990A}"/>
              </a:ext>
            </a:extLst>
          </p:cNvPr>
          <p:cNvSpPr>
            <a:spLocks xmlns:a="http://schemas.openxmlformats.org/drawingml/2006/main" noGrp="1"/>
          </p:cNvSpPr>
          <p:nvPr/>
        </p:nvSpPr>
        <p:spPr>
          <a:xfrm xmlns:a="http://schemas.openxmlformats.org/drawingml/2006/main">
            <a:off x="190500" y="3619500"/>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52616A"/>
                </a:solidFill>
                <a:latin typeface="DejaVu Sans"/>
                <a:ea typeface="DejaVu Sans"/>
                <a:cs typeface="DejaVu Sans"/>
              </a:defRPr>
            </a:defPPr>
          </a:lstStyle>
          <a:p xmlns:a="http://schemas.openxmlformats.org/drawingml/2006/main">
            <a:pPr algn="l">
              <a:defRPr sz="788" b="1">
                <a:solidFill>
                  <a:srgbClr val="52616A"/>
                </a:solidFill>
                <a:latin typeface="DejaVu Sans"/>
                <a:ea typeface="DejaVu Sans"/>
                <a:cs typeface="DejaVu Sans"/>
              </a:defRPr>
            </a:pPr>
            <a:r>
              <a:rPr sz="788" b="1">
                <a:solidFill>
                  <a:srgbClr val="52616A"/>
                </a:solidFill>
                <a:latin typeface="DejaVu Sans"/>
                <a:ea typeface="DejaVu Sans"/>
                <a:cs typeface="DejaVu Sans"/>
              </a:rPr>
              <a:t>With Certified Expertise in the call topic</a:t>
            </a:r>
          </a:p>
        </p:txBody>
      </p:sp>
      <p:sp>
        <p:nvSpPr>
          <p:cNvPr id="20" name="With certification rule">
            <a:extLst xmlns:a="http://schemas.openxmlformats.org/drawingml/2006/main">
              <a:ext uri="{FF2B5EF4-FFF2-40B4-BE49-F238E27FC236}">
                <a16:creationId xmlns:a16="http://schemas.microsoft.com/office/drawing/2014/main" id="{96A87456-7DF9-46A7-8864-F9E220F7C7DF}"/>
              </a:ext>
            </a:extLst>
          </p:cNvPr>
          <p:cNvSpPr>
            <a:spLocks xmlns:a="http://schemas.openxmlformats.org/drawingml/2006/main" noGrp="1"/>
          </p:cNvSpPr>
          <p:nvPr/>
        </p:nvSpPr>
        <p:spPr>
          <a:xfrm xmlns:a="http://schemas.openxmlformats.org/drawingml/2006/main">
            <a:off x="190500" y="3829050"/>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63" b="0">
                <a:solidFill>
                  <a:srgbClr val="192936"/>
                </a:solidFill>
                <a:latin typeface="DejaVu Sans"/>
                <a:ea typeface="DejaVu Sans"/>
                <a:cs typeface="DejaVu Sans"/>
              </a:defRPr>
            </a:defPPr>
          </a:lstStyle>
          <a:p xmlns:a="http://schemas.openxmlformats.org/drawingml/2006/main">
            <a:pPr algn="l">
              <a:defRPr sz="863" b="0">
                <a:solidFill>
                  <a:srgbClr val="192936"/>
                </a:solidFill>
                <a:latin typeface="DejaVu Sans"/>
                <a:ea typeface="DejaVu Sans"/>
                <a:cs typeface="DejaVu Sans"/>
              </a:defRPr>
            </a:pPr>
            <a:r>
              <a:rPr sz="863" b="0">
                <a:solidFill>
                  <a:srgbClr val="192936"/>
                </a:solidFill>
                <a:latin typeface="DejaVu Sans"/>
                <a:ea typeface="DejaVu Sans"/>
                <a:cs typeface="DejaVu Sans"/>
              </a:rPr>
              <a:t>You may apply without Recent Work. Recent Work from ANY topic can count. Your expertise badge is permanent.</a:t>
            </a:r>
          </a:p>
        </p:txBody>
      </p:sp>
      <p:sp>
        <p:nvSpPr>
          <p:cNvPr id="21" name="Footer divider">
            <a:extLst xmlns:a="http://schemas.openxmlformats.org/drawingml/2006/main">
              <a:ext uri="{FF2B5EF4-FFF2-40B4-BE49-F238E27FC236}">
                <a16:creationId xmlns:a16="http://schemas.microsoft.com/office/drawing/2014/main" id="{E05F3EAF-904B-424F-A089-446E94C23CA4}"/>
              </a:ext>
            </a:extLst>
          </p:cNvPr>
          <p:cNvSpPr>
            <a:spLocks xmlns:a="http://schemas.openxmlformats.org/drawingml/2006/main" noGrp="1"/>
          </p:cNvSpPr>
          <p:nvPr/>
        </p:nvSpPr>
        <p:spPr>
          <a:xfrm xmlns:a="http://schemas.openxmlformats.org/drawingml/2006/main">
            <a:off x="190500" y="4286250"/>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22" name="Recent Work cap">
            <a:extLst xmlns:a="http://schemas.openxmlformats.org/drawingml/2006/main">
              <a:ext uri="{FF2B5EF4-FFF2-40B4-BE49-F238E27FC236}">
                <a16:creationId xmlns:a16="http://schemas.microsoft.com/office/drawing/2014/main" id="{A1F4CAFC-BE13-4D71-A5E7-E6D76BF71460}"/>
              </a:ext>
            </a:extLst>
          </p:cNvPr>
          <p:cNvSpPr>
            <a:spLocks xmlns:a="http://schemas.openxmlformats.org/drawingml/2006/main" noGrp="1"/>
          </p:cNvSpPr>
          <p:nvPr/>
        </p:nvSpPr>
        <p:spPr>
          <a:xfrm xmlns:a="http://schemas.openxmlformats.org/drawingml/2006/main">
            <a:off x="190500" y="4371975"/>
            <a:ext cx="28194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192936"/>
                </a:solidFill>
                <a:latin typeface="DejaVu Sans"/>
                <a:ea typeface="DejaVu Sans"/>
                <a:cs typeface="DejaVu Sans"/>
              </a:defRPr>
            </a:defPPr>
          </a:lstStyle>
          <a:p xmlns:a="http://schemas.openxmlformats.org/drawingml/2006/main">
            <a:pPr algn="l">
              <a:defRPr sz="788" b="1">
                <a:solidFill>
                  <a:srgbClr val="192936"/>
                </a:solidFill>
                <a:latin typeface="DejaVu Sans"/>
                <a:ea typeface="DejaVu Sans"/>
                <a:cs typeface="DejaVu Sans"/>
              </a:defRPr>
            </a:pPr>
            <a:r>
              <a:rPr sz="788" b="1">
                <a:solidFill>
                  <a:srgbClr val="192936"/>
                </a:solidFill>
                <a:latin typeface="DejaVu Sans"/>
                <a:ea typeface="DejaVu Sans"/>
                <a:cs typeface="DejaVu Sans"/>
              </a:rPr>
              <a:t>Count at most 3 Recent Work tokens.</a:t>
            </a:r>
          </a:p>
        </p:txBody>
      </p:sp>
    </p:spTree>
    <p:extLst>
      <p:ext uri="{BB962C8B-B14F-4D97-AF65-F5344CB8AC3E}">
        <p14:creationId xmlns:p14="http://schemas.microsoft.com/office/powerpoint/2010/main" val="40301357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ard border">
            <a:extLst xmlns:a="http://schemas.openxmlformats.org/drawingml/2006/main">
              <a:ext uri="{FF2B5EF4-FFF2-40B4-BE49-F238E27FC236}">
                <a16:creationId xmlns:a16="http://schemas.microsoft.com/office/drawing/2014/main" id="{7490072F-6E2A-43EB-B37C-05F367029FD7}"/>
              </a:ext>
            </a:extLst>
          </p:cNvPr>
          <p:cNvSpPr>
            <a:spLocks xmlns:a="http://schemas.openxmlformats.org/drawingml/2006/main" noGrp="1"/>
          </p:cNvSpPr>
          <p:nvPr/>
        </p:nvSpPr>
        <p:spPr>
          <a:xfrm xmlns:a="http://schemas.openxmlformats.org/drawingml/2006/main">
            <a:off x="9525" y="9525"/>
            <a:ext cx="3181350" cy="4552950"/>
          </a:xfrm>
          <a:prstGeom xmlns:a="http://schemas.openxmlformats.org/drawingml/2006/main" prst="rect">
            <a:avLst/>
          </a:prstGeom>
          <a:noFill xmlns:a="http://schemas.openxmlformats.org/drawingml/2006/main"/>
          <a:ln xmlns:a="http://schemas.openxmlformats.org/drawingml/2006/main" w="9525">
            <a:solidFill>
              <a:srgbClr val="D0D5D8"/>
            </a:solidFill>
          </a:ln>
        </p:spPr>
      </p:sp>
      <p:sp>
        <p:nvSpPr>
          <p:cNvPr id="2" name="Topic color band">
            <a:extLst xmlns:a="http://schemas.openxmlformats.org/drawingml/2006/main">
              <a:ext uri="{FF2B5EF4-FFF2-40B4-BE49-F238E27FC236}">
                <a16:creationId xmlns:a16="http://schemas.microsoft.com/office/drawing/2014/main" id="{337EBF06-1032-4E45-A72F-ED39ACB7967D}"/>
              </a:ext>
            </a:extLst>
          </p:cNvPr>
          <p:cNvSpPr>
            <a:spLocks xmlns:a="http://schemas.openxmlformats.org/drawingml/2006/main" noGrp="1"/>
          </p:cNvSpPr>
          <p:nvPr/>
        </p:nvSpPr>
        <p:spPr>
          <a:xfrm xmlns:a="http://schemas.openxmlformats.org/drawingml/2006/main">
            <a:off x="9525" y="9525"/>
            <a:ext cx="3181350" cy="400050"/>
          </a:xfrm>
          <a:prstGeom xmlns:a="http://schemas.openxmlformats.org/drawingml/2006/main" prst="rect">
            <a:avLst/>
          </a:prstGeom>
          <a:solidFill xmlns:a="http://schemas.openxmlformats.org/drawingml/2006/main">
            <a:srgbClr val="243F52"/>
          </a:solidFill>
          <a:ln xmlns:a="http://schemas.openxmlformats.org/drawingml/2006/main" w="0">
            <a:noFill/>
          </a:ln>
        </p:spPr>
      </p:sp>
      <p:sp>
        <p:nvSpPr>
          <p:cNvPr id="3" name="Game name">
            <a:extLst xmlns:a="http://schemas.openxmlformats.org/drawingml/2006/main">
              <a:ext uri="{FF2B5EF4-FFF2-40B4-BE49-F238E27FC236}">
                <a16:creationId xmlns:a16="http://schemas.microsoft.com/office/drawing/2014/main" id="{4B30EDFB-5539-49E3-AD4D-4BECFFF185E1}"/>
              </a:ext>
            </a:extLst>
          </p:cNvPr>
          <p:cNvSpPr>
            <a:spLocks xmlns:a="http://schemas.openxmlformats.org/drawingml/2006/main" noGrp="1"/>
          </p:cNvSpPr>
          <p:nvPr/>
        </p:nvSpPr>
        <p:spPr>
          <a:xfrm xmlns:a="http://schemas.openxmlformats.org/drawingml/2006/main">
            <a:off x="190500" y="133350"/>
            <a:ext cx="1943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1">
                <a:solidFill>
                  <a:srgbClr val="FFFFFF"/>
                </a:solidFill>
                <a:latin typeface="DejaVu Sans"/>
                <a:ea typeface="DejaVu Sans"/>
                <a:cs typeface="DejaVu Sans"/>
              </a:defRPr>
            </a:defPPr>
          </a:lstStyle>
          <a:p xmlns:a="http://schemas.openxmlformats.org/drawingml/2006/main">
            <a:pPr algn="l">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GRANT CONTROL</a:t>
            </a:r>
          </a:p>
        </p:txBody>
      </p:sp>
      <p:sp>
        <p:nvSpPr>
          <p:cNvPr id="4" name="Card identifier">
            <a:extLst xmlns:a="http://schemas.openxmlformats.org/drawingml/2006/main">
              <a:ext uri="{FF2B5EF4-FFF2-40B4-BE49-F238E27FC236}">
                <a16:creationId xmlns:a16="http://schemas.microsoft.com/office/drawing/2014/main" id="{213AE08C-B3D4-484E-8BF1-5472D461E593}"/>
              </a:ext>
            </a:extLst>
          </p:cNvPr>
          <p:cNvSpPr>
            <a:spLocks xmlns:a="http://schemas.openxmlformats.org/drawingml/2006/main" noGrp="1"/>
          </p:cNvSpPr>
          <p:nvPr/>
        </p:nvSpPr>
        <p:spPr>
          <a:xfrm xmlns:a="http://schemas.openxmlformats.org/drawingml/2006/main">
            <a:off x="2371725" y="142875"/>
            <a:ext cx="63817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788" b="1">
                <a:solidFill>
                  <a:srgbClr val="FFFFFF"/>
                </a:solidFill>
                <a:latin typeface="DejaVu Sans"/>
                <a:ea typeface="DejaVu Sans"/>
                <a:cs typeface="DejaVu Sans"/>
              </a:defRPr>
            </a:defPPr>
          </a:lstStyle>
          <a:p xmlns:a="http://schemas.openxmlformats.org/drawingml/2006/main">
            <a:pPr algn="r">
              <a:defRPr sz="788" b="1">
                <a:solidFill>
                  <a:srgbClr val="FFFFFF"/>
                </a:solidFill>
                <a:latin typeface="DejaVu Sans"/>
                <a:ea typeface="DejaVu Sans"/>
                <a:cs typeface="DejaVu Sans"/>
              </a:defRPr>
            </a:pPr>
            <a:r>
              <a:rPr sz="788" b="1">
                <a:solidFill>
                  <a:srgbClr val="FFFFFF"/>
                </a:solidFill>
                <a:latin typeface="DejaVu Sans"/>
                <a:ea typeface="DejaVu Sans"/>
                <a:cs typeface="DejaVu Sans"/>
              </a:rPr>
              <a:t>REF-01</a:t>
            </a:r>
          </a:p>
        </p:txBody>
      </p:sp>
      <p:sp>
        <p:nvSpPr>
          <p:cNvPr id="5" name="Card category">
            <a:extLst xmlns:a="http://schemas.openxmlformats.org/drawingml/2006/main">
              <a:ext uri="{FF2B5EF4-FFF2-40B4-BE49-F238E27FC236}">
                <a16:creationId xmlns:a16="http://schemas.microsoft.com/office/drawing/2014/main" id="{03926723-BA3E-421C-8A87-3D3F3C0A43DC}"/>
              </a:ext>
            </a:extLst>
          </p:cNvPr>
          <p:cNvSpPr>
            <a:spLocks xmlns:a="http://schemas.openxmlformats.org/drawingml/2006/main" noGrp="1"/>
          </p:cNvSpPr>
          <p:nvPr/>
        </p:nvSpPr>
        <p:spPr>
          <a:xfrm xmlns:a="http://schemas.openxmlformats.org/drawingml/2006/main">
            <a:off x="190500" y="523875"/>
            <a:ext cx="2800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243F52"/>
                </a:solidFill>
                <a:latin typeface="DejaVu Sans"/>
                <a:ea typeface="DejaVu Sans"/>
                <a:cs typeface="DejaVu Sans"/>
              </a:defRPr>
            </a:defPPr>
          </a:lstStyle>
          <a:p xmlns:a="http://schemas.openxmlformats.org/drawingml/2006/main">
            <a:pPr algn="l">
              <a:defRPr sz="788" b="1">
                <a:solidFill>
                  <a:srgbClr val="243F52"/>
                </a:solidFill>
                <a:latin typeface="DejaVu Sans"/>
                <a:ea typeface="DejaVu Sans"/>
                <a:cs typeface="DejaVu Sans"/>
              </a:defRPr>
            </a:pPr>
            <a:r>
              <a:rPr sz="788" b="1">
                <a:solidFill>
                  <a:srgbClr val="243F52"/>
                </a:solidFill>
                <a:latin typeface="DejaVu Sans"/>
                <a:ea typeface="DejaVu Sans"/>
                <a:cs typeface="DejaVu Sans"/>
              </a:rPr>
              <a:t>GRANT REVIEW REFERENCE</a:t>
            </a:r>
          </a:p>
        </p:txBody>
      </p:sp>
      <p:sp>
        <p:nvSpPr>
          <p:cNvPr id="6" name="Reference title">
            <a:extLst xmlns:a="http://schemas.openxmlformats.org/drawingml/2006/main">
              <a:ext uri="{FF2B5EF4-FFF2-40B4-BE49-F238E27FC236}">
                <a16:creationId xmlns:a16="http://schemas.microsoft.com/office/drawing/2014/main" id="{6C97DB56-3035-47C0-81D4-10494D6CB617}"/>
              </a:ext>
            </a:extLst>
          </p:cNvPr>
          <p:cNvSpPr>
            <a:spLocks xmlns:a="http://schemas.openxmlformats.org/drawingml/2006/main" noGrp="1"/>
          </p:cNvSpPr>
          <p:nvPr/>
        </p:nvSpPr>
        <p:spPr>
          <a:xfrm xmlns:a="http://schemas.openxmlformats.org/drawingml/2006/main">
            <a:off x="190500" y="790575"/>
            <a:ext cx="2819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92936"/>
                </a:solidFill>
                <a:latin typeface="DejaVu Sans"/>
                <a:ea typeface="DejaVu Sans"/>
                <a:cs typeface="DejaVu Sans"/>
              </a:defRPr>
            </a:defPPr>
          </a:lstStyle>
          <a:p xmlns:a="http://schemas.openxmlformats.org/drawingml/2006/main">
            <a:pPr algn="l">
              <a:defRPr sz="1575" b="1">
                <a:solidFill>
                  <a:srgbClr val="192936"/>
                </a:solidFill>
                <a:latin typeface="DejaVu Sans"/>
                <a:ea typeface="DejaVu Sans"/>
                <a:cs typeface="DejaVu Sans"/>
              </a:defRPr>
            </a:pPr>
            <a:r>
              <a:rPr sz="1575" b="1">
                <a:solidFill>
                  <a:srgbClr val="192936"/>
                </a:solidFill>
                <a:latin typeface="DejaVu Sans"/>
                <a:ea typeface="DejaVu Sans"/>
                <a:cs typeface="DejaVu Sans"/>
              </a:rPr>
              <a:t>One call,</a:t>
            </a:r>
          </a:p>
          <a:p xmlns:a="http://schemas.openxmlformats.org/drawingml/2006/main">
            <a:pPr algn="l">
              <a:defRPr sz="1575" b="1">
                <a:solidFill>
                  <a:srgbClr val="192936"/>
                </a:solidFill>
                <a:latin typeface="DejaVu Sans"/>
                <a:ea typeface="DejaVu Sans"/>
                <a:cs typeface="DejaVu Sans"/>
              </a:defRPr>
            </a:pPr>
            <a:r>
              <a:rPr sz="1575" b="1">
                <a:solidFill>
                  <a:srgbClr val="192936"/>
                </a:solidFill>
                <a:latin typeface="DejaVu Sans"/>
                <a:ea typeface="DejaVu Sans"/>
                <a:cs typeface="DejaVu Sans"/>
              </a:rPr>
              <a:t>one review pool</a:t>
            </a:r>
          </a:p>
        </p:txBody>
      </p:sp>
      <p:sp>
        <p:nvSpPr>
          <p:cNvPr id="7" name="Entry limit">
            <a:extLst xmlns:a="http://schemas.openxmlformats.org/drawingml/2006/main">
              <a:ext uri="{FF2B5EF4-FFF2-40B4-BE49-F238E27FC236}">
                <a16:creationId xmlns:a16="http://schemas.microsoft.com/office/drawing/2014/main" id="{0DA74002-201E-4D9D-9602-1EE8E3E15CF9}"/>
              </a:ext>
            </a:extLst>
          </p:cNvPr>
          <p:cNvSpPr>
            <a:spLocks xmlns:a="http://schemas.openxmlformats.org/drawingml/2006/main" noGrp="1"/>
          </p:cNvSpPr>
          <p:nvPr/>
        </p:nvSpPr>
        <p:spPr>
          <a:xfrm xmlns:a="http://schemas.openxmlformats.org/drawingml/2006/main">
            <a:off x="190500" y="1438275"/>
            <a:ext cx="2819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52616A"/>
                </a:solidFill>
                <a:latin typeface="DejaVu Sans"/>
                <a:ea typeface="DejaVu Sans"/>
                <a:cs typeface="DejaVu Sans"/>
              </a:defRPr>
            </a:defPPr>
          </a:lstStyle>
          <a:p xmlns:a="http://schemas.openxmlformats.org/drawingml/2006/main">
            <a:pPr algn="l">
              <a:defRPr sz="900" b="0">
                <a:solidFill>
                  <a:srgbClr val="52616A"/>
                </a:solidFill>
                <a:latin typeface="DejaVu Sans"/>
                <a:ea typeface="DejaVu Sans"/>
                <a:cs typeface="DejaVu Sans"/>
              </a:defRPr>
            </a:pPr>
            <a:r>
              <a:rPr sz="900" b="0">
                <a:solidFill>
                  <a:srgbClr val="52616A"/>
                </a:solidFill>
                <a:latin typeface="DejaVu Sans"/>
                <a:ea typeface="DejaVu Sans"/>
                <a:cs typeface="DejaVu Sans"/>
              </a:rPr>
              <a:t>Apply to at most one call per cycle. Reveal applications together.</a:t>
            </a:r>
          </a:p>
        </p:txBody>
      </p:sp>
      <p:sp>
        <p:nvSpPr>
          <p:cNvPr id="8" name="Formula heading">
            <a:extLst xmlns:a="http://schemas.openxmlformats.org/drawingml/2006/main">
              <a:ext uri="{FF2B5EF4-FFF2-40B4-BE49-F238E27FC236}">
                <a16:creationId xmlns:a16="http://schemas.microsoft.com/office/drawing/2014/main" id="{6D261DA4-7219-431D-AD5F-9E720864E597}"/>
              </a:ext>
            </a:extLst>
          </p:cNvPr>
          <p:cNvSpPr>
            <a:spLocks xmlns:a="http://schemas.openxmlformats.org/drawingml/2006/main" noGrp="1"/>
          </p:cNvSpPr>
          <p:nvPr/>
        </p:nvSpPr>
        <p:spPr>
          <a:xfrm xmlns:a="http://schemas.openxmlformats.org/drawingml/2006/main">
            <a:off x="190500" y="1895475"/>
            <a:ext cx="2819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8" b="1">
                <a:solidFill>
                  <a:srgbClr val="243F52"/>
                </a:solidFill>
                <a:latin typeface="DejaVu Sans"/>
                <a:ea typeface="DejaVu Sans"/>
                <a:cs typeface="DejaVu Sans"/>
              </a:defRPr>
            </a:defPPr>
          </a:lstStyle>
          <a:p xmlns:a="http://schemas.openxmlformats.org/drawingml/2006/main">
            <a:pPr algn="l">
              <a:defRPr sz="788" b="1">
                <a:solidFill>
                  <a:srgbClr val="243F52"/>
                </a:solidFill>
                <a:latin typeface="DejaVu Sans"/>
                <a:ea typeface="DejaVu Sans"/>
                <a:cs typeface="DejaVu Sans"/>
              </a:defRPr>
            </a:pPr>
            <a:r>
              <a:rPr sz="788" b="1">
                <a:solidFill>
                  <a:srgbClr val="243F52"/>
                </a:solidFill>
                <a:latin typeface="DejaVu Sans"/>
                <a:ea typeface="DejaVu Sans"/>
                <a:cs typeface="DejaVu Sans"/>
              </a:rPr>
              <a:t>YOUR REVIEW CUBES</a:t>
            </a:r>
          </a:p>
        </p:txBody>
      </p:sp>
      <p:sp>
        <p:nvSpPr>
          <p:cNvPr id="9" name="Review cube formula">
            <a:extLst xmlns:a="http://schemas.openxmlformats.org/drawingml/2006/main">
              <a:ext uri="{FF2B5EF4-FFF2-40B4-BE49-F238E27FC236}">
                <a16:creationId xmlns:a16="http://schemas.microsoft.com/office/drawing/2014/main" id="{9D05E9E6-F647-44EA-A082-BAE270BAC2CD}"/>
              </a:ext>
            </a:extLst>
          </p:cNvPr>
          <p:cNvSpPr>
            <a:spLocks xmlns:a="http://schemas.openxmlformats.org/drawingml/2006/main" noGrp="1"/>
          </p:cNvSpPr>
          <p:nvPr/>
        </p:nvSpPr>
        <p:spPr>
          <a:xfrm xmlns:a="http://schemas.openxmlformats.org/drawingml/2006/main">
            <a:off x="190500" y="2152650"/>
            <a:ext cx="2819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192936"/>
                </a:solidFill>
                <a:latin typeface="DejaVu Sans"/>
                <a:ea typeface="DejaVu Sans"/>
                <a:cs typeface="DejaVu Sans"/>
              </a:defRPr>
            </a:defPPr>
          </a:lstStyle>
          <a:p xmlns:a="http://schemas.openxmlformats.org/drawingml/2006/main">
            <a:pPr algn="l">
              <a:defRPr sz="1125" b="1">
                <a:solidFill>
                  <a:srgbClr val="192936"/>
                </a:solidFill>
                <a:latin typeface="DejaVu Sans"/>
                <a:ea typeface="DejaVu Sans"/>
                <a:cs typeface="DejaVu Sans"/>
              </a:defRPr>
            </a:pPr>
            <a:r>
              <a:rPr sz="1125" b="1">
                <a:solidFill>
                  <a:srgbClr val="192936"/>
                </a:solidFill>
                <a:latin typeface="DejaVu Sans"/>
                <a:ea typeface="DejaVu Sans"/>
                <a:cs typeface="DejaVu Sans"/>
              </a:rPr>
              <a:t>W = 1 + 2R + 3E + (N - 1)</a:t>
            </a:r>
          </a:p>
        </p:txBody>
      </p:sp>
      <p:sp>
        <p:nvSpPr>
          <p:cNvPr id="10" name="Variable definitions">
            <a:extLst xmlns:a="http://schemas.openxmlformats.org/drawingml/2006/main">
              <a:ext uri="{FF2B5EF4-FFF2-40B4-BE49-F238E27FC236}">
                <a16:creationId xmlns:a16="http://schemas.microsoft.com/office/drawing/2014/main" id="{14D04A05-B3E0-4879-B235-26A57F92791C}"/>
              </a:ext>
            </a:extLst>
          </p:cNvPr>
          <p:cNvSpPr>
            <a:spLocks xmlns:a="http://schemas.openxmlformats.org/drawingml/2006/main" noGrp="1"/>
          </p:cNvSpPr>
          <p:nvPr/>
        </p:nvSpPr>
        <p:spPr>
          <a:xfrm xmlns:a="http://schemas.openxmlformats.org/drawingml/2006/main">
            <a:off x="190500" y="2486025"/>
            <a:ext cx="2819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78" b="0">
                <a:solidFill>
                  <a:srgbClr val="192936"/>
                </a:solidFill>
                <a:latin typeface="DejaVu Sans"/>
                <a:ea typeface="DejaVu Sans"/>
                <a:cs typeface="DejaVu Sans"/>
              </a:defRPr>
            </a:defPPr>
          </a:lstStyle>
          <a:p xmlns:a="http://schemas.openxmlformats.org/drawingml/2006/main">
            <a:pPr algn="l">
              <a:defRPr sz="878" b="0">
                <a:solidFill>
                  <a:srgbClr val="192936"/>
                </a:solidFill>
                <a:latin typeface="DejaVu Sans"/>
                <a:ea typeface="DejaVu Sans"/>
                <a:cs typeface="DejaVu Sans"/>
              </a:defRPr>
            </a:pPr>
            <a:r>
              <a:rPr sz="878" b="0">
                <a:solidFill>
                  <a:srgbClr val="192936"/>
                </a:solidFill>
                <a:latin typeface="DejaVu Sans"/>
                <a:ea typeface="DejaVu Sans"/>
                <a:cs typeface="DejaVu Sans"/>
              </a:rPr>
              <a:t>R = counted Recent Work, capped at 3</a:t>
            </a:r>
          </a:p>
          <a:p xmlns:a="http://schemas.openxmlformats.org/drawingml/2006/main">
            <a:pPr algn="l">
              <a:defRPr sz="878" b="0">
                <a:solidFill>
                  <a:srgbClr val="192936"/>
                </a:solidFill>
                <a:latin typeface="DejaVu Sans"/>
                <a:ea typeface="DejaVu Sans"/>
                <a:cs typeface="DejaVu Sans"/>
              </a:defRPr>
            </a:pPr>
            <a:r>
              <a:rPr sz="878" b="0">
                <a:solidFill>
                  <a:srgbClr val="192936"/>
                </a:solidFill>
                <a:latin typeface="DejaVu Sans"/>
                <a:ea typeface="DejaVu Sans"/>
                <a:cs typeface="DejaVu Sans"/>
              </a:rPr>
              <a:t>E = 1 if certified in this topic, else 0</a:t>
            </a:r>
          </a:p>
          <a:p xmlns:a="http://schemas.openxmlformats.org/drawingml/2006/main">
            <a:pPr algn="l">
              <a:defRPr sz="878" b="0">
                <a:solidFill>
                  <a:srgbClr val="192936"/>
                </a:solidFill>
                <a:latin typeface="DejaVu Sans"/>
                <a:ea typeface="DejaVu Sans"/>
                <a:cs typeface="DejaVu Sans"/>
              </a:defRPr>
            </a:pPr>
            <a:r>
              <a:rPr sz="878" b="0">
                <a:solidFill>
                  <a:srgbClr val="192936"/>
                </a:solidFill>
                <a:latin typeface="DejaVu Sans"/>
                <a:ea typeface="DejaVu Sans"/>
                <a:cs typeface="DejaVu Sans"/>
              </a:rPr>
              <a:t>N = Network Strength, from 1 to 5</a:t>
            </a:r>
          </a:p>
        </p:txBody>
      </p:sp>
      <p:sp>
        <p:nvSpPr>
          <p:cNvPr id="11" name="Pool rule">
            <a:extLst xmlns:a="http://schemas.openxmlformats.org/drawingml/2006/main">
              <a:ext uri="{FF2B5EF4-FFF2-40B4-BE49-F238E27FC236}">
                <a16:creationId xmlns:a16="http://schemas.microsoft.com/office/drawing/2014/main" id="{3EFB33B8-B911-44F4-9053-AD59C48F338F}"/>
              </a:ext>
            </a:extLst>
          </p:cNvPr>
          <p:cNvSpPr>
            <a:spLocks xmlns:a="http://schemas.openxmlformats.org/drawingml/2006/main" noGrp="1"/>
          </p:cNvSpPr>
          <p:nvPr/>
        </p:nvSpPr>
        <p:spPr>
          <a:xfrm xmlns:a="http://schemas.openxmlformats.org/drawingml/2006/main">
            <a:off x="190500" y="3190875"/>
            <a:ext cx="2819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192936"/>
                </a:solidFill>
                <a:latin typeface="DejaVu Sans"/>
                <a:ea typeface="DejaVu Sans"/>
                <a:cs typeface="DejaVu Sans"/>
              </a:defRPr>
            </a:defPPr>
          </a:lstStyle>
          <a:p xmlns:a="http://schemas.openxmlformats.org/drawingml/2006/main">
            <a:pPr algn="l">
              <a:defRPr sz="900" b="0">
                <a:solidFill>
                  <a:srgbClr val="192936"/>
                </a:solidFill>
                <a:latin typeface="DejaVu Sans"/>
                <a:ea typeface="DejaVu Sans"/>
                <a:cs typeface="DejaVu Sans"/>
              </a:defRPr>
            </a:pPr>
            <a:r>
              <a:rPr sz="900" b="0">
                <a:solidFill>
                  <a:srgbClr val="192936"/>
                </a:solidFill>
                <a:latin typeface="DejaVu Sans"/>
                <a:ea typeface="DejaVu Sans"/>
                <a:cs typeface="DejaVu Sans"/>
              </a:rPr>
              <a:t>Combine every applicant’s colored cubes with this call’s gray cubes. Draw ONE cube.</a:t>
            </a:r>
          </a:p>
        </p:txBody>
      </p:sp>
      <p:sp>
        <p:nvSpPr>
          <p:cNvPr id="12" name="Outcome rule">
            <a:extLst xmlns:a="http://schemas.openxmlformats.org/drawingml/2006/main">
              <a:ext uri="{FF2B5EF4-FFF2-40B4-BE49-F238E27FC236}">
                <a16:creationId xmlns:a16="http://schemas.microsoft.com/office/drawing/2014/main" id="{C5B96159-ABD5-4E97-A740-47278D4622BE}"/>
              </a:ext>
            </a:extLst>
          </p:cNvPr>
          <p:cNvSpPr>
            <a:spLocks xmlns:a="http://schemas.openxmlformats.org/drawingml/2006/main" noGrp="1"/>
          </p:cNvSpPr>
          <p:nvPr/>
        </p:nvSpPr>
        <p:spPr>
          <a:xfrm xmlns:a="http://schemas.openxmlformats.org/drawingml/2006/main">
            <a:off x="190500" y="3714750"/>
            <a:ext cx="2819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78" b="1">
                <a:solidFill>
                  <a:srgbClr val="192936"/>
                </a:solidFill>
                <a:latin typeface="DejaVu Sans"/>
                <a:ea typeface="DejaVu Sans"/>
                <a:cs typeface="DejaVu Sans"/>
              </a:defRPr>
            </a:defPPr>
          </a:lstStyle>
          <a:p xmlns:a="http://schemas.openxmlformats.org/drawingml/2006/main">
            <a:pPr algn="l">
              <a:defRPr sz="878" b="1">
                <a:solidFill>
                  <a:srgbClr val="192936"/>
                </a:solidFill>
                <a:latin typeface="DejaVu Sans"/>
                <a:ea typeface="DejaVu Sans"/>
                <a:cs typeface="DejaVu Sans"/>
              </a:defRPr>
            </a:pPr>
            <a:r>
              <a:rPr sz="878" b="1">
                <a:solidFill>
                  <a:srgbClr val="192936"/>
                </a:solidFill>
                <a:latin typeface="DejaVu Sans"/>
                <a:ea typeface="DejaVu Sans"/>
                <a:cs typeface="DejaVu Sans"/>
              </a:rPr>
              <a:t>Your color: gain the printed Funding.</a:t>
            </a:r>
          </a:p>
          <a:p xmlns:a="http://schemas.openxmlformats.org/drawingml/2006/main">
            <a:pPr algn="l">
              <a:defRPr sz="878" b="1">
                <a:solidFill>
                  <a:srgbClr val="192936"/>
                </a:solidFill>
                <a:latin typeface="DejaVu Sans"/>
                <a:ea typeface="DejaVu Sans"/>
                <a:cs typeface="DejaVu Sans"/>
              </a:defRPr>
            </a:pPr>
            <a:r>
              <a:rPr sz="878" b="1">
                <a:solidFill>
                  <a:srgbClr val="192936"/>
                </a:solidFill>
                <a:latin typeface="DejaVu Sans"/>
                <a:ea typeface="DejaVu Sans"/>
                <a:cs typeface="DejaVu Sans"/>
              </a:rPr>
              <a:t>Gray: no in-game laboratory wins.</a:t>
            </a:r>
          </a:p>
        </p:txBody>
      </p:sp>
      <p:sp>
        <p:nvSpPr>
          <p:cNvPr id="13" name="Footer divider">
            <a:extLst xmlns:a="http://schemas.openxmlformats.org/drawingml/2006/main">
              <a:ext uri="{FF2B5EF4-FFF2-40B4-BE49-F238E27FC236}">
                <a16:creationId xmlns:a16="http://schemas.microsoft.com/office/drawing/2014/main" id="{11919CF6-DBFD-4315-8DE2-FB271A40939E}"/>
              </a:ext>
            </a:extLst>
          </p:cNvPr>
          <p:cNvSpPr>
            <a:spLocks xmlns:a="http://schemas.openxmlformats.org/drawingml/2006/main" noGrp="1"/>
          </p:cNvSpPr>
          <p:nvPr/>
        </p:nvSpPr>
        <p:spPr>
          <a:xfrm xmlns:a="http://schemas.openxmlformats.org/drawingml/2006/main">
            <a:off x="190500" y="4257675"/>
            <a:ext cx="2819400" cy="9525"/>
          </a:xfrm>
          <a:prstGeom xmlns:a="http://schemas.openxmlformats.org/drawingml/2006/main" prst="rect">
            <a:avLst/>
          </a:prstGeom>
          <a:solidFill xmlns:a="http://schemas.openxmlformats.org/drawingml/2006/main">
            <a:srgbClr val="D0D5D8"/>
          </a:solidFill>
          <a:ln xmlns:a="http://schemas.openxmlformats.org/drawingml/2006/main" w="0">
            <a:noFill/>
          </a:ln>
        </p:spPr>
      </p:sp>
      <p:sp>
        <p:nvSpPr>
          <p:cNvPr id="14" name="Uncertainty reminder">
            <a:extLst xmlns:a="http://schemas.openxmlformats.org/drawingml/2006/main">
              <a:ext uri="{FF2B5EF4-FFF2-40B4-BE49-F238E27FC236}">
                <a16:creationId xmlns:a16="http://schemas.microsoft.com/office/drawing/2014/main" id="{4EF6331C-F010-44B2-8F4F-FE05CB340ECD}"/>
              </a:ext>
            </a:extLst>
          </p:cNvPr>
          <p:cNvSpPr>
            <a:spLocks xmlns:a="http://schemas.openxmlformats.org/drawingml/2006/main" noGrp="1"/>
          </p:cNvSpPr>
          <p:nvPr/>
        </p:nvSpPr>
        <p:spPr>
          <a:xfrm xmlns:a="http://schemas.openxmlformats.org/drawingml/2006/main">
            <a:off x="190500" y="4352925"/>
            <a:ext cx="28194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0" b="1">
                <a:solidFill>
                  <a:srgbClr val="192936"/>
                </a:solidFill>
                <a:latin typeface="DejaVu Sans"/>
                <a:ea typeface="DejaVu Sans"/>
                <a:cs typeface="DejaVu Sans"/>
              </a:defRPr>
            </a:defPPr>
          </a:lstStyle>
          <a:p xmlns:a="http://schemas.openxmlformats.org/drawingml/2006/main">
            <a:pPr algn="l">
              <a:defRPr sz="750" b="1">
                <a:solidFill>
                  <a:srgbClr val="192936"/>
                </a:solidFill>
                <a:latin typeface="DejaVu Sans"/>
                <a:ea typeface="DejaVu Sans"/>
                <a:cs typeface="DejaVu Sans"/>
              </a:defRPr>
            </a:pPr>
            <a:r>
              <a:rPr sz="750" b="1">
                <a:solidFill>
                  <a:srgbClr val="192936"/>
                </a:solidFill>
                <a:latin typeface="DejaVu Sans"/>
                <a:ea typeface="DejaVu Sans"/>
                <a:cs typeface="DejaVu Sans"/>
              </a:rPr>
              <a:t>Even a sole applicant can fail.</a:t>
            </a:r>
          </a:p>
        </p:txBody>
      </p:sp>
    </p:spTree>
    <p:extLst>
      <p:ext uri="{BB962C8B-B14F-4D97-AF65-F5344CB8AC3E}">
        <p14:creationId xmlns:p14="http://schemas.microsoft.com/office/powerpoint/2010/main" val="4793872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2026-10-10T15:57:48.0180000Z</dcterms:created>
  <dcterms:modified xsi:type="dcterms:W3CDTF">2026-10-10T15:57:48.0180000Z</dcterms:modified>
</coreProperties>
</file>